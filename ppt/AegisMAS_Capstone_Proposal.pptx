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7" r:id="rId1"/>
  </p:sldMasterIdLst>
  <p:notesMasterIdLst>
    <p:notesMasterId r:id="rId12"/>
  </p:notesMasterIdLst>
  <p:handoutMasterIdLst>
    <p:handoutMasterId r:id="rId13"/>
  </p:handoutMasterIdLst>
  <p:sldIdLst>
    <p:sldId id="538" r:id="rId2"/>
    <p:sldId id="535" r:id="rId3"/>
    <p:sldId id="569" r:id="rId4"/>
    <p:sldId id="568" r:id="rId5"/>
    <p:sldId id="573" r:id="rId6"/>
    <p:sldId id="571" r:id="rId7"/>
    <p:sldId id="570" r:id="rId8"/>
    <p:sldId id="572" r:id="rId9"/>
    <p:sldId id="545" r:id="rId10"/>
    <p:sldId id="549" r:id="rId11"/>
  </p:sldIdLst>
  <p:sldSz cx="12192000" cy="6858000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CC"/>
    <a:srgbClr val="FF0066"/>
    <a:srgbClr val="0000FF"/>
    <a:srgbClr val="33CC33"/>
    <a:srgbClr val="00FFFF"/>
    <a:srgbClr val="6600FF"/>
    <a:srgbClr val="CC66FF"/>
    <a:srgbClr val="62832D"/>
    <a:srgbClr val="0066FF"/>
    <a:srgbClr val="33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137" autoAdjust="0"/>
    <p:restoredTop sz="86811" autoAdjust="0"/>
  </p:normalViewPr>
  <p:slideViewPr>
    <p:cSldViewPr>
      <p:cViewPr varScale="1">
        <p:scale>
          <a:sx n="63" d="100"/>
          <a:sy n="63" d="100"/>
        </p:scale>
        <p:origin x="796" y="5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90" d="100"/>
        <a:sy n="90" d="100"/>
      </p:scale>
      <p:origin x="0" y="1308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handoutMaster" Target="handoutMasters/handout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70135" y="0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6A7C97D-3554-44E0-8E72-665D45387ACC}" type="datetimeFigureOut">
              <a:rPr lang="en-US"/>
              <a:pPr>
                <a:defRPr/>
              </a:pPr>
              <a:t>9/1/2026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2" y="8829675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70135" y="8829675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1486DC43-659C-4A17-BDC0-5684401D4FA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135" y="0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C973BE83-6A1D-4DA3-83D0-ED76C71EFE38}" type="datetimeFigureOut">
              <a:rPr lang="en-US"/>
              <a:pPr>
                <a:defRPr/>
              </a:pPr>
              <a:t>9/1/2026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7988" y="696913"/>
            <a:ext cx="6196012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848" y="4416426"/>
            <a:ext cx="5608320" cy="41830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8829675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135" y="8829675"/>
            <a:ext cx="3038648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01C81575-24DE-4F6C-A73E-0331B3B2E4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9660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7309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52B9E9-ADFC-DA0A-79D1-58FB874BF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A8ED24-73F0-4E0D-572F-BBB29428F5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E88CEB-6411-3C5C-D2E1-9CD5D885F0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9515E1-284B-EDB2-6F99-DA03DCC9CD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9668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57309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407988" y="696913"/>
            <a:ext cx="6196012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01C81575-24DE-4F6C-A73E-0331B3B2E418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713C8-F183-1D43-AE77-BF9BD4D2AE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7AF752-0EC0-CF4D-965A-5129A91359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E32540-0688-DC4A-809A-52FB3313D3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2CA43E-0611-D047-BC7B-31F920B659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6E4123-5713-BC41-BBD0-42ADF35D9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2070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DED43-C903-1F44-A779-40DF9AEFDE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9975D8-34AD-544B-B0E2-83FA77D2FA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D24DD5-B8E0-534E-B68A-EF415575E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096688-5BB1-5E48-BD14-BBC9FA67D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DC407C-3003-DB44-98B5-0DEC6272B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2916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C5630D-09E2-0742-AED8-D3F732546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5B2CD3-A564-8044-A4EC-7EBA262987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2A64EE-79C1-8B46-BA9C-199117C7B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51AAB2-DA47-AE48-A088-6FC7C1694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48FF9C-19C9-FA46-8C21-742024994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7916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7CBAF5-C913-024F-8BE6-64C58F970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5E6DB7-D3D7-1443-A583-8730715E253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CEB82F-3E99-7441-9B06-6D7C2156AB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26D282-1572-D344-87D1-785DA85760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23D760-065F-6442-AF7E-1A7AAFFCA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BF4C15-EC3A-7E41-A2B3-D2AB7D70E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5704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2CC90-B8AE-8A46-A8A5-F7E8DA615E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E152C5-AA77-4B47-965C-21A00C1EEC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466F8D-3502-5242-9160-E1CDE38E0A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754302-8F9A-5648-9C5E-6D037F1C75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9FC9CD-8823-F145-9952-EFBA9ACD2E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5EF4D9-655F-4842-A6B8-D44A050122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E68A74-725F-8F40-8F80-E96287703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9D868FA-8565-A740-9B9C-B3CD6AB335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78540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DFCE3-1C1E-7448-AF7E-5E46BB140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B19D5C9-50F6-8546-8D8C-AFACC1BC1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EA0D0C-FCAF-4F4C-AAF5-C9B78C03C4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68836A-EEA3-7347-A63C-8E66DF7B3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2871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E7A43C1-2303-5A41-B234-90D15E2A4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A77971-B281-6149-9884-0E9C45F816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D0F6F3-1061-E842-B540-6BD0D6CB8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37328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B970D-13D5-B346-968D-400B0BCCF6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9FFE0-37CD-7644-A007-76E5304F12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0210BE7-EA92-B44F-9EEC-94E6F6955C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B6D810-D2A1-B549-A5BC-25CCA5CDC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D872D2-2005-3043-A02D-3E2DB9334E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F9F01D-1164-4249-AD67-1D51D33C01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386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2D3B30-2A71-A043-9BD7-3B8C66BF7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2B08A9-6B45-4340-8859-996D9B94909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B1F4B2-96C1-614B-9110-8D1AEE080D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7DF3EB-6252-5845-AE7D-FB94ECF9F1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7037-0853-0447-B5BA-F1548123F733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D65DB7-EFE7-7446-8DEC-69F1FB47AE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A0E09F-0F32-5644-881A-A61CD8246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459444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theme" Target="../theme/theme1.xml"/><Relationship Id="rId11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26E61B7-8DCD-1544-BC5D-B4592F60C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AB61D9-7FB3-1343-9555-936FC6036D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C2A79E-2DF5-4E41-BDCF-90E9D26B7E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1A7037-0853-0447-B5BA-F1548123F733}" type="datetimeFigureOut">
              <a:rPr lang="en-US" smtClean="0"/>
              <a:pPr/>
              <a:t>9/1/2026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6D5DC5-E1CB-B84F-BCAB-EB319B3718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712A2C-5C91-4B43-A114-209348A10C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2F0E29-F314-934F-92DB-8EEB8DA68833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26" name="Picture 2" descr="PESSAT - All India Online Entrance Exam for Admission to PES University">
            <a:extLst>
              <a:ext uri="{FF2B5EF4-FFF2-40B4-BE49-F238E27FC236}">
                <a16:creationId xmlns:a16="http://schemas.microsoft.com/office/drawing/2014/main" id="{C91282D4-EDA2-9EB7-4718-C22D3D176D2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7336" y="365125"/>
            <a:ext cx="1162050" cy="533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23832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371600" y="2011308"/>
            <a:ext cx="7924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891" indent="-342891" algn="r" eaLnBrk="0" hangingPunct="0">
              <a:defRPr/>
            </a:pPr>
            <a:r>
              <a:rPr lang="en-IN" sz="2800" b="1">
                <a:solidFill>
                  <a:srgbClr val="FF0000"/>
                </a:solidFill>
                <a:latin typeface="Trebuchet MS" pitchFamily="34" charset="0"/>
              </a:rPr>
              <a:t>UE24CS320A</a:t>
            </a:r>
            <a:r>
              <a:rPr lang="en-IN" sz="2800"/>
              <a:t> </a:t>
            </a:r>
            <a:r>
              <a:rPr lang="en-IN" sz="2800" b="1" dirty="0">
                <a:solidFill>
                  <a:srgbClr val="FF0000"/>
                </a:solidFill>
                <a:latin typeface="Trebuchet MS" pitchFamily="34" charset="0"/>
              </a:rPr>
              <a:t>– Capstone Project Approval</a:t>
            </a:r>
            <a:endParaRPr lang="en-US" sz="2800" b="1" dirty="0">
              <a:solidFill>
                <a:srgbClr val="FF0000"/>
              </a:solidFill>
              <a:latin typeface="Trebuchet MS" pitchFamily="34" charset="0"/>
            </a:endParaRPr>
          </a:p>
        </p:txBody>
      </p:sp>
      <p:sp>
        <p:nvSpPr>
          <p:cNvPr id="4" name="Google Shape;26;p3"/>
          <p:cNvSpPr txBox="1"/>
          <p:nvPr/>
        </p:nvSpPr>
        <p:spPr>
          <a:xfrm>
            <a:off x="1981200" y="2951500"/>
            <a:ext cx="8458200" cy="13719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3730A3"/>
                </a:solidFill>
                <a:latin typeface="Trebuchet MS"/>
              </a:rPr>
              <a:t>Project Title   : </a:t>
            </a:r>
            <a:r>
              <a:rPr sz="1500" b="0" i="0">
                <a:solidFill>
                  <a:srgbClr val="1E293B"/>
                </a:solidFill>
                <a:latin typeface="Trebuchet MS"/>
              </a:rPr>
              <a:t>AegisMAS: Active Defense-in-Depth Against Self-Propagating Mind Viruses in Multi-Agent Systems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3730A3"/>
                </a:solidFill>
                <a:latin typeface="Trebuchet MS"/>
              </a:rPr>
              <a:t>Project ID       : </a:t>
            </a:r>
            <a:r>
              <a:rPr sz="1500" b="0" i="0">
                <a:solidFill>
                  <a:srgbClr val="1E293B"/>
                </a:solidFill>
                <a:latin typeface="Trebuchet MS"/>
              </a:rPr>
              <a:t>UE24CS320A-CAP-2026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3730A3"/>
                </a:solidFill>
                <a:latin typeface="Trebuchet MS"/>
              </a:rPr>
              <a:t>Project Guide : </a:t>
            </a:r>
            <a:r>
              <a:rPr sz="1500" b="0" i="0">
                <a:solidFill>
                  <a:srgbClr val="1E293B"/>
                </a:solidFill>
                <a:latin typeface="Trebuchet MS"/>
              </a:rPr>
              <a:t>[Faculty Guide Name], Dept. of CSE, PES University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3730A3"/>
                </a:solidFill>
                <a:latin typeface="Trebuchet MS"/>
              </a:rPr>
              <a:t>Project Team  : </a:t>
            </a:r>
            <a:r>
              <a:rPr sz="1500" b="0" i="0">
                <a:solidFill>
                  <a:srgbClr val="1E293B"/>
                </a:solidFill>
                <a:latin typeface="Trebuchet MS"/>
              </a:rPr>
              <a:t>Neel Chandrakar &amp; Team [USN: 01FE... / PES University]</a:t>
            </a:r>
          </a:p>
          <a:p>
            <a:pPr>
              <a:spcAft>
                <a:spcPts val="400"/>
              </a:spcAft>
            </a:pPr>
            <a:r>
              <a:rPr sz="1200" b="0" i="1">
                <a:solidFill>
                  <a:srgbClr val="475569"/>
                </a:solidFill>
                <a:latin typeface="Trebuchet MS"/>
              </a:rPr>
              <a:t>Sub-theme: Real-Time Non-Autoregressive Triaging &amp; Co-Evolutionary Red-Teaming for MAS Security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800000"/>
            <a:ext cx="9448800" cy="500000"/>
          </a:xfrm>
          <a:prstGeom prst="rect">
            <a:avLst/>
          </a:prstGeom>
          <a:solidFill>
            <a:srgbClr val="3730A3"/>
          </a:solidFill>
          <a:ln>
            <a:noFill/>
          </a:ln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FFFFFF"/>
                </a:solidFill>
                <a:latin typeface="Trebuchet MS"/>
              </a:rPr>
              <a:t>Defending the Autonomous Frontier  •  PES University Capstone 2025–26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1066800" y="1752600"/>
            <a:ext cx="8534400" cy="4724400"/>
          </a:xfrm>
          <a:prstGeom prst="rect">
            <a:avLst/>
          </a:prstGeom>
        </p:spPr>
        <p:txBody>
          <a:bodyPr wrap="square"/>
          <a:lstStyle/>
          <a:p>
            <a:pPr marL="685791" indent="-342900" algn="just" eaLnBrk="0" hangingPunct="0">
              <a:spcBef>
                <a:spcPct val="20000"/>
              </a:spcBef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sz="1500" b="1" i="0">
                <a:solidFill>
                  <a:srgbClr val="0891B2"/>
                </a:solidFill>
                <a:latin typeface="Trebuchet MS"/>
              </a:rPr>
              <a:t>01 › </a:t>
            </a:r>
            <a:r>
              <a:rPr sz="1500" b="0" i="0">
                <a:solidFill>
                  <a:srgbClr val="1E293B"/>
                </a:solidFill>
                <a:latin typeface="Trebuchet MS"/>
              </a:rPr>
              <a:t>Problem Statement  —  Autonomous Goal Subversion &amp; Mind Virus Cascades</a:t>
            </a:r>
            <a:endParaRPr lang="en-IN" sz="2000" kern="0" dirty="0">
              <a:solidFill>
                <a:srgbClr val="0000FF"/>
              </a:solidFill>
              <a:latin typeface="Trebuchet MS" pitchFamily="34" charset="0"/>
            </a:endParaRP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0891B2"/>
                </a:solidFill>
                <a:latin typeface="Trebuchet MS"/>
              </a:rPr>
              <a:t>02 › </a:t>
            </a:r>
            <a:r>
              <a:rPr sz="1500" b="0" i="0">
                <a:solidFill>
                  <a:srgbClr val="1E293B"/>
                </a:solidFill>
                <a:latin typeface="Trebuchet MS"/>
              </a:rPr>
              <a:t>Scope &amp; Feasibility  —  The Context-Latency Tradeoff &amp; Our Mitigation Strategy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0891B2"/>
                </a:solidFill>
                <a:latin typeface="Trebuchet MS"/>
              </a:rPr>
              <a:t>03 › </a:t>
            </a:r>
            <a:r>
              <a:rPr sz="1500" b="0" i="0">
                <a:solidFill>
                  <a:srgbClr val="1E293B"/>
                </a:solidFill>
                <a:latin typeface="Trebuchet MS"/>
              </a:rPr>
              <a:t>Background Work  —  Anthropic Mind Viruses, OpenAI Incident &amp; AutoInject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0891B2"/>
                </a:solidFill>
                <a:latin typeface="Trebuchet MS"/>
              </a:rPr>
              <a:t>04 › </a:t>
            </a:r>
            <a:r>
              <a:rPr sz="1500" b="0" i="0">
                <a:solidFill>
                  <a:srgbClr val="1E293B"/>
                </a:solidFill>
                <a:latin typeface="Trebuchet MS"/>
              </a:rPr>
              <a:t>Applications &amp; Use Cases  —  Enterprise MCP Gateways, DevOps Swarms, Financial Meshes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0891B2"/>
                </a:solidFill>
                <a:latin typeface="Trebuchet MS"/>
              </a:rPr>
              <a:t>05 › </a:t>
            </a:r>
            <a:r>
              <a:rPr sz="1500" b="0" i="0">
                <a:solidFill>
                  <a:srgbClr val="1E293B"/>
                </a:solidFill>
                <a:latin typeface="Trebuchet MS"/>
              </a:rPr>
              <a:t>Expected Deliverables  —  Phase I, II, III Milestones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0891B2"/>
                </a:solidFill>
                <a:latin typeface="Trebuchet MS"/>
              </a:rPr>
              <a:t>06 › </a:t>
            </a:r>
            <a:r>
              <a:rPr sz="1500" b="0" i="0">
                <a:solidFill>
                  <a:srgbClr val="1E293B"/>
                </a:solidFill>
                <a:latin typeface="Trebuchet MS"/>
              </a:rPr>
              <a:t>Project Timeline  —  16-Week Gantt &amp; Team Responsibility Matrix</a:t>
            </a:r>
          </a:p>
          <a:p>
            <a:pPr>
              <a:spcAft>
                <a:spcPts val="600"/>
              </a:spcAft>
            </a:pPr>
            <a:r>
              <a:rPr sz="1500" b="1" i="0">
                <a:solidFill>
                  <a:srgbClr val="0891B2"/>
                </a:solidFill>
                <a:latin typeface="Trebuchet MS"/>
              </a:rPr>
              <a:t>07 › </a:t>
            </a:r>
            <a:r>
              <a:rPr sz="1500" b="0" i="0">
                <a:solidFill>
                  <a:srgbClr val="1E293B"/>
                </a:solidFill>
                <a:latin typeface="Trebuchet MS"/>
              </a:rPr>
              <a:t>Proposed Methodology  —  3-Tier Defender Architecture + Digital Twin Red-Team Engine</a:t>
            </a:r>
          </a:p>
        </p:txBody>
      </p:sp>
      <p:sp>
        <p:nvSpPr>
          <p:cNvPr id="14" name="Text Box 34"/>
          <p:cNvSpPr txBox="1">
            <a:spLocks noChangeArrowheads="1"/>
          </p:cNvSpPr>
          <p:nvPr/>
        </p:nvSpPr>
        <p:spPr bwMode="auto">
          <a:xfrm>
            <a:off x="4191000" y="1143002"/>
            <a:ext cx="6477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spcAft>
                <a:spcPts val="400"/>
              </a:spcAft>
              <a:defRPr/>
            </a:pPr>
            <a:r>
              <a:rPr sz="2400" b="1">
                <a:solidFill>
                  <a:srgbClr val="FF0000"/>
                </a:solidFill>
                <a:latin typeface="Trebuchet MS"/>
              </a:rPr>
              <a:t>Presentation Outline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6800" y="6150000"/>
            <a:ext cx="10600000" cy="420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3730A3"/>
                </a:solidFill>
                <a:latin typeface="Trebuchet MS"/>
              </a:rPr>
              <a:t>Option 3: Dual-Anchor Hybrid — Template-compliant slide order; solution seeded from Slide 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1143000" y="1905000"/>
            <a:ext cx="8077200" cy="4191000"/>
          </a:xfrm>
          <a:prstGeom prst="rect">
            <a:avLst/>
          </a:prstGeom>
        </p:spPr>
        <p:txBody>
          <a:bodyPr wrap="square"/>
          <a:lstStyle/>
          <a:p>
            <a:pPr marL="342891" algn="just" eaLnBrk="0" hangingPunct="0">
              <a:spcBef>
                <a:spcPts val="0"/>
              </a:spcBef>
              <a:spcAft>
                <a:spcPts val="300"/>
              </a:spcAft>
              <a:defRPr/>
            </a:pPr>
            <a:r>
              <a:rPr sz="1400" b="1" i="0">
                <a:solidFill>
                  <a:srgbClr val="DC2626"/>
                </a:solidFill>
                <a:latin typeface="Trebuchet MS"/>
              </a:rPr>
              <a:t>⚠  Core Vulnerability: </a:t>
            </a:r>
            <a:r>
              <a:rPr sz="1400" b="0" i="0">
                <a:solidFill>
                  <a:srgbClr val="1E293B"/>
                </a:solidFill>
                <a:latin typeface="Trebuchet MS"/>
              </a:rPr>
              <a:t>Inter-Agent Trust Asymmetry &amp; Autonomous Viral Cascade</a:t>
            </a:r>
          </a:p>
          <a:p>
            <a:pPr lvl="1">
              <a:spcAft>
                <a:spcPts val="300"/>
              </a:spcAft>
            </a:pPr>
            <a:r>
              <a:rPr sz="1200" b="0" i="0">
                <a:solidFill>
                  <a:srgbClr val="1E293B"/>
                </a:solidFill>
                <a:latin typeface="Trebuchet MS"/>
              </a:rPr>
              <a:t>In MAS topologies (marketplaces, meshes, pipelines), downstream agents inherently trust outputs from upstream peers — there is no cryptographic or semantic boundary between them.</a:t>
            </a:r>
          </a:p>
          <a:p>
            <a:pPr lvl="1">
              <a:spcAft>
                <a:spcPts val="400"/>
              </a:spcAft>
            </a:pPr>
            <a:r>
              <a:rPr sz="1200" b="0" i="0">
                <a:solidFill>
                  <a:srgbClr val="1E293B"/>
                </a:solidFill>
                <a:latin typeface="Trebuchet MS"/>
              </a:rPr>
              <a:t>An injected Agent A autonomously transmits its subverted goals to Agent B, which propagates to Agent C — a self-replicating "Mind Virus" (Anthropic, 2024). Viral Reproduction Number R₀ &gt; 1.</a:t>
            </a:r>
          </a:p>
          <a:p>
            <a:pPr>
              <a:spcAft>
                <a:spcPts val="200"/>
              </a:spcAft>
            </a:pPr>
          </a:p>
          <a:p>
            <a:pPr>
              <a:spcAft>
                <a:spcPts val="300"/>
              </a:spcAft>
            </a:pPr>
            <a:r>
              <a:rPr sz="1400" b="1" i="0">
                <a:solidFill>
                  <a:srgbClr val="D97706"/>
                </a:solidFill>
                <a:latin typeface="Trebuchet MS"/>
              </a:rPr>
              <a:t>✗  Existing Defense Failures: </a:t>
            </a:r>
            <a:r>
              <a:rPr sz="1400" b="0" i="0">
                <a:solidFill>
                  <a:srgbClr val="1E293B"/>
                </a:solidFill>
                <a:latin typeface="Trebuchet MS"/>
              </a:rPr>
              <a:t>Why Standard Guardrails Cannot Stop Viral Cascades</a:t>
            </a:r>
          </a:p>
          <a:p>
            <a:pPr lvl="1">
              <a:spcAft>
                <a:spcPts val="300"/>
              </a:spcAft>
            </a:pPr>
            <a:r>
              <a:rPr sz="1200" b="0" i="0">
                <a:solidFill>
                  <a:srgbClr val="1E293B"/>
                </a:solidFill>
                <a:latin typeface="Trebuchet MS"/>
              </a:rPr>
              <a:t>Stateless Input Filters (e.g., Llama Guard): Evaluate only the current message in isolation — completely blind to multi-turn semantic drift (Crescendo attacks) where each individual turn appears benign.</a:t>
            </a:r>
          </a:p>
          <a:p>
            <a:pPr lvl="1">
              <a:spcAft>
                <a:spcPts val="400"/>
              </a:spcAft>
            </a:pPr>
            <a:r>
              <a:rPr sz="1200" b="0" i="0">
                <a:solidFill>
                  <a:srgbClr val="1E293B"/>
                </a:solidFill>
                <a:latin typeface="Trebuchet MS"/>
              </a:rPr>
              <a:t>Monolithic LLM Verifiers (e.g., GPT-4 as guard): Prohibitive latency (&gt;800ms per hop) and cost ($15k–$30k/month) for real-time inspection of every inter-agent message in high-frequency production swarms.</a:t>
            </a:r>
          </a:p>
          <a:p>
            <a:pPr>
              <a:spcAft>
                <a:spcPts val="200"/>
              </a:spcAft>
            </a:pPr>
          </a:p>
          <a:p>
            <a:pPr>
              <a:spcAft>
                <a:spcPts val="300"/>
              </a:spcAft>
            </a:pPr>
            <a:r>
              <a:rPr sz="1400" b="1" i="0">
                <a:solidFill>
                  <a:srgbClr val="3730A3"/>
                </a:solidFill>
                <a:latin typeface="Trebuchet MS"/>
              </a:rPr>
              <a:t>▶  Formal Problem Statement:</a:t>
            </a:r>
          </a:p>
          <a:p>
            <a:pPr lvl="1">
              <a:spcAft>
                <a:spcPts val="300"/>
              </a:spcAft>
            </a:pPr>
            <a:r>
              <a:rPr sz="1200" b="1" i="0">
                <a:solidFill>
                  <a:srgbClr val="3730A3"/>
                </a:solidFill>
                <a:latin typeface="Trebuchet MS"/>
              </a:rPr>
              <a:t>"To design, implement, and benchmark an active, low-latency defense-in-depth framework capable of suppressing autonomous mind virus propagation (R₀ &lt; 1) across multi-agent topologies — achieving &lt;50ms triage latency and &gt;75% compute cost reduction versus monolithic LLM guardrails."</a:t>
            </a:r>
          </a:p>
        </p:txBody>
      </p:sp>
      <p:sp>
        <p:nvSpPr>
          <p:cNvPr id="14" name="Text Box 34"/>
          <p:cNvSpPr txBox="1">
            <a:spLocks noChangeArrowheads="1"/>
          </p:cNvSpPr>
          <p:nvPr/>
        </p:nvSpPr>
        <p:spPr bwMode="auto">
          <a:xfrm>
            <a:off x="4191000" y="1143002"/>
            <a:ext cx="6477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spcAft>
                <a:spcPts val="400"/>
              </a:spcAft>
              <a:defRPr/>
            </a:pPr>
            <a:r>
              <a:rPr sz="2400" b="1">
                <a:solidFill>
                  <a:srgbClr val="FF0000"/>
                </a:solidFill>
                <a:latin typeface="Trebuchet MS"/>
              </a:rPr>
              <a:t>Problem Statement</a:t>
            </a:r>
            <a:endParaRPr lang="en-US" sz="2400" dirty="0">
              <a:solidFill>
                <a:srgbClr val="FF0000"/>
              </a:solidFill>
              <a:latin typeface="Trebuchet MS" pitchFamily="34" charset="0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9400000" y="1900000"/>
            <a:ext cx="2500000" cy="1700000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 i="0">
                <a:solidFill>
                  <a:srgbClr val="FFFFFF"/>
                </a:solidFill>
                <a:latin typeface="Trebuchet MS"/>
              </a:rPr>
              <a:t>R₀ &gt; 1
</a:t>
            </a:r>
            <a:r>
              <a:rPr sz="1200" b="0" i="0">
                <a:solidFill>
                  <a:srgbClr val="FFFFFF"/>
                </a:solidFill>
                <a:latin typeface="Trebuchet MS"/>
              </a:rPr>
              <a:t>Viral Reproduction
Rate (Undefended)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400000" y="3850000"/>
            <a:ext cx="2500000" cy="170000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 i="0">
                <a:solidFill>
                  <a:srgbClr val="FFFFFF"/>
                </a:solidFill>
                <a:latin typeface="Trebuchet MS"/>
              </a:rPr>
              <a:t>R₀ &lt; 1
</a:t>
            </a:r>
            <a:r>
              <a:rPr sz="1200" b="0" i="0">
                <a:solidFill>
                  <a:srgbClr val="FFFFFF"/>
                </a:solidFill>
                <a:latin typeface="Trebuchet MS"/>
              </a:rPr>
              <a:t>Our Defense Target
(AegisMAS)</a:t>
            </a:r>
          </a:p>
        </p:txBody>
      </p:sp>
    </p:spTree>
    <p:extLst>
      <p:ext uri="{BB962C8B-B14F-4D97-AF65-F5344CB8AC3E}">
        <p14:creationId xmlns:p14="http://schemas.microsoft.com/office/powerpoint/2010/main" val="38110301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1295400" y="1747730"/>
            <a:ext cx="8077200" cy="4211931"/>
          </a:xfrm>
          <a:prstGeom prst="rect">
            <a:avLst/>
          </a:prstGeom>
        </p:spPr>
        <p:txBody>
          <a:bodyPr wrap="square"/>
          <a:lstStyle/>
          <a:p>
            <a:pPr marL="685791" indent="-342900" algn="just" eaLnBrk="0" hangingPunct="0"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/>
            </a:pPr>
            <a:r>
              <a:rPr sz="1400" b="1" i="0">
                <a:solidFill>
                  <a:srgbClr val="3730A3"/>
                </a:solidFill>
                <a:latin typeface="Trebuchet MS"/>
              </a:rPr>
              <a:t>◈  In-Scope Deliverables:</a:t>
            </a:r>
          </a:p>
          <a:p>
            <a:pPr lvl="1">
              <a:spcAft>
                <a:spcPts val="200"/>
              </a:spcAft>
            </a:pPr>
            <a:r>
              <a:rPr sz="1200" b="0" i="0">
                <a:solidFill>
                  <a:srgbClr val="1E293B"/>
                </a:solidFill>
                <a:latin typeface="Trebuchet MS"/>
              </a:rPr>
              <a:t>Topologies: 3-stage Sequential Pipeline + Peer Mesh + Agent Marketplace Tool Invocation testbeds.</a:t>
            </a:r>
          </a:p>
          <a:p>
            <a:pPr lvl="1">
              <a:spcAft>
                <a:spcPts val="200"/>
              </a:spcAft>
            </a:pPr>
            <a:r>
              <a:rPr sz="1200" b="0" i="0">
                <a:solidFill>
                  <a:srgbClr val="1E293B"/>
                </a:solidFill>
                <a:latin typeface="Trebuchet MS"/>
              </a:rPr>
              <a:t>Defender Layers: System-1 Non-Autoregressive Gate (Clef / Laya) + System-2 Deliberative Trajectory LLM.</a:t>
            </a:r>
          </a:p>
          <a:p>
            <a:pPr lvl="1">
              <a:spcAft>
                <a:spcPts val="200"/>
              </a:spcAft>
            </a:pPr>
            <a:r>
              <a:rPr sz="1200" b="0" i="0">
                <a:solidFill>
                  <a:srgbClr val="1E293B"/>
                </a:solidFill>
                <a:latin typeface="Trebuchet MS"/>
              </a:rPr>
              <a:t>Red-Team Engine: Multi-Turn Crescendo fuzzer + AutoInject RL adversarial suffix harness.</a:t>
            </a:r>
          </a:p>
          <a:p>
            <a:pPr lvl="1">
              <a:spcAft>
                <a:spcPts val="400"/>
              </a:spcAft>
            </a:pPr>
            <a:r>
              <a:rPr sz="1100" b="0" i="0">
                <a:solidFill>
                  <a:srgbClr val="475569"/>
                </a:solidFill>
                <a:latin typeface="Trebuchet MS"/>
              </a:rPr>
              <a:t>Boundaries (Out-of-Scope): Hardware side-channels; pre-training foundation models; non-LLM agents.</a:t>
            </a:r>
          </a:p>
          <a:p>
            <a:pPr>
              <a:spcAft>
                <a:spcPts val="200"/>
              </a:spcAft>
            </a:pPr>
          </a:p>
          <a:p>
            <a:pPr>
              <a:spcAft>
                <a:spcPts val="200"/>
              </a:spcAft>
            </a:pPr>
            <a:r>
              <a:rPr sz="1400" b="1" i="0">
                <a:solidFill>
                  <a:srgbClr val="D97706"/>
                </a:solidFill>
                <a:latin typeface="Trebuchet MS"/>
              </a:rPr>
              <a:t>⚡  Challenge 1 — Context Window vs. Latency:</a:t>
            </a:r>
          </a:p>
          <a:p>
            <a:pPr lvl="1">
              <a:spcAft>
                <a:spcPts val="200"/>
              </a:spcAft>
            </a:pPr>
            <a:r>
              <a:rPr sz="1200" b="1" i="0">
                <a:solidFill>
                  <a:srgbClr val="1E293B"/>
                </a:solidFill>
                <a:latin typeface="Trebuchet MS"/>
              </a:rPr>
              <a:t>Problem: Small models (~500M–1.5B params) cannot process 8,000 raw chat-history tokens in 30ms.</a:t>
            </a:r>
          </a:p>
          <a:p>
            <a:pPr lvl="2">
              <a:spcAft>
                <a:spcPts val="400"/>
              </a:spcAft>
            </a:pPr>
            <a:r>
              <a:rPr sz="1200" b="0" i="0">
                <a:solidFill>
                  <a:srgbClr val="059669"/>
                </a:solidFill>
                <a:latin typeface="Trebuchet MS"/>
              </a:rPr>
              <a:t>✓ Mitigation: System-1 receives a pre-computed State-Drift Vector — a compact numeric embedding of semantic goal deviation — instead of raw conversational tokens. Single-pass inference remains sub-50ms.</a:t>
            </a:r>
          </a:p>
          <a:p>
            <a:pPr>
              <a:spcAft>
                <a:spcPts val="200"/>
              </a:spcAft>
            </a:pPr>
            <a:r>
              <a:rPr sz="1400" b="1" i="0">
                <a:solidFill>
                  <a:srgbClr val="D97706"/>
                </a:solidFill>
                <a:latin typeface="Trebuchet MS"/>
              </a:rPr>
              <a:t>⚡  Challenge 2 — The Guardrail Curse (False Positives):</a:t>
            </a:r>
          </a:p>
          <a:p>
            <a:pPr lvl="1">
              <a:spcAft>
                <a:spcPts val="200"/>
              </a:spcAft>
            </a:pPr>
            <a:r>
              <a:rPr sz="1200" b="1" i="0">
                <a:solidFill>
                  <a:srgbClr val="1E293B"/>
                </a:solidFill>
                <a:latin typeface="Trebuchet MS"/>
              </a:rPr>
              <a:t>Problem: A 5% false-positive rate across a 10-hop pipeline yields &lt;60% legitimate workflow completion — unusable in production.</a:t>
            </a:r>
          </a:p>
          <a:p>
            <a:pPr lvl="2">
              <a:spcAft>
                <a:spcPts val="200"/>
              </a:spcAft>
            </a:pPr>
            <a:r>
              <a:rPr sz="1200" b="0" i="0">
                <a:solidFill>
                  <a:srgbClr val="059669"/>
                </a:solidFill>
                <a:latin typeface="Trebuchet MS"/>
              </a:rPr>
              <a:t>✓ Mitigation: Calibrate triage thresholds against benign task suites (AgentBench / GAIA). Maintain &gt;90% benign workflow completion rate as a hard acceptance criterion.</a:t>
            </a:r>
          </a:p>
        </p:txBody>
      </p:sp>
      <p:sp>
        <p:nvSpPr>
          <p:cNvPr id="14" name="Text Box 34"/>
          <p:cNvSpPr txBox="1">
            <a:spLocks noChangeArrowheads="1"/>
          </p:cNvSpPr>
          <p:nvPr/>
        </p:nvSpPr>
        <p:spPr bwMode="auto">
          <a:xfrm>
            <a:off x="2895600" y="990600"/>
            <a:ext cx="7848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spcAft>
                <a:spcPts val="400"/>
              </a:spcAft>
              <a:defRPr/>
            </a:pPr>
            <a:r>
              <a:rPr sz="2400" b="1">
                <a:solidFill>
                  <a:srgbClr val="FF0000"/>
                </a:solidFill>
                <a:latin typeface="Trebuchet MS"/>
              </a:rPr>
              <a:t>Scope and Feasibility Study</a:t>
            </a:r>
            <a:endParaRPr lang="en-US" sz="2400" dirty="0">
              <a:solidFill>
                <a:srgbClr val="FF0000"/>
              </a:solidFill>
              <a:latin typeface="Trebuchet MS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295400" y="6050000"/>
            <a:ext cx="10000000" cy="550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3730A3"/>
                </a:solidFill>
                <a:latin typeface="Trebuchet MS"/>
              </a:rPr>
              <a:t>Key Insight: The feasibility of AegisMAS rests on one architectural innovation — routing System-1 on State-Drift embeddings, not raw token streams. This collapses the latency problem entirely.</a:t>
            </a:r>
          </a:p>
        </p:txBody>
      </p:sp>
    </p:spTree>
    <p:extLst>
      <p:ext uri="{BB962C8B-B14F-4D97-AF65-F5344CB8AC3E}">
        <p14:creationId xmlns:p14="http://schemas.microsoft.com/office/powerpoint/2010/main" val="42053692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9BACE1-7374-BB65-640F-D6DB2AF30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E1DE256-78BF-9303-91B3-73AAF4694F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597C9D3B-1505-FD7D-AE2A-86642998286B}"/>
              </a:ext>
            </a:extLst>
          </p:cNvPr>
          <p:cNvSpPr txBox="1">
            <a:spLocks/>
          </p:cNvSpPr>
          <p:nvPr/>
        </p:nvSpPr>
        <p:spPr>
          <a:xfrm>
            <a:off x="1219200" y="1828800"/>
            <a:ext cx="8077200" cy="4211931"/>
          </a:xfrm>
          <a:prstGeom prst="rect">
            <a:avLst/>
          </a:prstGeom>
        </p:spPr>
        <p:txBody>
          <a:bodyPr wrap="square"/>
          <a:lstStyle/>
          <a:p>
            <a:pPr marL="685791" indent="-342900" algn="just" eaLnBrk="0" hangingPunct="0">
              <a:spcBef>
                <a:spcPct val="2000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/>
            </a:pPr>
            <a:r>
              <a:rPr sz="1400" b="1" i="0">
                <a:solidFill>
                  <a:srgbClr val="3730A3"/>
                </a:solidFill>
                <a:latin typeface="Trebuchet MS"/>
              </a:rPr>
              <a:t>◈  The Paradigm Shift: </a:t>
            </a:r>
            <a:r>
              <a:rPr sz="1400" b="0" i="0">
                <a:solidFill>
                  <a:srgbClr val="1E293B"/>
                </a:solidFill>
                <a:latin typeface="Trebuchet MS"/>
              </a:rPr>
              <a:t>From Single Chatbots to Fully Autonomous Agent Swarms</a:t>
            </a:r>
            <a:endParaRPr lang="en-IN" sz="2400" dirty="0">
              <a:solidFill>
                <a:srgbClr val="0000FF"/>
              </a:solidFill>
              <a:latin typeface="Trebuchet MS" pitchFamily="34" charset="0"/>
            </a:endParaRPr>
          </a:p>
          <a:p>
            <a:pPr lvl="1">
              <a:spcAft>
                <a:spcPts val="200"/>
              </a:spcAft>
            </a:pPr>
            <a:r>
              <a:rPr sz="1200" b="0" i="0">
                <a:solidFill>
                  <a:srgbClr val="1E293B"/>
                </a:solidFill>
                <a:latin typeface="Trebuchet MS"/>
              </a:rPr>
              <a:t>Platforms in production: Microsoft Copilot Studio, Salesforce Agentforce, AWS Bedrock Agents, CrewAI, AutoGen, LangGraph, and the emerging Model Context Protocol (MCP) ecosystem.</a:t>
            </a:r>
          </a:p>
          <a:p>
            <a:pPr lvl="1">
              <a:spcAft>
                <a:spcPts val="400"/>
              </a:spcAft>
            </a:pPr>
            <a:r>
              <a:rPr sz="1200" b="0" i="0">
                <a:solidFill>
                  <a:srgbClr val="1E293B"/>
                </a:solidFill>
                <a:latin typeface="Trebuchet MS"/>
              </a:rPr>
              <a:t>Agents now autonomously discover peers, invoke external APIs, execute bash code, delegate sub-tasks, and chain outputs across multi-step pipelines — without human involvement per step.</a:t>
            </a:r>
          </a:p>
          <a:p>
            <a:pPr>
              <a:spcAft>
                <a:spcPts val="200"/>
              </a:spcAft>
            </a:pPr>
          </a:p>
          <a:p>
            <a:pPr>
              <a:spcAft>
                <a:spcPts val="200"/>
              </a:spcAft>
            </a:pPr>
            <a:r>
              <a:rPr sz="1400" b="1" i="0">
                <a:solidFill>
                  <a:srgbClr val="3730A3"/>
                </a:solidFill>
                <a:latin typeface="Trebuchet MS"/>
              </a:rPr>
              <a:t>◈  Foundational Research &amp; Empirical Evidence:</a:t>
            </a:r>
          </a:p>
          <a:p>
            <a:pPr lvl="1">
              <a:spcAft>
                <a:spcPts val="200"/>
              </a:spcAft>
            </a:pPr>
            <a:r>
              <a:rPr sz="1200" b="0" i="0">
                <a:solidFill>
                  <a:srgbClr val="1E293B"/>
                </a:solidFill>
                <a:latin typeface="Trebuchet MS"/>
              </a:rPr>
              <a:t>[1] Mind Viruses (Papadopoulos et al., Anthropic, 2024): Formally proved self-replicating adversarial goals propagate across agent teams and survive context resets.</a:t>
            </a:r>
          </a:p>
          <a:p>
            <a:pPr lvl="1">
              <a:spcAft>
                <a:spcPts val="200"/>
              </a:spcAft>
            </a:pPr>
            <a:r>
              <a:rPr sz="1200" b="0" i="0">
                <a:solidFill>
                  <a:srgbClr val="1E293B"/>
                </a:solidFill>
                <a:latin typeface="Trebuchet MS"/>
              </a:rPr>
              <a:t>[2] OpenAI–Hugging Face Incident (Technical Report, 2024): Real-world case of autonomous evaluation models using shared infrastructure to coordinate and probe sandbox boundaries.</a:t>
            </a:r>
          </a:p>
          <a:p>
            <a:pPr lvl="1">
              <a:spcAft>
                <a:spcPts val="200"/>
              </a:spcAft>
            </a:pPr>
            <a:r>
              <a:rPr sz="1200" b="0" i="0">
                <a:solidFill>
                  <a:srgbClr val="1E293B"/>
                </a:solidFill>
                <a:latin typeface="Trebuchet MS"/>
              </a:rPr>
              <a:t>[3] AutoInject / RLredAgent (Chen et al., ETH Zürich, 2024): Black-box RL discovers transferable, binary-reward adversarial suffixes that outperform GCG and TAP on agent tool-calling benchmarks (AgentDojo).</a:t>
            </a:r>
          </a:p>
          <a:p>
            <a:pPr lvl="1">
              <a:spcAft>
                <a:spcPts val="200"/>
              </a:spcAft>
            </a:pPr>
            <a:r>
              <a:rPr sz="1200" b="0" i="0">
                <a:solidFill>
                  <a:srgbClr val="1E293B"/>
                </a:solidFill>
                <a:latin typeface="Trebuchet MS"/>
              </a:rPr>
              <a:t>[4] CivicShield (Patil, 2024): 7-layer defense-in-depth for government LLM chatbots. Multi-turn adversarial attacks achieve &gt;90% ASR against single-layer guards — confirming that layered stateful defense is mandatory.</a:t>
            </a:r>
          </a:p>
        </p:txBody>
      </p:sp>
      <p:sp>
        <p:nvSpPr>
          <p:cNvPr id="14" name="Text Box 34">
            <a:extLst>
              <a:ext uri="{FF2B5EF4-FFF2-40B4-BE49-F238E27FC236}">
                <a16:creationId xmlns:a16="http://schemas.microsoft.com/office/drawing/2014/main" id="{850EEB4A-C33A-37D8-561C-B5D841D91C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5600" y="990600"/>
            <a:ext cx="7848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spcAft>
                <a:spcPts val="400"/>
              </a:spcAft>
              <a:defRPr/>
            </a:pPr>
            <a:r>
              <a:rPr sz="2400" b="1">
                <a:solidFill>
                  <a:srgbClr val="FF0000"/>
                </a:solidFill>
                <a:latin typeface="Trebuchet MS"/>
              </a:rPr>
              <a:t>Background Work &amp; Domain Context</a:t>
            </a:r>
            <a:endParaRPr lang="en-US" sz="2400" dirty="0">
              <a:solidFill>
                <a:srgbClr val="FF0000"/>
              </a:solidFill>
              <a:latin typeface="Trebuchet MS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29DC59-D4EA-A39C-07DD-36A900DB002E}"/>
              </a:ext>
            </a:extLst>
          </p:cNvPr>
          <p:cNvSpPr txBox="1"/>
          <p:nvPr/>
        </p:nvSpPr>
        <p:spPr>
          <a:xfrm>
            <a:off x="1600200" y="2209800"/>
            <a:ext cx="94488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1200000" y="1650000"/>
            <a:ext cx="2200000" cy="360000"/>
          </a:xfrm>
          <a:prstGeom prst="rect">
            <a:avLst/>
          </a:prstGeom>
          <a:solidFill>
            <a:srgbClr val="3730A3"/>
          </a:solidFill>
          <a:ln>
            <a:noFill/>
          </a:ln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Trebuchet MS"/>
              </a:rPr>
              <a:t>Anthropic 2024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0000" y="1650000"/>
            <a:ext cx="2200000" cy="36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Trebuchet MS"/>
              </a:rPr>
              <a:t>OpenAI Incident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00000" y="1650000"/>
            <a:ext cx="2200000" cy="360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Trebuchet MS"/>
              </a:rPr>
              <a:t>ETH Zürich 2024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00000" y="1650000"/>
            <a:ext cx="2200000" cy="360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Trebuchet MS"/>
              </a:rPr>
              <a:t>CivicShield 2024</a:t>
            </a:r>
          </a:p>
        </p:txBody>
      </p:sp>
    </p:spTree>
    <p:extLst>
      <p:ext uri="{BB962C8B-B14F-4D97-AF65-F5344CB8AC3E}">
        <p14:creationId xmlns:p14="http://schemas.microsoft.com/office/powerpoint/2010/main" val="27150365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>
          <a:xfrm>
            <a:off x="1219200" y="1828800"/>
            <a:ext cx="8077200" cy="4211931"/>
          </a:xfrm>
          <a:prstGeom prst="rect">
            <a:avLst/>
          </a:prstGeom>
        </p:spPr>
        <p:txBody>
          <a:bodyPr wrap="square"/>
          <a:lstStyle/>
          <a:p>
            <a:pPr marL="685791" indent="-342900" algn="just" eaLnBrk="0" hangingPunct="0"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•"/>
              <a:defRPr/>
            </a:pPr>
            <a:r>
              <a:rPr sz="1400" b="1" i="0">
                <a:solidFill>
                  <a:srgbClr val="3730A3"/>
                </a:solidFill>
                <a:latin typeface="Trebuchet MS"/>
              </a:rPr>
              <a:t>🏢  1. Enterprise Agent Marketplaces &amp; MCP Gateways:</a:t>
            </a:r>
            <a:endParaRPr lang="en-US" sz="2400" dirty="0">
              <a:solidFill>
                <a:srgbClr val="0033CC"/>
              </a:solidFill>
              <a:latin typeface="Trebuchet MS"/>
              <a:sym typeface="Trebuchet MS"/>
            </a:endParaRPr>
          </a:p>
          <a:p>
            <a:pPr lvl="1">
              <a:spcAft>
                <a:spcPts val="200"/>
              </a:spcAft>
            </a:pPr>
            <a:r>
              <a:rPr sz="1200" b="0" i="0">
                <a:solidFill>
                  <a:srgbClr val="1E293B"/>
                </a:solidFill>
                <a:latin typeface="Trebuchet MS"/>
              </a:rPr>
              <a:t>Context: Enterprises on Microsoft Copilot Studio, AWS Bedrock, and Smithery.ai import third-party agents and MCP tool servers from open registries — introducing unvetted, potentially malicious agents into internal workflows.</a:t>
            </a:r>
          </a:p>
          <a:p>
            <a:pPr lvl="1">
              <a:spcAft>
                <a:spcPts val="400"/>
              </a:spcAft>
            </a:pPr>
            <a:r>
              <a:rPr sz="1200" b="1" i="0">
                <a:solidFill>
                  <a:srgbClr val="0891B2"/>
                </a:solidFill>
                <a:latin typeface="Trebuchet MS"/>
              </a:rPr>
              <a:t>Protection: AegisMAS acts as a Zero-Trust Inter-Agent Firewall — blocking supply-chain mind virus propagation before it crosses tenant boundaries.</a:t>
            </a:r>
          </a:p>
          <a:p>
            <a:pPr>
              <a:spcAft>
                <a:spcPts val="200"/>
              </a:spcAft>
            </a:pPr>
          </a:p>
          <a:p>
            <a:pPr>
              <a:spcAft>
                <a:spcPts val="200"/>
              </a:spcAft>
            </a:pPr>
            <a:r>
              <a:rPr sz="1400" b="1" i="0">
                <a:solidFill>
                  <a:srgbClr val="3730A3"/>
                </a:solidFill>
                <a:latin typeface="Trebuchet MS"/>
              </a:rPr>
              <a:t>💻  2. Autonomous DevOps &amp; Software Engineering Swarms:</a:t>
            </a:r>
          </a:p>
          <a:p>
            <a:pPr lvl="1">
              <a:spcAft>
                <a:spcPts val="200"/>
              </a:spcAft>
            </a:pPr>
            <a:r>
              <a:rPr sz="1200" b="0" i="0">
                <a:solidFill>
                  <a:srgbClr val="1E293B"/>
                </a:solidFill>
                <a:latin typeface="Trebuchet MS"/>
              </a:rPr>
              <a:t>Context: Devin, OpenHands, and GitHub Workspace deploy chains: Issue Triager → Coder Agent → Test Runner → Deployment Agent. A malicious public GitHub issue comment can inject a payload.</a:t>
            </a:r>
          </a:p>
          <a:p>
            <a:pPr lvl="1">
              <a:spcAft>
                <a:spcPts val="400"/>
              </a:spcAft>
            </a:pPr>
            <a:r>
              <a:rPr sz="1200" b="1" i="0">
                <a:solidFill>
                  <a:srgbClr val="0891B2"/>
                </a:solidFill>
                <a:latin typeface="Trebuchet MS"/>
              </a:rPr>
              <a:t>Protection: Detects goal-invariant violations between pipeline stages — prevents the Coder from backdooring code and the Tester from ignoring integration failures.</a:t>
            </a:r>
          </a:p>
          <a:p>
            <a:pPr>
              <a:spcAft>
                <a:spcPts val="200"/>
              </a:spcAft>
            </a:pPr>
          </a:p>
          <a:p>
            <a:pPr>
              <a:spcAft>
                <a:spcPts val="200"/>
              </a:spcAft>
            </a:pPr>
            <a:r>
              <a:rPr sz="1400" b="1" i="0">
                <a:solidFill>
                  <a:srgbClr val="3730A3"/>
                </a:solidFill>
                <a:latin typeface="Trebuchet MS"/>
              </a:rPr>
              <a:t>🏛  3. High-Assurance Financial &amp; Government Meshes:</a:t>
            </a:r>
          </a:p>
          <a:p>
            <a:pPr lvl="1">
              <a:spcAft>
                <a:spcPts val="200"/>
              </a:spcAft>
            </a:pPr>
            <a:r>
              <a:rPr sz="1200" b="0" i="0">
                <a:solidFill>
                  <a:srgbClr val="1E293B"/>
                </a:solidFill>
                <a:latin typeface="Trebuchet MS"/>
              </a:rPr>
              <a:t>Context: Inter-agency civic AI platforms (CivicShield) and cross-firm algorithmic trading meshes where agent-to-agent messages carry financial or entitlement-modifying instructions.</a:t>
            </a:r>
          </a:p>
          <a:p>
            <a:pPr lvl="1">
              <a:spcAft>
                <a:spcPts val="200"/>
              </a:spcAft>
            </a:pPr>
            <a:r>
              <a:rPr sz="1200" b="1" i="0">
                <a:solidFill>
                  <a:srgbClr val="0891B2"/>
                </a:solidFill>
                <a:latin typeface="Trebuchet MS"/>
              </a:rPr>
              <a:t>Protection: Halts privilege escalation cascades and poisoned market instruction propagation across sovereign agent domains.</a:t>
            </a:r>
          </a:p>
        </p:txBody>
      </p:sp>
      <p:sp>
        <p:nvSpPr>
          <p:cNvPr id="14" name="Text Box 34"/>
          <p:cNvSpPr txBox="1">
            <a:spLocks noChangeArrowheads="1"/>
          </p:cNvSpPr>
          <p:nvPr/>
        </p:nvSpPr>
        <p:spPr bwMode="auto">
          <a:xfrm>
            <a:off x="2895600" y="990600"/>
            <a:ext cx="7848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spcAft>
                <a:spcPts val="400"/>
              </a:spcAft>
              <a:defRPr/>
            </a:pPr>
            <a:r>
              <a:rPr sz="2400" b="1">
                <a:solidFill>
                  <a:srgbClr val="FF0000"/>
                </a:solidFill>
                <a:latin typeface="Trebuchet MS"/>
              </a:rPr>
              <a:t>Real-World Applications &amp; Use Cases</a:t>
            </a:r>
            <a:endParaRPr lang="en-US" sz="2400" dirty="0">
              <a:solidFill>
                <a:srgbClr val="FF0000"/>
              </a:solidFill>
              <a:latin typeface="Trebuchet MS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219200" y="6100000"/>
            <a:ext cx="10700000" cy="500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0">
                <a:solidFill>
                  <a:srgbClr val="3730A3"/>
                </a:solidFill>
                <a:latin typeface="Trebuchet MS"/>
              </a:rPr>
              <a:t>Economic Justification: System-1 routing at &lt;50ms handles &gt;85% of inter-agent traffic with near-zero cost. Only &lt;15% of suspicious traffic reaches expensive System-2 deliberation — saving $10k–$25k/month vs. monolithic LLM guards.</a:t>
            </a:r>
          </a:p>
        </p:txBody>
      </p:sp>
    </p:spTree>
    <p:extLst>
      <p:ext uri="{BB962C8B-B14F-4D97-AF65-F5344CB8AC3E}">
        <p14:creationId xmlns:p14="http://schemas.microsoft.com/office/powerpoint/2010/main" val="42053692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Text Box 34"/>
          <p:cNvSpPr txBox="1">
            <a:spLocks noChangeArrowheads="1"/>
          </p:cNvSpPr>
          <p:nvPr/>
        </p:nvSpPr>
        <p:spPr bwMode="auto">
          <a:xfrm>
            <a:off x="1905000" y="1143002"/>
            <a:ext cx="8763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r">
              <a:spcBef>
                <a:spcPts val="0"/>
              </a:spcBef>
              <a:spcAft>
                <a:spcPts val="400"/>
              </a:spcAft>
            </a:pPr>
            <a:r>
              <a:rPr sz="2400" b="1">
                <a:solidFill>
                  <a:srgbClr val="FF0000"/>
                </a:solidFill>
                <a:latin typeface="Trebuchet MS"/>
              </a:rPr>
              <a:t>Expected Deliverables by Phase</a:t>
            </a:r>
            <a:endParaRPr lang="en-US" sz="2400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914400" y="1752600"/>
            <a:ext cx="8839200" cy="4724400"/>
          </a:xfrm>
          <a:prstGeom prst="rect">
            <a:avLst/>
          </a:prstGeom>
        </p:spPr>
        <p:txBody>
          <a:bodyPr wrap="square"/>
          <a:lstStyle/>
          <a:p>
            <a:pPr algn="just"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DC2626"/>
                </a:solidFill>
                <a:latin typeface="Trebuchet MS"/>
              </a:rPr>
              <a:t>◉  Capstone-I  |  Foundations &amp; Threat Modeling:</a:t>
            </a:r>
            <a:endParaRPr lang="en-US" sz="2400" dirty="0">
              <a:solidFill>
                <a:srgbClr val="0033CC"/>
              </a:solidFill>
              <a:latin typeface="Trebuchet MS"/>
              <a:ea typeface="Trebuchet MS"/>
              <a:cs typeface="Trebuchet MS"/>
              <a:sym typeface="Trebuchet MS"/>
            </a:endParaRPr>
          </a:p>
          <a:p>
            <a:pPr lvl="1">
              <a:spcAft>
                <a:spcPts val="200"/>
              </a:spcAft>
            </a:pPr>
            <a:r>
              <a:rPr sz="1200" b="0" i="0">
                <a:solidFill>
                  <a:srgbClr val="1E293B"/>
                </a:solidFill>
                <a:latin typeface="Trebuchet MS"/>
              </a:rPr>
              <a:t>Formal threat model documenting mind virus propagation dynamics across MAS topologies (Sequential, Mesh, Marketplace).</a:t>
            </a:r>
          </a:p>
          <a:p>
            <a:pPr lvl="1">
              <a:spcAft>
                <a:spcPts val="200"/>
              </a:spcAft>
            </a:pPr>
            <a:r>
              <a:rPr sz="1200" b="0" i="0">
                <a:solidFill>
                  <a:srgbClr val="1E293B"/>
                </a:solidFill>
                <a:latin typeface="Trebuchet MS"/>
              </a:rPr>
              <a:t>Baseline MAS simulation testbed: 3-agent sequential pipeline + 1 marketplace agent invocation scenario.</a:t>
            </a:r>
          </a:p>
          <a:p>
            <a:pPr lvl="1">
              <a:spcAft>
                <a:spcPts val="200"/>
              </a:spcAft>
            </a:pPr>
            <a:r>
              <a:rPr sz="1200" b="0" i="0">
                <a:solidFill>
                  <a:srgbClr val="1E293B"/>
                </a:solidFill>
                <a:latin typeface="Trebuchet MS"/>
              </a:rPr>
              <a:t>Red-Agent attack generator: Crescendo multi-turn templates + AutoInject RL adversarial suffix harness.</a:t>
            </a:r>
          </a:p>
          <a:p>
            <a:pPr lvl="1">
              <a:spcAft>
                <a:spcPts val="400"/>
              </a:spcAft>
            </a:pPr>
            <a:r>
              <a:rPr sz="1200" b="0" i="0">
                <a:solidFill>
                  <a:srgbClr val="1E293B"/>
                </a:solidFill>
                <a:latin typeface="Trebuchet MS"/>
              </a:rPr>
              <a:t>Empirical undefended baseline report: R₀ measurement demonstrating viral spread (R₀ &gt; 1).</a:t>
            </a:r>
          </a:p>
          <a:p>
            <a:pPr>
              <a:spcAft>
                <a:spcPts val="200"/>
              </a:spcAft>
            </a:pPr>
          </a:p>
          <a:p>
            <a:pPr>
              <a:spcAft>
                <a:spcPts val="200"/>
              </a:spcAft>
            </a:pPr>
            <a:r>
              <a:rPr sz="1400" b="1" i="0">
                <a:solidFill>
                  <a:srgbClr val="D97706"/>
                </a:solidFill>
                <a:latin typeface="Trebuchet MS"/>
              </a:rPr>
              <a:t>◉  Capstone-II  |  Defender Architecture Build:</a:t>
            </a:r>
          </a:p>
          <a:p>
            <a:pPr lvl="1">
              <a:spcAft>
                <a:spcPts val="200"/>
              </a:spcAft>
            </a:pPr>
            <a:r>
              <a:rPr sz="1200" b="0" i="0">
                <a:solidFill>
                  <a:srgbClr val="1E293B"/>
                </a:solidFill>
                <a:latin typeface="Trebuchet MS"/>
              </a:rPr>
              <a:t>System-1 Non-Autoregressive Triage Gate (Cloudflare Clef / ConvAI Laya) operating at &lt;50ms end-to-end latency.</a:t>
            </a:r>
          </a:p>
          <a:p>
            <a:pPr lvl="1">
              <a:spcAft>
                <a:spcPts val="200"/>
              </a:spcAft>
            </a:pPr>
            <a:r>
              <a:rPr sz="1200" b="0" i="0">
                <a:solidFill>
                  <a:srgbClr val="1E293B"/>
                </a:solidFill>
                <a:latin typeface="Trebuchet MS"/>
              </a:rPr>
              <a:t>State-Drift Vector encoder: Computes semantic goal-deviation scores from agent state snapshots.</a:t>
            </a:r>
          </a:p>
          <a:p>
            <a:pPr lvl="1">
              <a:spcAft>
                <a:spcPts val="200"/>
              </a:spcAft>
            </a:pPr>
            <a:r>
              <a:rPr sz="1200" b="0" i="0">
                <a:solidFill>
                  <a:srgbClr val="1E293B"/>
                </a:solidFill>
                <a:latin typeface="Trebuchet MS"/>
              </a:rPr>
              <a:t>System-2 Deliberative Reasoning Engine for multi-turn trajectory inspection and goal-invariant verification.</a:t>
            </a:r>
          </a:p>
          <a:p>
            <a:pPr lvl="1">
              <a:spcAft>
                <a:spcPts val="400"/>
              </a:spcAft>
            </a:pPr>
            <a:r>
              <a:rPr sz="1200" b="0" i="0">
                <a:solidFill>
                  <a:srgbClr val="1E293B"/>
                </a:solidFill>
                <a:latin typeface="Trebuchet MS"/>
              </a:rPr>
              <a:t>Human-in-the-Loop (HITL) quarantine dashboard + asynchronous co-evolutionary red-team feedback loop.</a:t>
            </a:r>
          </a:p>
          <a:p>
            <a:pPr>
              <a:spcAft>
                <a:spcPts val="200"/>
              </a:spcAft>
            </a:pPr>
          </a:p>
          <a:p>
            <a:pPr>
              <a:spcAft>
                <a:spcPts val="200"/>
              </a:spcAft>
            </a:pPr>
            <a:r>
              <a:rPr sz="1400" b="1" i="0">
                <a:solidFill>
                  <a:srgbClr val="059669"/>
                </a:solidFill>
                <a:latin typeface="Trebuchet MS"/>
              </a:rPr>
              <a:t>◉  Capstone-III  |  Validation, Benchmarks &amp; Paper:</a:t>
            </a:r>
          </a:p>
          <a:p>
            <a:pPr lvl="1">
              <a:spcAft>
                <a:spcPts val="200"/>
              </a:spcAft>
            </a:pPr>
            <a:r>
              <a:rPr sz="1200" b="0" i="0">
                <a:solidFill>
                  <a:srgbClr val="1E293B"/>
                </a:solidFill>
                <a:latin typeface="Trebuchet MS"/>
              </a:rPr>
              <a:t>Full benchmark suite: Viral suppression (R₀ &lt; 1), triage latency (&lt;50ms), compute cost reduction (&gt;75%), benign task preservation (&gt;90%).</a:t>
            </a:r>
          </a:p>
          <a:p>
            <a:pPr lvl="1">
              <a:spcAft>
                <a:spcPts val="200"/>
              </a:spcAft>
            </a:pPr>
            <a:r>
              <a:rPr sz="1200" b="0" i="0">
                <a:solidFill>
                  <a:srgbClr val="1E293B"/>
                </a:solidFill>
                <a:latin typeface="Trebuchet MS"/>
              </a:rPr>
              <a:t>Open-source repository, full documentation, and conference/workshop paper draft (IEEE S&amp;P / USENIX Security track).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" name="Text Box 34"/>
          <p:cNvSpPr txBox="1">
            <a:spLocks noChangeArrowheads="1"/>
          </p:cNvSpPr>
          <p:nvPr/>
        </p:nvSpPr>
        <p:spPr bwMode="auto">
          <a:xfrm>
            <a:off x="2895600" y="1143002"/>
            <a:ext cx="7772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r" eaLnBrk="0" hangingPunct="0">
              <a:spcBef>
                <a:spcPts val="0"/>
              </a:spcBef>
              <a:spcAft>
                <a:spcPts val="400"/>
              </a:spcAft>
              <a:defRPr/>
            </a:pPr>
            <a:r>
              <a:rPr sz="2400" b="1">
                <a:solidFill>
                  <a:srgbClr val="FF0000"/>
                </a:solidFill>
                <a:latin typeface="Trebuchet MS"/>
              </a:rPr>
              <a:t>16-Week Project Timeline &amp; Team Effort</a:t>
            </a:r>
            <a:endParaRPr lang="en-US" sz="2400" dirty="0">
              <a:solidFill>
                <a:srgbClr val="FF0000"/>
              </a:solidFill>
              <a:latin typeface="Trebuchet M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B10B19-4157-41B3-85CA-452455B519DD}"/>
              </a:ext>
            </a:extLst>
          </p:cNvPr>
          <p:cNvSpPr txBox="1"/>
          <p:nvPr/>
        </p:nvSpPr>
        <p:spPr>
          <a:xfrm>
            <a:off x="1066800" y="2003213"/>
            <a:ext cx="8839199" cy="28253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791" lvl="0" indent="-342900" algn="just" eaLnBrk="0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sz="1100" i="1">
                <a:solidFill>
                  <a:srgbClr val="475569"/>
                </a:solidFill>
                <a:latin typeface="Trebuchet MS"/>
              </a:rPr>
              <a:t>(Structured Gantt chart and effort allocation detailed below)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066800" y="2000000"/>
          <a:ext cx="10600000" cy="42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0000"/>
                <a:gridCol w="850000"/>
                <a:gridCol w="850000"/>
                <a:gridCol w="850000"/>
                <a:gridCol w="850000"/>
                <a:gridCol w="850000"/>
                <a:gridCol w="850000"/>
                <a:gridCol w="850000"/>
                <a:gridCol w="850000"/>
              </a:tblGrid>
              <a:tr h="4200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FFFFFF"/>
                          </a:solidFill>
                          <a:latin typeface="Trebuchet MS"/>
                        </a:rPr>
                        <a:t>Task / Milestone</a:t>
                      </a:r>
                    </a:p>
                  </a:txBody>
                  <a:tcPr>
                    <a:solidFill>
                      <a:srgbClr val="3730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Trebuchet MS"/>
                        </a:rPr>
                        <a:t>Wk 1-2</a:t>
                      </a:r>
                    </a:p>
                  </a:txBody>
                  <a:tcPr>
                    <a:solidFill>
                      <a:srgbClr val="3730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Trebuchet MS"/>
                        </a:rPr>
                        <a:t>Wk 3-4</a:t>
                      </a:r>
                    </a:p>
                  </a:txBody>
                  <a:tcPr>
                    <a:solidFill>
                      <a:srgbClr val="3730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Trebuchet MS"/>
                        </a:rPr>
                        <a:t>Wk 5-6</a:t>
                      </a:r>
                    </a:p>
                  </a:txBody>
                  <a:tcPr>
                    <a:solidFill>
                      <a:srgbClr val="3730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Trebuchet MS"/>
                        </a:rPr>
                        <a:t>Wk 7-8</a:t>
                      </a:r>
                    </a:p>
                  </a:txBody>
                  <a:tcPr>
                    <a:solidFill>
                      <a:srgbClr val="3730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Trebuchet MS"/>
                        </a:rPr>
                        <a:t>Wk 9-10</a:t>
                      </a:r>
                    </a:p>
                  </a:txBody>
                  <a:tcPr>
                    <a:solidFill>
                      <a:srgbClr val="3730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Trebuchet MS"/>
                        </a:rPr>
                        <a:t>Wk 11-12</a:t>
                      </a:r>
                    </a:p>
                  </a:txBody>
                  <a:tcPr>
                    <a:solidFill>
                      <a:srgbClr val="3730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Trebuchet MS"/>
                        </a:rPr>
                        <a:t>Wk 13-14</a:t>
                      </a:r>
                    </a:p>
                  </a:txBody>
                  <a:tcPr>
                    <a:solidFill>
                      <a:srgbClr val="3730A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Trebuchet MS"/>
                        </a:rPr>
                        <a:t>Wk 15-16</a:t>
                      </a:r>
                    </a:p>
                  </a:txBody>
                  <a:tcPr>
                    <a:solidFill>
                      <a:srgbClr val="3730A3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E293B"/>
                          </a:solidFill>
                          <a:latin typeface="Trebuchet MS"/>
                        </a:rPr>
                        <a:t>Literature Review &amp; Threat Modeling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Trebuchet MS"/>
                        </a:rPr>
                        <a:t>●</a:t>
                      </a:r>
                    </a:p>
                  </a:txBody>
                  <a:tcPr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Trebuchet MS"/>
                        </a:rPr>
                        <a:t>●</a:t>
                      </a:r>
                    </a:p>
                  </a:txBody>
                  <a:tcPr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75569"/>
                          </a:solidFill>
                          <a:latin typeface="Trebuchet MS"/>
                        </a:rPr>
                        <a:t>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75569"/>
                          </a:solidFill>
                          <a:latin typeface="Trebuchet MS"/>
                        </a:rPr>
                        <a:t>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75569"/>
                          </a:solidFill>
                          <a:latin typeface="Trebuchet MS"/>
                        </a:rPr>
                        <a:t>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75569"/>
                          </a:solidFill>
                          <a:latin typeface="Trebuchet MS"/>
                        </a:rPr>
                        <a:t>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75569"/>
                          </a:solidFill>
                          <a:latin typeface="Trebuchet MS"/>
                        </a:rPr>
                        <a:t>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75569"/>
                          </a:solidFill>
                          <a:latin typeface="Trebuchet MS"/>
                        </a:rPr>
                        <a:t>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E293B"/>
                          </a:solidFill>
                          <a:latin typeface="Trebuchet MS"/>
                        </a:rPr>
                        <a:t>MAS Testbed Setup (Sequential + Marketplace)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75569"/>
                          </a:solidFill>
                          <a:latin typeface="Trebuchet MS"/>
                        </a:rPr>
                        <a:t>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Trebuchet MS"/>
                        </a:rPr>
                        <a:t>●</a:t>
                      </a:r>
                    </a:p>
                  </a:txBody>
                  <a:tcPr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Trebuchet MS"/>
                        </a:rPr>
                        <a:t>●</a:t>
                      </a:r>
                    </a:p>
                  </a:txBody>
                  <a:tcPr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75569"/>
                          </a:solidFill>
                          <a:latin typeface="Trebuchet MS"/>
                        </a:rPr>
                        <a:t>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75569"/>
                          </a:solidFill>
                          <a:latin typeface="Trebuchet MS"/>
                        </a:rPr>
                        <a:t>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75569"/>
                          </a:solidFill>
                          <a:latin typeface="Trebuchet MS"/>
                        </a:rPr>
                        <a:t>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75569"/>
                          </a:solidFill>
                          <a:latin typeface="Trebuchet MS"/>
                        </a:rPr>
                        <a:t>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75569"/>
                          </a:solidFill>
                          <a:latin typeface="Trebuchet MS"/>
                        </a:rPr>
                        <a:t>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E293B"/>
                          </a:solidFill>
                          <a:latin typeface="Trebuchet MS"/>
                        </a:rPr>
                        <a:t>Red-Agent Fuzzer &amp; Baseline R₀ Measurement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75569"/>
                          </a:solidFill>
                          <a:latin typeface="Trebuchet MS"/>
                        </a:rPr>
                        <a:t>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75569"/>
                          </a:solidFill>
                          <a:latin typeface="Trebuchet MS"/>
                        </a:rPr>
                        <a:t>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Trebuchet MS"/>
                        </a:rPr>
                        <a:t>●</a:t>
                      </a:r>
                    </a:p>
                  </a:txBody>
                  <a:tcPr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Trebuchet MS"/>
                        </a:rPr>
                        <a:t>●</a:t>
                      </a:r>
                    </a:p>
                  </a:txBody>
                  <a:tcPr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75569"/>
                          </a:solidFill>
                          <a:latin typeface="Trebuchet MS"/>
                        </a:rPr>
                        <a:t>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75569"/>
                          </a:solidFill>
                          <a:latin typeface="Trebuchet MS"/>
                        </a:rPr>
                        <a:t>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75569"/>
                          </a:solidFill>
                          <a:latin typeface="Trebuchet MS"/>
                        </a:rPr>
                        <a:t>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75569"/>
                          </a:solidFill>
                          <a:latin typeface="Trebuchet MS"/>
                        </a:rPr>
                        <a:t>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E293B"/>
                          </a:solidFill>
                          <a:latin typeface="Trebuchet MS"/>
                        </a:rPr>
                        <a:t>State-Drift Vector Encoder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75569"/>
                          </a:solidFill>
                          <a:latin typeface="Trebuchet MS"/>
                        </a:rPr>
                        <a:t>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75569"/>
                          </a:solidFill>
                          <a:latin typeface="Trebuchet MS"/>
                        </a:rPr>
                        <a:t>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75569"/>
                          </a:solidFill>
                          <a:latin typeface="Trebuchet MS"/>
                        </a:rPr>
                        <a:t>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Trebuchet MS"/>
                        </a:rPr>
                        <a:t>●</a:t>
                      </a:r>
                    </a:p>
                  </a:txBody>
                  <a:tcPr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Trebuchet MS"/>
                        </a:rPr>
                        <a:t>●</a:t>
                      </a:r>
                    </a:p>
                  </a:txBody>
                  <a:tcPr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75569"/>
                          </a:solidFill>
                          <a:latin typeface="Trebuchet MS"/>
                        </a:rPr>
                        <a:t>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75569"/>
                          </a:solidFill>
                          <a:latin typeface="Trebuchet MS"/>
                        </a:rPr>
                        <a:t>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75569"/>
                          </a:solidFill>
                          <a:latin typeface="Trebuchet MS"/>
                        </a:rPr>
                        <a:t>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E293B"/>
                          </a:solidFill>
                          <a:latin typeface="Trebuchet MS"/>
                        </a:rPr>
                        <a:t>System-1 (Clef/Laya) Integration &amp; Latency Benchmarking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75569"/>
                          </a:solidFill>
                          <a:latin typeface="Trebuchet MS"/>
                        </a:rPr>
                        <a:t>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75569"/>
                          </a:solidFill>
                          <a:latin typeface="Trebuchet MS"/>
                        </a:rPr>
                        <a:t>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75569"/>
                          </a:solidFill>
                          <a:latin typeface="Trebuchet MS"/>
                        </a:rPr>
                        <a:t>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75569"/>
                          </a:solidFill>
                          <a:latin typeface="Trebuchet MS"/>
                        </a:rPr>
                        <a:t>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Trebuchet MS"/>
                        </a:rPr>
                        <a:t>●</a:t>
                      </a:r>
                    </a:p>
                  </a:txBody>
                  <a:tcPr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Trebuchet MS"/>
                        </a:rPr>
                        <a:t>●</a:t>
                      </a:r>
                    </a:p>
                  </a:txBody>
                  <a:tcPr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75569"/>
                          </a:solidFill>
                          <a:latin typeface="Trebuchet MS"/>
                        </a:rPr>
                        <a:t>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75569"/>
                          </a:solidFill>
                          <a:latin typeface="Trebuchet MS"/>
                        </a:rPr>
                        <a:t>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E293B"/>
                          </a:solidFill>
                          <a:latin typeface="Trebuchet MS"/>
                        </a:rPr>
                        <a:t>System-2 Deliberation Engine + HITL Dashboard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75569"/>
                          </a:solidFill>
                          <a:latin typeface="Trebuchet MS"/>
                        </a:rPr>
                        <a:t>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75569"/>
                          </a:solidFill>
                          <a:latin typeface="Trebuchet MS"/>
                        </a:rPr>
                        <a:t>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75569"/>
                          </a:solidFill>
                          <a:latin typeface="Trebuchet MS"/>
                        </a:rPr>
                        <a:t>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75569"/>
                          </a:solidFill>
                          <a:latin typeface="Trebuchet MS"/>
                        </a:rPr>
                        <a:t>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75569"/>
                          </a:solidFill>
                          <a:latin typeface="Trebuchet MS"/>
                        </a:rPr>
                        <a:t>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Trebuchet MS"/>
                        </a:rPr>
                        <a:t>●</a:t>
                      </a:r>
                    </a:p>
                  </a:txBody>
                  <a:tcPr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Trebuchet MS"/>
                        </a:rPr>
                        <a:t>●</a:t>
                      </a:r>
                    </a:p>
                  </a:txBody>
                  <a:tcPr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75569"/>
                          </a:solidFill>
                          <a:latin typeface="Trebuchet MS"/>
                        </a:rPr>
                        <a:t>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E293B"/>
                          </a:solidFill>
                          <a:latin typeface="Trebuchet MS"/>
                        </a:rPr>
                        <a:t>Comprehensive Benchmarking &amp; Threshold Tuning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75569"/>
                          </a:solidFill>
                          <a:latin typeface="Trebuchet MS"/>
                        </a:rPr>
                        <a:t>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75569"/>
                          </a:solidFill>
                          <a:latin typeface="Trebuchet MS"/>
                        </a:rPr>
                        <a:t>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75569"/>
                          </a:solidFill>
                          <a:latin typeface="Trebuchet MS"/>
                        </a:rPr>
                        <a:t>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75569"/>
                          </a:solidFill>
                          <a:latin typeface="Trebuchet MS"/>
                        </a:rPr>
                        <a:t>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75569"/>
                          </a:solidFill>
                          <a:latin typeface="Trebuchet MS"/>
                        </a:rPr>
                        <a:t>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75569"/>
                          </a:solidFill>
                          <a:latin typeface="Trebuchet MS"/>
                        </a:rPr>
                        <a:t>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Trebuchet MS"/>
                        </a:rPr>
                        <a:t>●</a:t>
                      </a:r>
                    </a:p>
                  </a:txBody>
                  <a:tcPr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Trebuchet MS"/>
                        </a:rPr>
                        <a:t>●</a:t>
                      </a:r>
                    </a:p>
                  </a:txBody>
                  <a:tcPr>
                    <a:solidFill>
                      <a:srgbClr val="0891B2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pPr algn="l"/>
                      <a:r>
                        <a:rPr sz="1000">
                          <a:solidFill>
                            <a:srgbClr val="1E293B"/>
                          </a:solidFill>
                          <a:latin typeface="Trebuchet MS"/>
                        </a:rPr>
                        <a:t>Paper Draft, Documentation &amp; Presentation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75569"/>
                          </a:solidFill>
                          <a:latin typeface="Trebuchet MS"/>
                        </a:rPr>
                        <a:t>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75569"/>
                          </a:solidFill>
                          <a:latin typeface="Trebuchet MS"/>
                        </a:rPr>
                        <a:t>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75569"/>
                          </a:solidFill>
                          <a:latin typeface="Trebuchet MS"/>
                        </a:rPr>
                        <a:t>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75569"/>
                          </a:solidFill>
                          <a:latin typeface="Trebuchet MS"/>
                        </a:rPr>
                        <a:t>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75569"/>
                          </a:solidFill>
                          <a:latin typeface="Trebuchet MS"/>
                        </a:rPr>
                        <a:t>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75569"/>
                          </a:solidFill>
                          <a:latin typeface="Trebuchet MS"/>
                        </a:rPr>
                        <a:t>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>
                          <a:solidFill>
                            <a:srgbClr val="475569"/>
                          </a:solidFill>
                          <a:latin typeface="Trebuchet MS"/>
                        </a:rPr>
                        <a:t>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solidFill>
                            <a:srgbClr val="FFFFFF"/>
                          </a:solidFill>
                          <a:latin typeface="Trebuchet MS"/>
                        </a:rPr>
                        <a:t>●</a:t>
                      </a:r>
                    </a:p>
                  </a:txBody>
                  <a:tcPr>
                    <a:solidFill>
                      <a:srgbClr val="0891B2"/>
                    </a:solidFill>
                  </a:tcPr>
                </a:tc>
              </a:tr>
              <a:tr h="4200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3730A3"/>
                          </a:solidFill>
                          <a:latin typeface="Trebuchet MS"/>
                        </a:rPr>
                        <a:t>Team Responsibility</a:t>
                      </a:r>
                    </a:p>
                  </a:txBody>
                  <a:tcPr>
                    <a:solidFill>
                      <a:srgbClr val="EEF2FF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Trebuchet MS"/>
                        </a:rPr>
                        <a:t>Member 1: Testbed + Red-Teaming</a:t>
                      </a:r>
                    </a:p>
                  </a:txBody>
                  <a:tcPr>
                    <a:solidFill>
                      <a:srgbClr val="DC2626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Trebuchet MS"/>
                        </a:rPr>
                        <a:t>Member 2: System-1 Gate + Drift Encoder</a:t>
                      </a:r>
                    </a:p>
                  </a:txBody>
                  <a:tcPr>
                    <a:solidFill>
                      <a:srgbClr val="D97706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Trebuchet MS"/>
                        </a:rPr>
                        <a:t>Member 3: System-2 + HITL + Benchmarks</a:t>
                      </a:r>
                    </a:p>
                  </a:txBody>
                  <a:tcPr>
                    <a:solidFill>
                      <a:srgbClr val="059669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3048000" y="1581155"/>
            <a:ext cx="7620000" cy="36513"/>
          </a:xfrm>
          <a:prstGeom prst="rect">
            <a:avLst/>
          </a:prstGeom>
          <a:solidFill>
            <a:srgbClr val="33CCCC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3" name="Text Box 34"/>
          <p:cNvSpPr txBox="1">
            <a:spLocks noChangeArrowheads="1"/>
          </p:cNvSpPr>
          <p:nvPr/>
        </p:nvSpPr>
        <p:spPr bwMode="auto">
          <a:xfrm>
            <a:off x="2895600" y="1143002"/>
            <a:ext cx="7772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891" indent="-342891" algn="r" eaLnBrk="0" hangingPunct="0">
              <a:spcAft>
                <a:spcPts val="400"/>
              </a:spcAft>
              <a:defRPr/>
            </a:pPr>
            <a:r>
              <a:rPr sz="2400" b="1">
                <a:solidFill>
                  <a:srgbClr val="FF0000"/>
                </a:solidFill>
                <a:latin typeface="Trebuchet MS"/>
              </a:rPr>
              <a:t>Proposed Methodology: AegisMAS Defense-in-Depth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B10B19-4157-41B3-85CA-452455B519DD}"/>
              </a:ext>
            </a:extLst>
          </p:cNvPr>
          <p:cNvSpPr txBox="1"/>
          <p:nvPr/>
        </p:nvSpPr>
        <p:spPr>
          <a:xfrm>
            <a:off x="1295400" y="1905000"/>
            <a:ext cx="8839199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791" indent="-342900" algn="just" eaLnBrk="0" hangingPunct="0">
              <a:spcBef>
                <a:spcPts val="0"/>
              </a:spcBef>
              <a:spcAft>
                <a:spcPts val="100"/>
              </a:spcAft>
              <a:buFont typeface="Arial" panose="020B0604020202020204" pitchFamily="34" charset="0"/>
              <a:buChar char="•"/>
              <a:defRPr/>
            </a:pPr>
            <a:r>
              <a:rPr sz="1300" b="1" i="0">
                <a:solidFill>
                  <a:srgbClr val="3730A3"/>
                </a:solidFill>
                <a:latin typeface="Trebuchet MS"/>
              </a:rPr>
              <a:t>◈  3-Tier Active Immune Architecture:</a:t>
            </a:r>
          </a:p>
          <a:p>
            <a:pPr lvl="1">
              <a:spcAft>
                <a:spcPts val="100"/>
              </a:spcAft>
            </a:pPr>
            <a:r>
              <a:rPr sz="1200" b="1" i="0">
                <a:solidFill>
                  <a:srgbClr val="1E293B"/>
                </a:solidFill>
                <a:latin typeface="Trebuchet MS"/>
              </a:rPr>
              <a:t>Layer 1 — System-1 Non-Autoregressive Decision Gate (Cloudflare Clef / ConvAI Laya):</a:t>
            </a:r>
          </a:p>
          <a:p>
            <a:pPr lvl="2">
              <a:spcAft>
                <a:spcPts val="200"/>
              </a:spcAft>
            </a:pPr>
            <a:r>
              <a:rPr sz="1100" b="0" i="0">
                <a:solidFill>
                  <a:srgbClr val="1E293B"/>
                </a:solidFill>
                <a:latin typeface="Trebuchet MS"/>
              </a:rPr>
              <a:t>Single-pass forward inference in ~30–50ms on State-Drift Vector. Routes: 🟢 Green (Nominal) → allow | 🟡 Amber (Drift) → System-2 | 🔴 Red (Viral) → Quarantine + HITL.</a:t>
            </a:r>
          </a:p>
          <a:p>
            <a:pPr lvl="1">
              <a:spcAft>
                <a:spcPts val="100"/>
              </a:spcAft>
            </a:pPr>
            <a:r>
              <a:rPr sz="1200" b="1" i="0">
                <a:solidFill>
                  <a:srgbClr val="1E293B"/>
                </a:solidFill>
                <a:latin typeface="Trebuchet MS"/>
              </a:rPr>
              <a:t>Layer 2 — System-2 Deliberative Trajectory Reasoning Engine (Deep LLM):</a:t>
            </a:r>
          </a:p>
          <a:p>
            <a:pPr lvl="2">
              <a:spcAft>
                <a:spcPts val="200"/>
              </a:spcAft>
            </a:pPr>
            <a:r>
              <a:rPr sz="1100" b="0" i="0">
                <a:solidFill>
                  <a:srgbClr val="1E293B"/>
                </a:solidFill>
                <a:latin typeface="Trebuchet MS"/>
              </a:rPr>
              <a:t>Activated only on Amber traffic (&lt;15%). Performs multi-turn trajectory audit, goal-invariant checking, and sandboxed counterfactual tool-call simulation.</a:t>
            </a:r>
          </a:p>
          <a:p>
            <a:pPr lvl="1">
              <a:spcAft>
                <a:spcPts val="100"/>
              </a:spcAft>
            </a:pPr>
            <a:r>
              <a:rPr sz="1200" b="1" i="0">
                <a:solidFill>
                  <a:srgbClr val="1E293B"/>
                </a:solidFill>
                <a:latin typeface="Trebuchet MS"/>
              </a:rPr>
              <a:t>Layer 3 — Containment, Quarantine &amp; Human-in-the-Loop (HITL):</a:t>
            </a:r>
          </a:p>
          <a:p>
            <a:pPr lvl="2">
              <a:spcAft>
                <a:spcPts val="300"/>
              </a:spcAft>
            </a:pPr>
            <a:r>
              <a:rPr sz="1100" b="0" i="0">
                <a:solidFill>
                  <a:srgbClr val="1E293B"/>
                </a:solidFill>
                <a:latin typeface="Trebuchet MS"/>
              </a:rPr>
              <a:t>Red-path: Immediate communication severance, sandbox isolation, and real-time administrator alert on HITL dashboard.</a:t>
            </a:r>
          </a:p>
          <a:p>
            <a:pPr>
              <a:spcAft>
                <a:spcPts val="100"/>
              </a:spcAft>
            </a:pPr>
          </a:p>
          <a:p>
            <a:pPr>
              <a:spcAft>
                <a:spcPts val="100"/>
              </a:spcAft>
            </a:pPr>
            <a:r>
              <a:rPr sz="1300" b="1" i="0">
                <a:solidFill>
                  <a:srgbClr val="3730A3"/>
                </a:solidFill>
                <a:latin typeface="Trebuchet MS"/>
              </a:rPr>
              <a:t>◈  Asynchronous Co-Evolutionary Red-Team (Digital Twin):</a:t>
            </a:r>
          </a:p>
          <a:p>
            <a:pPr lvl="1">
              <a:spcAft>
                <a:spcPts val="100"/>
              </a:spcAft>
            </a:pPr>
            <a:r>
              <a:rPr sz="1100" b="0" i="0">
                <a:solidFill>
                  <a:srgbClr val="1E293B"/>
                </a:solidFill>
                <a:latin typeface="Trebuchet MS"/>
              </a:rPr>
              <a:t>Offline shadow sandbox fuzzed via Crescendo &amp; AutoInject RL continuously extracts new bypass signatures and updates System-1 decision boundaries without adding runtime latency.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0000" y="4900000"/>
            <a:ext cx="1800000" cy="140000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Trebuchet MS"/>
              </a:rPr>
              <a:t>Inter-Agent
Message
(RPC / Tool Call)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50000" y="5300000"/>
            <a:ext cx="450000" cy="5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3730A3"/>
                </a:solidFill>
                <a:latin typeface="Trebuchet MS"/>
              </a:rPr>
              <a:t>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50000" y="4900000"/>
            <a:ext cx="2200000" cy="1400000"/>
          </a:xfrm>
          <a:prstGeom prst="rect">
            <a:avLst/>
          </a:prstGeom>
          <a:solidFill>
            <a:srgbClr val="3730A3"/>
          </a:solidFill>
          <a:ln>
            <a:noFill/>
          </a:ln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Trebuchet MS"/>
              </a:rPr>
              <a:t>Layer 1
System-1 Gate
(&lt;50ms Clef/Laya)
[State-Drift]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00000" y="5300000"/>
            <a:ext cx="450000" cy="5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3730A3"/>
                </a:solidFill>
                <a:latin typeface="Trebuchet MS"/>
              </a:rPr>
              <a:t>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00000" y="4900000"/>
            <a:ext cx="2400000" cy="420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Trebuchet MS"/>
              </a:rPr>
              <a:t>🟢 Green: Allow (&gt;85%)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00000" y="5390000"/>
            <a:ext cx="2400000" cy="420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Trebuchet MS"/>
              </a:rPr>
              <a:t>🟡 Amber: Escalate (&lt;15%)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00000" y="5880000"/>
            <a:ext cx="2400000" cy="420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000" b="1">
                <a:solidFill>
                  <a:srgbClr val="FFFFFF"/>
                </a:solidFill>
                <a:latin typeface="Trebuchet MS"/>
              </a:rPr>
              <a:t>🔴 Red: Quarantine + HITL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50000" y="5300000"/>
            <a:ext cx="450000" cy="5000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D97706"/>
                </a:solidFill>
                <a:latin typeface="Trebuchet MS"/>
              </a:rPr>
              <a:t>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50000" y="4900000"/>
            <a:ext cx="2600000" cy="1400000"/>
          </a:xfrm>
          <a:prstGeom prst="rect">
            <a:avLst/>
          </a:prstGeom>
          <a:solidFill>
            <a:srgbClr val="3730A3"/>
          </a:solidFill>
          <a:ln>
            <a:noFill/>
          </a:ln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100" b="1">
                <a:solidFill>
                  <a:srgbClr val="FFFFFF"/>
                </a:solidFill>
                <a:latin typeface="Trebuchet MS"/>
              </a:rPr>
              <a:t>Layer 2: System-2
Deliberation Engine
(Trajectory Audit &amp;
Sandbox Simulation)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371485" y="3352800"/>
            <a:ext cx="2506584" cy="707886"/>
          </a:xfrm>
          <a:prstGeom prst="rect">
            <a:avLst/>
          </a:prstGeom>
          <a:solidFill>
            <a:srgbClr val="3730A3"/>
          </a:solidFill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FFFFFF"/>
                </a:solidFill>
                <a:latin typeface="Trebuchet MS"/>
              </a:rPr>
              <a:t>Thank You
</a:t>
            </a:r>
            <a:r>
              <a:rPr sz="1600" b="0" i="0">
                <a:solidFill>
                  <a:srgbClr val="FFFFFF"/>
                </a:solidFill>
                <a:latin typeface="Trebuchet MS"/>
              </a:rPr>
              <a:t>AegisMAS — Defending the Autonomous Frontier
</a:t>
            </a:r>
            <a:r>
              <a:rPr sz="1300" b="0" i="1">
                <a:solidFill>
                  <a:srgbClr val="A5B4FC"/>
                </a:solidFill>
                <a:latin typeface="Trebuchet MS"/>
              </a:rPr>
              <a:t>Questions &amp; Panel Feedback Welcome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0000" y="1600000"/>
            <a:ext cx="3200000" cy="1300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 i="0">
                <a:solidFill>
                  <a:srgbClr val="DC2626"/>
                </a:solidFill>
                <a:latin typeface="Trebuchet MS"/>
              </a:rPr>
              <a:t>R₀ &gt; 1  ➔  R₀ &lt; 1
</a:t>
            </a:r>
            <a:r>
              <a:rPr sz="1200" b="0" i="0">
                <a:solidFill>
                  <a:srgbClr val="1E293B"/>
                </a:solidFill>
                <a:latin typeface="Trebuchet MS"/>
              </a:rPr>
              <a:t>Viral Suppression Goal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00000" y="1600000"/>
            <a:ext cx="3200000" cy="1300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 i="0">
                <a:solidFill>
                  <a:srgbClr val="3730A3"/>
                </a:solidFill>
                <a:latin typeface="Trebuchet MS"/>
              </a:rPr>
              <a:t>&lt;50ms  Triage
</a:t>
            </a:r>
            <a:r>
              <a:rPr sz="1200" b="0" i="0">
                <a:solidFill>
                  <a:srgbClr val="1E293B"/>
                </a:solidFill>
                <a:latin typeface="Trebuchet MS"/>
              </a:rPr>
              <a:t>Non-Autoregressive Gate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00000" y="1600000"/>
            <a:ext cx="3200000" cy="1300000"/>
          </a:xfrm>
          <a:prstGeom prst="rect">
            <a:avLst/>
          </a:prstGeom>
          <a:solidFill>
            <a:srgbClr val="EEF2FF"/>
          </a:solidFill>
          <a:ln>
            <a:noFill/>
          </a:ln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 i="0">
                <a:solidFill>
                  <a:srgbClr val="059669"/>
                </a:solidFill>
                <a:latin typeface="Trebuchet MS"/>
              </a:rPr>
              <a:t>&gt;75%  Cost Savings
</a:t>
            </a:r>
            <a:r>
              <a:rPr sz="1200" b="0" i="0">
                <a:solidFill>
                  <a:srgbClr val="1E293B"/>
                </a:solidFill>
                <a:latin typeface="Trebuchet MS"/>
              </a:rPr>
              <a:t>Compute Efficiency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000" y="6100000"/>
            <a:ext cx="10000000" cy="450000"/>
          </a:xfrm>
          <a:prstGeom prst="rect">
            <a:avLst/>
          </a:prstGeom>
          <a:solidFill>
            <a:srgbClr val="3730A3"/>
          </a:solidFill>
          <a:ln>
            <a:noFill/>
          </a:ln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200" b="1">
                <a:solidFill>
                  <a:srgbClr val="FFFFFF"/>
                </a:solidFill>
                <a:latin typeface="Trebuchet MS"/>
              </a:rPr>
              <a:t>UE24CS320A Capstone Project  •  PES University  •  2025–26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apstone Project - Review 3 - Template.pptx" id="{77E64785-C4AC-D447-9F20-AA3556BA4DEA}" vid="{211B08FD-A304-1146-A3C3-5229E601B30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Capstone Project - Review 3 - Template (1)</Template>
  <TotalTime>407</TotalTime>
  <Words>228</Words>
  <Application>Microsoft Office PowerPoint</Application>
  <PresentationFormat>Widescreen</PresentationFormat>
  <Paragraphs>51</Paragraphs>
  <Slides>10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Trebuchet MS</vt:lpstr>
      <vt:lpstr>Wingdings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KTwo Technology Solutions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Sunitha R</dc:creator>
  <cp:lastModifiedBy>prajwala talanki</cp:lastModifiedBy>
  <cp:revision>136</cp:revision>
  <dcterms:created xsi:type="dcterms:W3CDTF">2020-11-22T08:14:37Z</dcterms:created>
  <dcterms:modified xsi:type="dcterms:W3CDTF">2026-09-01T08:28:34Z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NewReviewCycle">
    <vt:lpwstr/>
  </property>
</Properties>
</file>