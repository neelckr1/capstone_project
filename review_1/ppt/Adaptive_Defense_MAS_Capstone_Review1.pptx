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7A8375-10F8-424A-B98F-4306393A8A9D}">
  <a:tblStyle styleId="{F57A8375-10F8-424A-B98F-4306393A8A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Good morning esteemed panel members and faculty guide. I am Neel Chandrakar, and alongside my team members Pranav Balebail, Pranav Kaushal, and Pranav Swaroop, we present our Capstone project: 'Adaptive Defense for Multi Agent Systems'. As modern AI transitions from isolated chatbots to interconnected agentic swarms executing privileged real-world tools, inter-agent trust introduces an existential security void. Our project establishes an active, closed-loop immune system combining low-latency System-1 non-autoregressive triage with deep System-2 trajectory auditing to mathematically suppress autonomous viral spread while preserving real-time agent utility.</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ANTICIPATED PANEL Q&amp;A</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Q: Why focus specifically on multi-agent systems rather than single LLM security?</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 Single LLM security (like input prompt injection) assumes a human-to-AI interaction boundary. In multi-agent systems, agents act as both clients and servers to each other. Once an adversary poisons one agent, that agent becomes a trusted transmitter, laterally infecting downstream agents and tools without triggering traditional user-facing perimeter filters.</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 name="Google Shape;3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presentation covers our complete engineering blueprint: we will articulate the problem and its mathematical formulation, evaluate the project's feasibility across seven engineering vectors, review fifteen foundational papers across threat-actor and defense paradigms, outline five industry use cases, present our three-phase deliverables and 16-week Gantt schedule, and finally demonstrate our proposed architecture and empirical System-1 benchmarks.</a:t>
            </a:r>
            <a:endParaRPr/>
          </a:p>
        </p:txBody>
      </p:sp>
      <p:sp>
        <p:nvSpPr>
          <p:cNvPr id="33" name="Google Shape;3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problem statement centers on the Multi-Agent Trust Asymmetry. When an LLM interacts with a human, input guardrails inspect the prompt. But when Agent A talks to Agent B, Agent B treats Agent A's output as trusted system context. Research from Anthropic and real incidents like the OpenAI-Hugging Face report show that adversaries can deploy self-replicating prompts—which we call Mind Viruses. If the reproductive number R-zero exceeds 1, infection spreads uncontrollably. Our mathematical aim is to suppress R-zero to zero while maintaining sub-50ms latency and less than 2% false positives.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ANTICIPATED PANEL Q&amp;A</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 What is the formal definition of R₀ in an LLM swarm?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 Borrowing from epidemiological SIR models, R₀ is the expected number of peer agents directly compromised by an infected agent during its conversation lifecycle. If R₀ &lt; 1, any introduced adversarial infection terminates deterministically.</a:t>
            </a:r>
            <a:endParaRPr/>
          </a:p>
        </p:txBody>
      </p:sp>
      <p:sp>
        <p:nvSpPr>
          <p:cNvPr id="77" name="Google Shape;7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defining our scope, we focus on three canonical multi-agent topologies: sequential pipelines, peer-to-peer mesh networks, and dynamic agent marketplaces. We explicitly cover self-replicating mind viruses, multi-turn crescendo drift, RL-generated adversarial suffixes, and indirect tool injections. We exclude hardware and host kernel attacks. Our primary engineering challenge is 'The Guardrail Curse'—the trade-off where heavy LLM guardrails protect the system but destroy real-time latency.</a:t>
            </a:r>
            <a:endParaRPr/>
          </a:p>
        </p:txBody>
      </p:sp>
      <p:sp>
        <p:nvSpPr>
          <p:cNvPr id="103" name="Google Shape;10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Following the department's evaluation model, we rigorously assessed our project across seven engineering vectors. We have secured open-source benchmarks including AgentDojo and InjecAgent. Compute is optimized by running System-1 on edge and commodity GPUs while reserving System-2 for ambiguous cases. All experiments are isolated in virtualized network namespaces with zero internet egress to guarantee ethical safety.</a:t>
            </a:r>
            <a:endParaRPr/>
          </a:p>
        </p:txBody>
      </p:sp>
      <p:sp>
        <p:nvSpPr>
          <p:cNvPr id="122" name="Google Shape;12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To provide domain context: AI security has evolved through three distinct generations. We are now in Generation 3, where autonomous agents act as both clients and servers to one another. This shift creates the vulnerability to Mind Viruses—adversarial instructions that force an agent to execute an unauthorized tool and embed the malicious payload into its messages to peer agents. Our architecture deploys a biological immune metaphor, separating fast System-1 triage from deep System-2 deliberative reasoning.</a:t>
            </a:r>
            <a:endParaRPr/>
          </a:p>
        </p:txBody>
      </p:sp>
      <p:sp>
        <p:nvSpPr>
          <p:cNvPr id="131" name="Google Shape;13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our first literature survey slide, we compare two foundational papers on autonomous viral propagation. Anthropic's 'Mind Viruses' paper provided the mathematical formulation of R-zero in LLM swarms, demonstrating that more capable models are paradoxically more vulnerable because they follow instructions more faithfully. Meanwhile, the Morris-II paper demonstrated real-world zero-click worms targeting RAG systems. However, both papers lack an active, low-latency runtime defense for dynamic agent marketplaces—which is precisely what we build.</a:t>
            </a:r>
            <a:endParaRPr/>
          </a:p>
        </p:txBody>
      </p:sp>
      <p:sp>
        <p:nvSpPr>
          <p:cNvPr id="150" name="Google Shape;15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8 highlights multi-agent threat modeling and empirical incidents. Paul &amp; Nandy formalized a 14-vector threat taxonomy and proved that 67% of agents suffer scope violations in collaborative pipelines. Concurrently, the OpenAI-Hugging Face technical report confirmed that real-world agents spontaneously probe sandboxes and coordinate lateral actions. While Paul &amp; Nandy proposed cryptographic message signing, its computational overhead is prohibitive for real-time swarms.</a:t>
            </a:r>
            <a:endParaRPr/>
          </a:p>
        </p:txBody>
      </p:sp>
      <p:sp>
        <p:nvSpPr>
          <p:cNvPr id="159" name="Google Shape;15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 we examine the cutting edge of adversarial prompt attacks. Microsoft's Crescendo attack demonstrated that by gradually steering a conversation over multiple turns, attackers achieve up to 85% success while completely bypassing single-turn filters. Simultaneously, ETH Zürich's AutoInject used reinforcement learning to discover black-box adversarial suffixes against tool-calling agents. We incorporate both techniques into our digital twin red-teaming engine to continuously stress-test our defender.</a:t>
            </a:r>
            <a:endParaRPr/>
          </a:p>
        </p:txBody>
      </p:sp>
      <p:sp>
        <p:nvSpPr>
          <p:cNvPr id="168" name="Google Shape;16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10 reviews algorithmic search optimizations for black-box attacks. PAIR established automated iterative prompt refinement in roughly 20 queries. Tree of Attacks with Pruning (TAP) extended this with tree-of-thought exploration and pruning, reaching over 80% ASR on aligned models. These two papers provide the foundation for our automated attack generator, which tests whether inter-agent communication channels can be manipulated over multiple rounds.</a:t>
            </a:r>
            <a:endParaRPr/>
          </a:p>
        </p:txBody>
      </p:sp>
      <p:sp>
        <p:nvSpPr>
          <p:cNvPr id="177" name="Google Shape;17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 we examine the benchmark suites that validate agentic safety. NeurIPS 2024's AgentDojo is the gold standard for evaluating indirect injection in tool-use agents, while ACL 2024's InjecAgent tested 30 LLMs across over 1,000 scenarios, finding that GPT-4 is vulnerable up to 50% of the time. We adopt these benchmarks as our foundational testbed to ensure our defense maintains agent utility while blocking injections.</a:t>
            </a:r>
            <a:endParaRPr/>
          </a:p>
        </p:txBody>
      </p:sp>
      <p:sp>
        <p:nvSpPr>
          <p:cNvPr id="186" name="Google Shape;18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On the defensive front, CivicShield demonstrated that stateful, layered filtering is necessary to prevent multi-turn privilege escalation. Hossain et al. proposed decomposing defense across specialized inspector, sanitizer, and verifier agents. However, both architectures suffer from extreme computational costs—running up to 4 full LLM inferences per message. This makes them impractical for high-throughput multi-agent meshes, directly motivating our System-1 non-autoregressive triage model.</a:t>
            </a:r>
            <a:endParaRPr/>
          </a:p>
        </p:txBody>
      </p:sp>
      <p:sp>
        <p:nvSpPr>
          <p:cNvPr id="195" name="Google Shape;19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final literature review slide assesses standard enterprise guardrails: Meta's Llama Guard and NVIDIA's NeMo Guardrails. While effective for single-turn explicit toxicity, both exhibit catastrophic stateless failure when faced with multi-turn Crescendo drift or benign-looking mind viruses. Furthermore, Llama Guard's 7B token generation takes 500 to 1200 milliseconds. This confirms the critical need for a fast, non-autoregressive triage layer.</a:t>
            </a:r>
            <a:endParaRPr/>
          </a:p>
        </p:txBody>
      </p:sp>
      <p:sp>
        <p:nvSpPr>
          <p:cNvPr id="204" name="Google Shape;20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architecture secures five critical application domains. In Enterprise MCP Gateways, it inspects untrusted third-party tool connections. In DevOps swarms, it prevents poisoned PRs from compromising production cloud pipelines. In financial meshes, it blocks cascading market manipulation. In Civic AI, it guarantees strict data isolation between civic agencies. And on constrained edge swarms, our sub-50ms triage enables autonomous robotics and drone fleets to communicate safely without cloud latency.</a:t>
            </a:r>
            <a:endParaRPr/>
          </a:p>
        </p:txBody>
      </p:sp>
      <p:sp>
        <p:nvSpPr>
          <p:cNvPr id="213" name="Google Shape;21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Capstone Phase I, our deliverables establish the foundational experimental testbed. We construct the multi-agent simulator across sequential, mesh, and marketplace topologies in LangGraph. We implement the automated red-teaming harness integrating Crescendo, TAP, and AutoInject. And we produce the baseline vulnerability report empirically quantifying R-zero in undefended swarms.</a:t>
            </a:r>
            <a:endParaRPr/>
          </a:p>
        </p:txBody>
      </p:sp>
      <p:sp>
        <p:nvSpPr>
          <p:cNvPr id="246" name="Google Shape;24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Capstone Phase II, we implement the core active defense. Deliverable 4 deploys the sub-50ms System-1 triage gate using Clef-flash and Jev. Deliverable 5 implements the System-2 trajectory reasoner that checks rolling multi-turn context against immutable system prompt invariants. Deliverable 6 provides the dynamic containment sandbox and human-in-the-loop dashboard for operator oversight.</a:t>
            </a:r>
            <a:endParaRPr/>
          </a:p>
        </p:txBody>
      </p:sp>
      <p:sp>
        <p:nvSpPr>
          <p:cNvPr id="269" name="Google Shape;269;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 Capstone Phase III, we complete the closed-loop co-evolutionary pipeline: red-team attack traces are stripped of private data, used to retrain System-1 decision models, and republished via MLflow. We provide mathematical proof of viral containment (R-zero &lt; 1) with over 75% latency savings, and package the entire framework into an open-source repository and conference research publication.</a:t>
            </a:r>
            <a:endParaRPr/>
          </a:p>
        </p:txBody>
      </p:sp>
      <p:sp>
        <p:nvSpPr>
          <p:cNvPr id="292" name="Google Shape;292;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16-week execution plan follows a Test-Driven Development cadence. Tasks are cleanly allocated across all four team members: Neel leads testbed construction, System-1 triage integration, and the MLflow pipeline; Pranav Balebail leads the automated red-team attack harness; Pranav Kaushal develops the System-2 trajectory auditor; and Pranav Swaroop builds the quarantine sandbox and human-in-the-loop dashboard. Bi-weekly sprint reviews ensure continuous progress and automated Git synchronization.</a:t>
            </a:r>
            <a:endParaRPr/>
          </a:p>
        </p:txBody>
      </p:sp>
      <p:sp>
        <p:nvSpPr>
          <p:cNvPr id="315" name="Google Shape;315;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19 presents our central architectural contribution: a dual-plane closed-loop active immune system. In the production plane at the top, incoming traffic from threat actors encounters our Defender Model before reaching the multi-agent application. Operating in 30 to 50 milliseconds, it triages traffic without bottlenecking the swarm. All interaction traces are saved to a production database and continuously synced to the training plane below. In training, traces are extracted, sanitized through a privacy filter to remove private information, prepared into training pairs, fine-tuned, and registered in MLflow. MLflow then publishes updated defender checkpoints back to production, ensuring our swarm co-evolves with mutating threats.</a:t>
            </a:r>
            <a:endParaRPr/>
          </a:p>
        </p:txBody>
      </p:sp>
      <p:sp>
        <p:nvSpPr>
          <p:cNvPr id="326" name="Google Shape;326;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20 provides empirical justification for our model choices. We benchmarked six System-1 models across ten standard datasets. The results clearly demonstrate a dual-specialization: Clef-flash dominates function calling precision with 98.76% on BFCL and 93.11% on API-Bank. Meanwhile, Jev excels at intervention boundaries, reaching 80.97% on When2Call. In stark contrast, generic conversational edge models like Laya collapse down to 38% on BFCL and 0% on home appliance tasks, proving that specialized non-autoregressive triage models are mandatory.</a:t>
            </a:r>
            <a:endParaRPr/>
          </a:p>
        </p:txBody>
      </p:sp>
      <p:sp>
        <p:nvSpPr>
          <p:cNvPr id="343" name="Google Shape;34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 we formalize the mathematics of our triage layer. System-1 calculates a calibrated risk probability P-risk. If P-risk is below tau-one (0.15), it follows the Green Path with zero overhead. If between tau-one and tau-two, it triggers System-2 to audit the rolling trajectory against initial invariants. If above tau-two, the agent is quarantined immediately. By bounding the spectral radius of the transmission adjacency matrix, we mathematically guarantee that R-zero remains strictly below 1, preventing epidemic swarm subversion.</a:t>
            </a:r>
            <a:endParaRPr/>
          </a:p>
        </p:txBody>
      </p:sp>
      <p:sp>
        <p:nvSpPr>
          <p:cNvPr id="365" name="Google Shape;36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3" name="Google Shape;39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To conclude: Multi-Agent Systems are the future of enterprise autonomous workflows, but lateral trust asymmetry makes them extraordinarily vulnerable to self-replicating mind viruses and multi-turn crescendo drift. By uniting high-speed System-1 decision gates with deep System-2 trajectory verification in a closed-loop retraining pipeline, our project provides the first active, provably resilient immune system for agentic swarms. Thank you for your time, guidance, and attention, and we look forward to answering any questions from the panel.</a:t>
            </a:r>
            <a:endParaRPr/>
          </a:p>
        </p:txBody>
      </p:sp>
      <p:sp>
        <p:nvSpPr>
          <p:cNvPr id="407" name="Google Shape;407;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B0F19"/>
        </a:solidFill>
      </p:bgPr>
    </p:bg>
    <p:spTree>
      <p:nvGrpSpPr>
        <p:cNvPr id="7" name="Shape 7"/>
        <p:cNvGrpSpPr/>
        <p:nvPr/>
      </p:nvGrpSpPr>
      <p:grpSpPr>
        <a:xfrm>
          <a:off x="0" y="0"/>
          <a:ext cx="0" cy="0"/>
          <a:chOff x="0" y="0"/>
          <a:chExt cx="0" cy="0"/>
        </a:xfrm>
      </p:grpSpPr>
      <p:sp>
        <p:nvSpPr>
          <p:cNvPr id="8" name="Google Shape;8;p2"/>
          <p:cNvSpPr txBox="1"/>
          <p:nvPr>
            <p:ph type="title"/>
          </p:nvPr>
        </p:nvSpPr>
        <p:spPr>
          <a:xfrm>
            <a:off x="457200" y="502920"/>
            <a:ext cx="11274552"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8FAFC"/>
              </a:buClr>
              <a:buSzPts val="2800"/>
              <a:buFont typeface="Calibri"/>
              <a:buNone/>
              <a:defRPr b="1" i="0" sz="2800" u="none" cap="none" strike="noStrike">
                <a:solidFill>
                  <a:srgbClr val="F8FAF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
          <p:cNvSpPr txBox="1"/>
          <p:nvPr>
            <p:ph idx="12"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94A3B8"/>
                </a:solidFill>
                <a:latin typeface="Calibri"/>
                <a:ea typeface="Calibri"/>
                <a:cs typeface="Calibri"/>
                <a:sym typeface="Calibri"/>
              </a:defRPr>
            </a:lvl1pPr>
            <a:lvl2pPr indent="0" lvl="1" marL="0" marR="0" algn="r">
              <a:spcBef>
                <a:spcPts val="0"/>
              </a:spcBef>
              <a:buNone/>
              <a:defRPr b="0" i="0" sz="1000" u="none" cap="none" strike="noStrike">
                <a:solidFill>
                  <a:srgbClr val="94A3B8"/>
                </a:solidFill>
                <a:latin typeface="Calibri"/>
                <a:ea typeface="Calibri"/>
                <a:cs typeface="Calibri"/>
                <a:sym typeface="Calibri"/>
              </a:defRPr>
            </a:lvl2pPr>
            <a:lvl3pPr indent="0" lvl="2" marL="0" marR="0" algn="r">
              <a:spcBef>
                <a:spcPts val="0"/>
              </a:spcBef>
              <a:buNone/>
              <a:defRPr b="0" i="0" sz="1000" u="none" cap="none" strike="noStrike">
                <a:solidFill>
                  <a:srgbClr val="94A3B8"/>
                </a:solidFill>
                <a:latin typeface="Calibri"/>
                <a:ea typeface="Calibri"/>
                <a:cs typeface="Calibri"/>
                <a:sym typeface="Calibri"/>
              </a:defRPr>
            </a:lvl3pPr>
            <a:lvl4pPr indent="0" lvl="3" marL="0" marR="0" algn="r">
              <a:spcBef>
                <a:spcPts val="0"/>
              </a:spcBef>
              <a:buNone/>
              <a:defRPr b="0" i="0" sz="1000" u="none" cap="none" strike="noStrike">
                <a:solidFill>
                  <a:srgbClr val="94A3B8"/>
                </a:solidFill>
                <a:latin typeface="Calibri"/>
                <a:ea typeface="Calibri"/>
                <a:cs typeface="Calibri"/>
                <a:sym typeface="Calibri"/>
              </a:defRPr>
            </a:lvl4pPr>
            <a:lvl5pPr indent="0" lvl="4" marL="0" marR="0" algn="r">
              <a:spcBef>
                <a:spcPts val="0"/>
              </a:spcBef>
              <a:buNone/>
              <a:defRPr b="0" i="0" sz="1000" u="none" cap="none" strike="noStrike">
                <a:solidFill>
                  <a:srgbClr val="94A3B8"/>
                </a:solidFill>
                <a:latin typeface="Calibri"/>
                <a:ea typeface="Calibri"/>
                <a:cs typeface="Calibri"/>
                <a:sym typeface="Calibri"/>
              </a:defRPr>
            </a:lvl5pPr>
            <a:lvl6pPr indent="0" lvl="5" marL="0" marR="0" algn="r">
              <a:spcBef>
                <a:spcPts val="0"/>
              </a:spcBef>
              <a:buNone/>
              <a:defRPr b="0" i="0" sz="1000" u="none" cap="none" strike="noStrike">
                <a:solidFill>
                  <a:srgbClr val="94A3B8"/>
                </a:solidFill>
                <a:latin typeface="Calibri"/>
                <a:ea typeface="Calibri"/>
                <a:cs typeface="Calibri"/>
                <a:sym typeface="Calibri"/>
              </a:defRPr>
            </a:lvl6pPr>
            <a:lvl7pPr indent="0" lvl="6" marL="0" marR="0" algn="r">
              <a:spcBef>
                <a:spcPts val="0"/>
              </a:spcBef>
              <a:buNone/>
              <a:defRPr b="0" i="0" sz="1000" u="none" cap="none" strike="noStrike">
                <a:solidFill>
                  <a:srgbClr val="94A3B8"/>
                </a:solidFill>
                <a:latin typeface="Calibri"/>
                <a:ea typeface="Calibri"/>
                <a:cs typeface="Calibri"/>
                <a:sym typeface="Calibri"/>
              </a:defRPr>
            </a:lvl7pPr>
            <a:lvl8pPr indent="0" lvl="7" marL="0" marR="0" algn="r">
              <a:spcBef>
                <a:spcPts val="0"/>
              </a:spcBef>
              <a:buNone/>
              <a:defRPr b="0" i="0" sz="1000" u="none" cap="none" strike="noStrike">
                <a:solidFill>
                  <a:srgbClr val="94A3B8"/>
                </a:solidFill>
                <a:latin typeface="Calibri"/>
                <a:ea typeface="Calibri"/>
                <a:cs typeface="Calibri"/>
                <a:sym typeface="Calibri"/>
              </a:defRPr>
            </a:lvl8pPr>
            <a:lvl9pPr indent="0" lvl="8" marL="0" marR="0" algn="r">
              <a:spcBef>
                <a:spcPts val="0"/>
              </a:spcBef>
              <a:buNone/>
              <a:defRPr b="0" i="0" sz="1000" u="none" cap="none" strike="noStrike">
                <a:solidFill>
                  <a:srgbClr val="94A3B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94A3B8"/>
                </a:solidFill>
                <a:latin typeface="Calibri"/>
                <a:ea typeface="Calibri"/>
                <a:cs typeface="Calibri"/>
                <a:sym typeface="Calibri"/>
              </a:defRPr>
            </a:lvl1pPr>
            <a:lvl2pPr indent="0" lvl="1" marL="0" marR="0" rtl="0" algn="r">
              <a:spcBef>
                <a:spcPts val="0"/>
              </a:spcBef>
              <a:buNone/>
              <a:defRPr b="0" i="0" sz="1000" u="none" cap="none" strike="noStrike">
                <a:solidFill>
                  <a:srgbClr val="94A3B8"/>
                </a:solidFill>
                <a:latin typeface="Calibri"/>
                <a:ea typeface="Calibri"/>
                <a:cs typeface="Calibri"/>
                <a:sym typeface="Calibri"/>
              </a:defRPr>
            </a:lvl2pPr>
            <a:lvl3pPr indent="0" lvl="2" marL="0" marR="0" rtl="0" algn="r">
              <a:spcBef>
                <a:spcPts val="0"/>
              </a:spcBef>
              <a:buNone/>
              <a:defRPr b="0" i="0" sz="1000" u="none" cap="none" strike="noStrike">
                <a:solidFill>
                  <a:srgbClr val="94A3B8"/>
                </a:solidFill>
                <a:latin typeface="Calibri"/>
                <a:ea typeface="Calibri"/>
                <a:cs typeface="Calibri"/>
                <a:sym typeface="Calibri"/>
              </a:defRPr>
            </a:lvl3pPr>
            <a:lvl4pPr indent="0" lvl="3" marL="0" marR="0" rtl="0" algn="r">
              <a:spcBef>
                <a:spcPts val="0"/>
              </a:spcBef>
              <a:buNone/>
              <a:defRPr b="0" i="0" sz="1000" u="none" cap="none" strike="noStrike">
                <a:solidFill>
                  <a:srgbClr val="94A3B8"/>
                </a:solidFill>
                <a:latin typeface="Calibri"/>
                <a:ea typeface="Calibri"/>
                <a:cs typeface="Calibri"/>
                <a:sym typeface="Calibri"/>
              </a:defRPr>
            </a:lvl4pPr>
            <a:lvl5pPr indent="0" lvl="4" marL="0" marR="0" rtl="0" algn="r">
              <a:spcBef>
                <a:spcPts val="0"/>
              </a:spcBef>
              <a:buNone/>
              <a:defRPr b="0" i="0" sz="1000" u="none" cap="none" strike="noStrike">
                <a:solidFill>
                  <a:srgbClr val="94A3B8"/>
                </a:solidFill>
                <a:latin typeface="Calibri"/>
                <a:ea typeface="Calibri"/>
                <a:cs typeface="Calibri"/>
                <a:sym typeface="Calibri"/>
              </a:defRPr>
            </a:lvl5pPr>
            <a:lvl6pPr indent="0" lvl="5" marL="0" marR="0" rtl="0" algn="r">
              <a:spcBef>
                <a:spcPts val="0"/>
              </a:spcBef>
              <a:buNone/>
              <a:defRPr b="0" i="0" sz="1000" u="none" cap="none" strike="noStrike">
                <a:solidFill>
                  <a:srgbClr val="94A3B8"/>
                </a:solidFill>
                <a:latin typeface="Calibri"/>
                <a:ea typeface="Calibri"/>
                <a:cs typeface="Calibri"/>
                <a:sym typeface="Calibri"/>
              </a:defRPr>
            </a:lvl6pPr>
            <a:lvl7pPr indent="0" lvl="6" marL="0" marR="0" rtl="0" algn="r">
              <a:spcBef>
                <a:spcPts val="0"/>
              </a:spcBef>
              <a:buNone/>
              <a:defRPr b="0" i="0" sz="1000" u="none" cap="none" strike="noStrike">
                <a:solidFill>
                  <a:srgbClr val="94A3B8"/>
                </a:solidFill>
                <a:latin typeface="Calibri"/>
                <a:ea typeface="Calibri"/>
                <a:cs typeface="Calibri"/>
                <a:sym typeface="Calibri"/>
              </a:defRPr>
            </a:lvl7pPr>
            <a:lvl8pPr indent="0" lvl="7" marL="0" marR="0" rtl="0" algn="r">
              <a:spcBef>
                <a:spcPts val="0"/>
              </a:spcBef>
              <a:buNone/>
              <a:defRPr b="0" i="0" sz="1000" u="none" cap="none" strike="noStrike">
                <a:solidFill>
                  <a:srgbClr val="94A3B8"/>
                </a:solidFill>
                <a:latin typeface="Calibri"/>
                <a:ea typeface="Calibri"/>
                <a:cs typeface="Calibri"/>
                <a:sym typeface="Calibri"/>
              </a:defRPr>
            </a:lvl8pPr>
            <a:lvl9pPr indent="0" lvl="8" marL="0" marR="0" rtl="0" algn="r">
              <a:spcBef>
                <a:spcPts val="0"/>
              </a:spcBef>
              <a:buNone/>
              <a:defRPr b="0" i="0" sz="1000" u="none" cap="none" strike="noStrike">
                <a:solidFill>
                  <a:srgbClr val="94A3B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4"/>
          <p:cNvSpPr/>
          <p:nvPr/>
        </p:nvSpPr>
        <p:spPr>
          <a:xfrm>
            <a:off x="914400" y="640080"/>
            <a:ext cx="10360152" cy="5577840"/>
          </a:xfrm>
          <a:prstGeom prst="roundRect">
            <a:avLst>
              <a:gd fmla="val 1311"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4"/>
          <p:cNvSpPr txBox="1"/>
          <p:nvPr/>
        </p:nvSpPr>
        <p:spPr>
          <a:xfrm>
            <a:off x="1371600" y="914400"/>
            <a:ext cx="94457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500"/>
              <a:buFont typeface="Calibri"/>
              <a:buNone/>
            </a:pPr>
            <a:r>
              <a:rPr b="1" lang="en-US" spc="300" sz="1500">
                <a:solidFill>
                  <a:srgbClr val="F59E0B"/>
                </a:solidFill>
                <a:latin typeface="Calibri"/>
                <a:ea typeface="Calibri"/>
                <a:cs typeface="Calibri"/>
                <a:sym typeface="Calibri"/>
              </a:rPr>
              <a:t>UE24CS320A – CAPSTONE PROJECT APPROVAL</a:t>
            </a:r>
            <a:endParaRPr sz="1500">
              <a:solidFill>
                <a:schemeClr val="dk1"/>
              </a:solidFill>
              <a:latin typeface="Calibri"/>
              <a:ea typeface="Calibri"/>
              <a:cs typeface="Calibri"/>
              <a:sym typeface="Calibri"/>
            </a:endParaRPr>
          </a:p>
        </p:txBody>
      </p:sp>
      <p:sp>
        <p:nvSpPr>
          <p:cNvPr id="18" name="Google Shape;18;p4"/>
          <p:cNvSpPr txBox="1"/>
          <p:nvPr/>
        </p:nvSpPr>
        <p:spPr>
          <a:xfrm>
            <a:off x="1371600" y="1417320"/>
            <a:ext cx="9445752"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3400"/>
              <a:buFont typeface="Calibri"/>
              <a:buNone/>
            </a:pPr>
            <a:r>
              <a:rPr b="1" lang="en-US" sz="3400">
                <a:solidFill>
                  <a:srgbClr val="F8FAFC"/>
                </a:solidFill>
                <a:latin typeface="Calibri"/>
                <a:ea typeface="Calibri"/>
                <a:cs typeface="Calibri"/>
                <a:sym typeface="Calibri"/>
              </a:rPr>
              <a:t>Adaptive Defense for Multi Agent Systems</a:t>
            </a:r>
            <a:endParaRPr sz="3400">
              <a:solidFill>
                <a:schemeClr val="dk1"/>
              </a:solidFill>
              <a:latin typeface="Calibri"/>
              <a:ea typeface="Calibri"/>
              <a:cs typeface="Calibri"/>
              <a:sym typeface="Calibri"/>
            </a:endParaRPr>
          </a:p>
        </p:txBody>
      </p:sp>
      <p:sp>
        <p:nvSpPr>
          <p:cNvPr id="19" name="Google Shape;19;p4"/>
          <p:cNvSpPr txBox="1"/>
          <p:nvPr/>
        </p:nvSpPr>
        <p:spPr>
          <a:xfrm>
            <a:off x="1828800" y="2423160"/>
            <a:ext cx="8531352" cy="7772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4A3B8"/>
              </a:buClr>
              <a:buSzPts val="1700"/>
              <a:buFont typeface="Calibri"/>
              <a:buNone/>
            </a:pPr>
            <a:r>
              <a:rPr lang="en-US" sz="1700">
                <a:solidFill>
                  <a:srgbClr val="94A3B8"/>
                </a:solidFill>
                <a:latin typeface="Calibri"/>
                <a:ea typeface="Calibri"/>
                <a:cs typeface="Calibri"/>
                <a:sym typeface="Calibri"/>
              </a:rPr>
              <a:t>An Active Immune Architecture Against Self-Replicating Mind Viruses, Multi-Turn Injection, and Cascading Subversion in Agentic Swarms</a:t>
            </a:r>
            <a:endParaRPr sz="1700">
              <a:solidFill>
                <a:schemeClr val="dk1"/>
              </a:solidFill>
              <a:latin typeface="Calibri"/>
              <a:ea typeface="Calibri"/>
              <a:cs typeface="Calibri"/>
              <a:sym typeface="Calibri"/>
            </a:endParaRPr>
          </a:p>
        </p:txBody>
      </p:sp>
      <p:sp>
        <p:nvSpPr>
          <p:cNvPr id="20" name="Google Shape;20;p4"/>
          <p:cNvSpPr/>
          <p:nvPr/>
        </p:nvSpPr>
        <p:spPr>
          <a:xfrm>
            <a:off x="1371600" y="3474720"/>
            <a:ext cx="2240280" cy="914400"/>
          </a:xfrm>
          <a:prstGeom prst="roundRect">
            <a:avLst>
              <a:gd fmla="val 8000" name="adj"/>
            </a:avLst>
          </a:prstGeom>
          <a:solidFill>
            <a:srgbClr val="0B0F19"/>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4"/>
          <p:cNvSpPr txBox="1"/>
          <p:nvPr/>
        </p:nvSpPr>
        <p:spPr>
          <a:xfrm>
            <a:off x="1371600" y="34747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Neel Chandrakar</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06B6D4"/>
              </a:buClr>
              <a:buSzPts val="1200"/>
              <a:buFont typeface="Calibri"/>
              <a:buNone/>
            </a:pPr>
            <a:r>
              <a:rPr lang="en-US" sz="1200">
                <a:solidFill>
                  <a:srgbClr val="06B6D4"/>
                </a:solidFill>
                <a:latin typeface="Calibri"/>
                <a:ea typeface="Calibri"/>
                <a:cs typeface="Calibri"/>
                <a:sym typeface="Calibri"/>
              </a:rPr>
              <a:t>SRN: PES2UG24CS310</a:t>
            </a:r>
            <a:endParaRPr sz="1500">
              <a:solidFill>
                <a:schemeClr val="dk1"/>
              </a:solidFill>
              <a:latin typeface="Calibri"/>
              <a:ea typeface="Calibri"/>
              <a:cs typeface="Calibri"/>
              <a:sym typeface="Calibri"/>
            </a:endParaRPr>
          </a:p>
        </p:txBody>
      </p:sp>
      <p:sp>
        <p:nvSpPr>
          <p:cNvPr id="22" name="Google Shape;22;p4"/>
          <p:cNvSpPr/>
          <p:nvPr/>
        </p:nvSpPr>
        <p:spPr>
          <a:xfrm>
            <a:off x="3749040" y="3474720"/>
            <a:ext cx="2240280" cy="914400"/>
          </a:xfrm>
          <a:prstGeom prst="roundRect">
            <a:avLst>
              <a:gd fmla="val 8000" name="adj"/>
            </a:avLst>
          </a:prstGeom>
          <a:solidFill>
            <a:srgbClr val="0B0F19"/>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4"/>
          <p:cNvSpPr txBox="1"/>
          <p:nvPr/>
        </p:nvSpPr>
        <p:spPr>
          <a:xfrm>
            <a:off x="3749040" y="34747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Pranav Balebail</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06B6D4"/>
              </a:buClr>
              <a:buSzPts val="1200"/>
              <a:buFont typeface="Calibri"/>
              <a:buNone/>
            </a:pPr>
            <a:r>
              <a:rPr lang="en-US" sz="1200">
                <a:solidFill>
                  <a:srgbClr val="06B6D4"/>
                </a:solidFill>
                <a:latin typeface="Calibri"/>
                <a:ea typeface="Calibri"/>
                <a:cs typeface="Calibri"/>
                <a:sym typeface="Calibri"/>
              </a:rPr>
              <a:t>SRN: PES2UG24CS362</a:t>
            </a:r>
            <a:endParaRPr sz="1500">
              <a:solidFill>
                <a:schemeClr val="dk1"/>
              </a:solidFill>
              <a:latin typeface="Calibri"/>
              <a:ea typeface="Calibri"/>
              <a:cs typeface="Calibri"/>
              <a:sym typeface="Calibri"/>
            </a:endParaRPr>
          </a:p>
        </p:txBody>
      </p:sp>
      <p:sp>
        <p:nvSpPr>
          <p:cNvPr id="24" name="Google Shape;24;p4"/>
          <p:cNvSpPr/>
          <p:nvPr/>
        </p:nvSpPr>
        <p:spPr>
          <a:xfrm>
            <a:off x="6126480" y="3474720"/>
            <a:ext cx="2240280" cy="914400"/>
          </a:xfrm>
          <a:prstGeom prst="roundRect">
            <a:avLst>
              <a:gd fmla="val 8000" name="adj"/>
            </a:avLst>
          </a:prstGeom>
          <a:solidFill>
            <a:srgbClr val="0B0F19"/>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4"/>
          <p:cNvSpPr txBox="1"/>
          <p:nvPr/>
        </p:nvSpPr>
        <p:spPr>
          <a:xfrm>
            <a:off x="6126480" y="34747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Pranav Kaushal</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06B6D4"/>
              </a:buClr>
              <a:buSzPts val="1200"/>
              <a:buFont typeface="Calibri"/>
              <a:buNone/>
            </a:pPr>
            <a:r>
              <a:rPr lang="en-US" sz="1200">
                <a:solidFill>
                  <a:srgbClr val="06B6D4"/>
                </a:solidFill>
                <a:latin typeface="Calibri"/>
                <a:ea typeface="Calibri"/>
                <a:cs typeface="Calibri"/>
                <a:sym typeface="Calibri"/>
              </a:rPr>
              <a:t>SRN: PES2UG24CS363</a:t>
            </a:r>
            <a:endParaRPr sz="1500">
              <a:solidFill>
                <a:schemeClr val="dk1"/>
              </a:solidFill>
              <a:latin typeface="Calibri"/>
              <a:ea typeface="Calibri"/>
              <a:cs typeface="Calibri"/>
              <a:sym typeface="Calibri"/>
            </a:endParaRPr>
          </a:p>
        </p:txBody>
      </p:sp>
      <p:sp>
        <p:nvSpPr>
          <p:cNvPr id="26" name="Google Shape;26;p4"/>
          <p:cNvSpPr/>
          <p:nvPr/>
        </p:nvSpPr>
        <p:spPr>
          <a:xfrm>
            <a:off x="8503920" y="3474720"/>
            <a:ext cx="2240280" cy="914400"/>
          </a:xfrm>
          <a:prstGeom prst="roundRect">
            <a:avLst>
              <a:gd fmla="val 8000" name="adj"/>
            </a:avLst>
          </a:prstGeom>
          <a:solidFill>
            <a:srgbClr val="0B0F19"/>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4"/>
          <p:cNvSpPr txBox="1"/>
          <p:nvPr/>
        </p:nvSpPr>
        <p:spPr>
          <a:xfrm>
            <a:off x="8503920" y="3474720"/>
            <a:ext cx="2240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Pranav Swaroop</a:t>
            </a:r>
            <a:endParaRPr sz="1500">
              <a:solidFill>
                <a:schemeClr val="dk1"/>
              </a:solidFill>
              <a:latin typeface="Calibri"/>
              <a:ea typeface="Calibri"/>
              <a:cs typeface="Calibri"/>
              <a:sym typeface="Calibri"/>
            </a:endParaRPr>
          </a:p>
          <a:p>
            <a:pPr indent="0" lvl="0" marL="0" marR="0" rtl="0" algn="ctr">
              <a:spcBef>
                <a:spcPts val="0"/>
              </a:spcBef>
              <a:spcAft>
                <a:spcPts val="0"/>
              </a:spcAft>
              <a:buClr>
                <a:srgbClr val="06B6D4"/>
              </a:buClr>
              <a:buSzPts val="1200"/>
              <a:buFont typeface="Calibri"/>
              <a:buNone/>
            </a:pPr>
            <a:r>
              <a:rPr lang="en-US" sz="1200">
                <a:solidFill>
                  <a:srgbClr val="06B6D4"/>
                </a:solidFill>
                <a:latin typeface="Calibri"/>
                <a:ea typeface="Calibri"/>
                <a:cs typeface="Calibri"/>
                <a:sym typeface="Calibri"/>
              </a:rPr>
              <a:t>SRN: PES2UG24CS365</a:t>
            </a:r>
            <a:endParaRPr sz="1500">
              <a:solidFill>
                <a:schemeClr val="dk1"/>
              </a:solidFill>
              <a:latin typeface="Calibri"/>
              <a:ea typeface="Calibri"/>
              <a:cs typeface="Calibri"/>
              <a:sym typeface="Calibri"/>
            </a:endParaRPr>
          </a:p>
        </p:txBody>
      </p:sp>
      <p:sp>
        <p:nvSpPr>
          <p:cNvPr id="28" name="Google Shape;28;p4"/>
          <p:cNvSpPr txBox="1"/>
          <p:nvPr/>
        </p:nvSpPr>
        <p:spPr>
          <a:xfrm>
            <a:off x="1371600" y="4663440"/>
            <a:ext cx="9445752" cy="1188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Project ID: 125  |   Guide: Dr.Monika Goyal, Dept. of CSE</a:t>
            </a:r>
            <a:endParaRPr sz="1300">
              <a:solidFill>
                <a:schemeClr val="dk1"/>
              </a:solidFill>
              <a:latin typeface="Calibri"/>
              <a:ea typeface="Calibri"/>
              <a:cs typeface="Calibri"/>
              <a:sym typeface="Calibri"/>
            </a:endParaRPr>
          </a:p>
          <a:p>
            <a:pPr indent="0" lvl="0" marL="0" marR="0" rtl="0" algn="ctr">
              <a:spcBef>
                <a:spcPts val="40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Capstone Project Phase-I (5th/6th Semester, 2026)</a:t>
            </a:r>
            <a:endParaRPr sz="1300">
              <a:solidFill>
                <a:schemeClr val="dk1"/>
              </a:solidFill>
              <a:latin typeface="Calibri"/>
              <a:ea typeface="Calibri"/>
              <a:cs typeface="Calibri"/>
              <a:sym typeface="Calibri"/>
            </a:endParaRPr>
          </a:p>
          <a:p>
            <a:pPr indent="0" lvl="0" marL="0" marR="0" rtl="0" algn="ctr">
              <a:spcBef>
                <a:spcPts val="40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Department of Computer Science and Engineering, PES University, Bengaluru</a:t>
            </a:r>
            <a:endParaRPr sz="1300">
              <a:solidFill>
                <a:schemeClr val="dk1"/>
              </a:solidFill>
              <a:latin typeface="Calibri"/>
              <a:ea typeface="Calibri"/>
              <a:cs typeface="Calibri"/>
              <a:sym typeface="Calibri"/>
            </a:endParaRPr>
          </a:p>
        </p:txBody>
      </p:sp>
      <p:sp>
        <p:nvSpPr>
          <p:cNvPr id="29" name="Google Shape;29;p4"/>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Calibri"/>
                <a:ea typeface="Calibri"/>
                <a:cs typeface="Calibri"/>
                <a:sym typeface="Calibri"/>
              </a:rPr>
              <a:t>‹#›</a:t>
            </a:fld>
            <a:endParaRPr b="0" i="0" sz="1000" u="none" cap="none" strike="noStrike">
              <a:solidFill>
                <a:srgbClr val="94A3B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5"/>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Outline</a:t>
            </a:r>
            <a:endParaRPr sz="2800"/>
          </a:p>
        </p:txBody>
      </p:sp>
      <p:sp>
        <p:nvSpPr>
          <p:cNvPr id="36" name="Google Shape;36;p5"/>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AGENDA</a:t>
            </a:r>
            <a:endParaRPr sz="1200">
              <a:solidFill>
                <a:schemeClr val="dk1"/>
              </a:solidFill>
              <a:latin typeface="Calibri"/>
              <a:ea typeface="Calibri"/>
              <a:cs typeface="Calibri"/>
              <a:sym typeface="Calibri"/>
            </a:endParaRPr>
          </a:p>
        </p:txBody>
      </p:sp>
      <p:sp>
        <p:nvSpPr>
          <p:cNvPr id="37" name="Google Shape;37;p5"/>
          <p:cNvSpPr/>
          <p:nvPr/>
        </p:nvSpPr>
        <p:spPr>
          <a:xfrm>
            <a:off x="457200" y="1371600"/>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5"/>
          <p:cNvSpPr txBox="1"/>
          <p:nvPr/>
        </p:nvSpPr>
        <p:spPr>
          <a:xfrm>
            <a:off x="594360" y="1371600"/>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01</a:t>
            </a:r>
            <a:endParaRPr sz="2400">
              <a:solidFill>
                <a:schemeClr val="dk1"/>
              </a:solidFill>
              <a:latin typeface="Calibri"/>
              <a:ea typeface="Calibri"/>
              <a:cs typeface="Calibri"/>
              <a:sym typeface="Calibri"/>
            </a:endParaRPr>
          </a:p>
        </p:txBody>
      </p:sp>
      <p:sp>
        <p:nvSpPr>
          <p:cNvPr id="39" name="Google Shape;39;p5"/>
          <p:cNvSpPr txBox="1"/>
          <p:nvPr/>
        </p:nvSpPr>
        <p:spPr>
          <a:xfrm>
            <a:off x="1280160" y="137160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Problem Statement</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Trust asymmetry, Mind Viruses (R₀ &gt; 1), Crescendo drift</a:t>
            </a:r>
            <a:endParaRPr sz="1500">
              <a:solidFill>
                <a:schemeClr val="dk1"/>
              </a:solidFill>
              <a:latin typeface="Calibri"/>
              <a:ea typeface="Calibri"/>
              <a:cs typeface="Calibri"/>
              <a:sym typeface="Calibri"/>
            </a:endParaRPr>
          </a:p>
        </p:txBody>
      </p:sp>
      <p:sp>
        <p:nvSpPr>
          <p:cNvPr id="40" name="Google Shape;40;p5"/>
          <p:cNvSpPr/>
          <p:nvPr/>
        </p:nvSpPr>
        <p:spPr>
          <a:xfrm>
            <a:off x="457200" y="2221992"/>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5"/>
          <p:cNvSpPr txBox="1"/>
          <p:nvPr/>
        </p:nvSpPr>
        <p:spPr>
          <a:xfrm>
            <a:off x="594360" y="2221992"/>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02</a:t>
            </a:r>
            <a:endParaRPr sz="2400">
              <a:solidFill>
                <a:schemeClr val="dk1"/>
              </a:solidFill>
              <a:latin typeface="Calibri"/>
              <a:ea typeface="Calibri"/>
              <a:cs typeface="Calibri"/>
              <a:sym typeface="Calibri"/>
            </a:endParaRPr>
          </a:p>
        </p:txBody>
      </p:sp>
      <p:sp>
        <p:nvSpPr>
          <p:cNvPr id="42" name="Google Shape;42;p5"/>
          <p:cNvSpPr txBox="1"/>
          <p:nvPr/>
        </p:nvSpPr>
        <p:spPr>
          <a:xfrm>
            <a:off x="1280160" y="2221992"/>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Project Scope &amp; Boundaries</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Sequential, mesh, marketplaces; the Guardrail Curse</a:t>
            </a:r>
            <a:endParaRPr sz="1500">
              <a:solidFill>
                <a:schemeClr val="dk1"/>
              </a:solidFill>
              <a:latin typeface="Calibri"/>
              <a:ea typeface="Calibri"/>
              <a:cs typeface="Calibri"/>
              <a:sym typeface="Calibri"/>
            </a:endParaRPr>
          </a:p>
        </p:txBody>
      </p:sp>
      <p:sp>
        <p:nvSpPr>
          <p:cNvPr id="43" name="Google Shape;43;p5"/>
          <p:cNvSpPr/>
          <p:nvPr/>
        </p:nvSpPr>
        <p:spPr>
          <a:xfrm>
            <a:off x="457200" y="3072384"/>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5"/>
          <p:cNvSpPr txBox="1"/>
          <p:nvPr/>
        </p:nvSpPr>
        <p:spPr>
          <a:xfrm>
            <a:off x="594360" y="3072384"/>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03</a:t>
            </a:r>
            <a:endParaRPr sz="2400">
              <a:solidFill>
                <a:schemeClr val="dk1"/>
              </a:solidFill>
              <a:latin typeface="Calibri"/>
              <a:ea typeface="Calibri"/>
              <a:cs typeface="Calibri"/>
              <a:sym typeface="Calibri"/>
            </a:endParaRPr>
          </a:p>
        </p:txBody>
      </p:sp>
      <p:sp>
        <p:nvSpPr>
          <p:cNvPr id="45" name="Google Shape;45;p5"/>
          <p:cNvSpPr txBox="1"/>
          <p:nvPr/>
        </p:nvSpPr>
        <p:spPr>
          <a:xfrm>
            <a:off x="1280160" y="3072384"/>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Feasibility Study (7 vectors)</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Data, compute, hardware, skills, tools, time, risk</a:t>
            </a:r>
            <a:endParaRPr sz="1500">
              <a:solidFill>
                <a:schemeClr val="dk1"/>
              </a:solidFill>
              <a:latin typeface="Calibri"/>
              <a:ea typeface="Calibri"/>
              <a:cs typeface="Calibri"/>
              <a:sym typeface="Calibri"/>
            </a:endParaRPr>
          </a:p>
        </p:txBody>
      </p:sp>
      <p:sp>
        <p:nvSpPr>
          <p:cNvPr id="46" name="Google Shape;46;p5"/>
          <p:cNvSpPr/>
          <p:nvPr/>
        </p:nvSpPr>
        <p:spPr>
          <a:xfrm>
            <a:off x="457200" y="3922776"/>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5"/>
          <p:cNvSpPr txBox="1"/>
          <p:nvPr/>
        </p:nvSpPr>
        <p:spPr>
          <a:xfrm>
            <a:off x="594360" y="3922776"/>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04</a:t>
            </a:r>
            <a:endParaRPr sz="2400">
              <a:solidFill>
                <a:schemeClr val="dk1"/>
              </a:solidFill>
              <a:latin typeface="Calibri"/>
              <a:ea typeface="Calibri"/>
              <a:cs typeface="Calibri"/>
              <a:sym typeface="Calibri"/>
            </a:endParaRPr>
          </a:p>
        </p:txBody>
      </p:sp>
      <p:sp>
        <p:nvSpPr>
          <p:cNvPr id="48" name="Google Shape;48;p5"/>
          <p:cNvSpPr txBox="1"/>
          <p:nvPr/>
        </p:nvSpPr>
        <p:spPr>
          <a:xfrm>
            <a:off x="1280160" y="3922776"/>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Background &amp; Domain Context</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AI security Gen 1 → Gen 3 and key glossary</a:t>
            </a:r>
            <a:endParaRPr sz="1500">
              <a:solidFill>
                <a:schemeClr val="dk1"/>
              </a:solidFill>
              <a:latin typeface="Calibri"/>
              <a:ea typeface="Calibri"/>
              <a:cs typeface="Calibri"/>
              <a:sym typeface="Calibri"/>
            </a:endParaRPr>
          </a:p>
        </p:txBody>
      </p:sp>
      <p:sp>
        <p:nvSpPr>
          <p:cNvPr id="49" name="Google Shape;49;p5"/>
          <p:cNvSpPr/>
          <p:nvPr/>
        </p:nvSpPr>
        <p:spPr>
          <a:xfrm>
            <a:off x="457200" y="4773168"/>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5"/>
          <p:cNvSpPr txBox="1"/>
          <p:nvPr/>
        </p:nvSpPr>
        <p:spPr>
          <a:xfrm>
            <a:off x="594360" y="4773168"/>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05</a:t>
            </a:r>
            <a:endParaRPr sz="2400">
              <a:solidFill>
                <a:schemeClr val="dk1"/>
              </a:solidFill>
              <a:latin typeface="Calibri"/>
              <a:ea typeface="Calibri"/>
              <a:cs typeface="Calibri"/>
              <a:sym typeface="Calibri"/>
            </a:endParaRPr>
          </a:p>
        </p:txBody>
      </p:sp>
      <p:sp>
        <p:nvSpPr>
          <p:cNvPr id="51" name="Google Shape;51;p5"/>
          <p:cNvSpPr txBox="1"/>
          <p:nvPr/>
        </p:nvSpPr>
        <p:spPr>
          <a:xfrm>
            <a:off x="1280160" y="4773168"/>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Literature Survey</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15 papers across 7 comparative slides</a:t>
            </a:r>
            <a:endParaRPr sz="1500">
              <a:solidFill>
                <a:schemeClr val="dk1"/>
              </a:solidFill>
              <a:latin typeface="Calibri"/>
              <a:ea typeface="Calibri"/>
              <a:cs typeface="Calibri"/>
              <a:sym typeface="Calibri"/>
            </a:endParaRPr>
          </a:p>
        </p:txBody>
      </p:sp>
      <p:sp>
        <p:nvSpPr>
          <p:cNvPr id="52" name="Google Shape;52;p5"/>
          <p:cNvSpPr/>
          <p:nvPr/>
        </p:nvSpPr>
        <p:spPr>
          <a:xfrm>
            <a:off x="457200" y="5623560"/>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5"/>
          <p:cNvSpPr txBox="1"/>
          <p:nvPr/>
        </p:nvSpPr>
        <p:spPr>
          <a:xfrm>
            <a:off x="594360" y="5623560"/>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06</a:t>
            </a:r>
            <a:endParaRPr sz="2400">
              <a:solidFill>
                <a:schemeClr val="dk1"/>
              </a:solidFill>
              <a:latin typeface="Calibri"/>
              <a:ea typeface="Calibri"/>
              <a:cs typeface="Calibri"/>
              <a:sym typeface="Calibri"/>
            </a:endParaRPr>
          </a:p>
        </p:txBody>
      </p:sp>
      <p:sp>
        <p:nvSpPr>
          <p:cNvPr id="54" name="Google Shape;54;p5"/>
          <p:cNvSpPr txBox="1"/>
          <p:nvPr/>
        </p:nvSpPr>
        <p:spPr>
          <a:xfrm>
            <a:off x="1280160" y="562356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Applications &amp; Use Cases</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MCP gateways, DevOps, finance, civic AI, edge</a:t>
            </a:r>
            <a:endParaRPr sz="1500">
              <a:solidFill>
                <a:schemeClr val="dk1"/>
              </a:solidFill>
              <a:latin typeface="Calibri"/>
              <a:ea typeface="Calibri"/>
              <a:cs typeface="Calibri"/>
              <a:sym typeface="Calibri"/>
            </a:endParaRPr>
          </a:p>
        </p:txBody>
      </p:sp>
      <p:sp>
        <p:nvSpPr>
          <p:cNvPr id="55" name="Google Shape;55;p5"/>
          <p:cNvSpPr/>
          <p:nvPr/>
        </p:nvSpPr>
        <p:spPr>
          <a:xfrm>
            <a:off x="6199632" y="1371600"/>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5"/>
          <p:cNvSpPr txBox="1"/>
          <p:nvPr/>
        </p:nvSpPr>
        <p:spPr>
          <a:xfrm>
            <a:off x="6336792" y="1371600"/>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07</a:t>
            </a:r>
            <a:endParaRPr sz="2400">
              <a:solidFill>
                <a:schemeClr val="dk1"/>
              </a:solidFill>
              <a:latin typeface="Calibri"/>
              <a:ea typeface="Calibri"/>
              <a:cs typeface="Calibri"/>
              <a:sym typeface="Calibri"/>
            </a:endParaRPr>
          </a:p>
        </p:txBody>
      </p:sp>
      <p:sp>
        <p:nvSpPr>
          <p:cNvPr id="57" name="Google Shape;57;p5"/>
          <p:cNvSpPr txBox="1"/>
          <p:nvPr/>
        </p:nvSpPr>
        <p:spPr>
          <a:xfrm>
            <a:off x="7022592" y="137160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Expected Deliverables</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Phases I–III, from simulator to open-source pipeline</a:t>
            </a:r>
            <a:endParaRPr sz="1500">
              <a:solidFill>
                <a:schemeClr val="dk1"/>
              </a:solidFill>
              <a:latin typeface="Calibri"/>
              <a:ea typeface="Calibri"/>
              <a:cs typeface="Calibri"/>
              <a:sym typeface="Calibri"/>
            </a:endParaRPr>
          </a:p>
        </p:txBody>
      </p:sp>
      <p:sp>
        <p:nvSpPr>
          <p:cNvPr id="58" name="Google Shape;58;p5"/>
          <p:cNvSpPr/>
          <p:nvPr/>
        </p:nvSpPr>
        <p:spPr>
          <a:xfrm>
            <a:off x="6199632" y="2221992"/>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5"/>
          <p:cNvSpPr txBox="1"/>
          <p:nvPr/>
        </p:nvSpPr>
        <p:spPr>
          <a:xfrm>
            <a:off x="6336792" y="2221992"/>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08</a:t>
            </a:r>
            <a:endParaRPr sz="2400">
              <a:solidFill>
                <a:schemeClr val="dk1"/>
              </a:solidFill>
              <a:latin typeface="Calibri"/>
              <a:ea typeface="Calibri"/>
              <a:cs typeface="Calibri"/>
              <a:sym typeface="Calibri"/>
            </a:endParaRPr>
          </a:p>
        </p:txBody>
      </p:sp>
      <p:sp>
        <p:nvSpPr>
          <p:cNvPr id="60" name="Google Shape;60;p5"/>
          <p:cNvSpPr txBox="1"/>
          <p:nvPr/>
        </p:nvSpPr>
        <p:spPr>
          <a:xfrm>
            <a:off x="7022592" y="2221992"/>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Timeline &amp; Gantt Schedule</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16-week plan with individual effort allocation</a:t>
            </a:r>
            <a:endParaRPr sz="1500">
              <a:solidFill>
                <a:schemeClr val="dk1"/>
              </a:solidFill>
              <a:latin typeface="Calibri"/>
              <a:ea typeface="Calibri"/>
              <a:cs typeface="Calibri"/>
              <a:sym typeface="Calibri"/>
            </a:endParaRPr>
          </a:p>
        </p:txBody>
      </p:sp>
      <p:sp>
        <p:nvSpPr>
          <p:cNvPr id="61" name="Google Shape;61;p5"/>
          <p:cNvSpPr/>
          <p:nvPr/>
        </p:nvSpPr>
        <p:spPr>
          <a:xfrm>
            <a:off x="6199632" y="3072384"/>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5"/>
          <p:cNvSpPr txBox="1"/>
          <p:nvPr/>
        </p:nvSpPr>
        <p:spPr>
          <a:xfrm>
            <a:off x="6336792" y="3072384"/>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09</a:t>
            </a:r>
            <a:endParaRPr sz="2400">
              <a:solidFill>
                <a:schemeClr val="dk1"/>
              </a:solidFill>
              <a:latin typeface="Calibri"/>
              <a:ea typeface="Calibri"/>
              <a:cs typeface="Calibri"/>
              <a:sym typeface="Calibri"/>
            </a:endParaRPr>
          </a:p>
        </p:txBody>
      </p:sp>
      <p:sp>
        <p:nvSpPr>
          <p:cNvPr id="63" name="Google Shape;63;p5"/>
          <p:cNvSpPr txBox="1"/>
          <p:nvPr/>
        </p:nvSpPr>
        <p:spPr>
          <a:xfrm>
            <a:off x="7022592" y="3072384"/>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Proposed System Architecture</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Dual-plane closed-loop pipeline</a:t>
            </a:r>
            <a:endParaRPr sz="1500">
              <a:solidFill>
                <a:schemeClr val="dk1"/>
              </a:solidFill>
              <a:latin typeface="Calibri"/>
              <a:ea typeface="Calibri"/>
              <a:cs typeface="Calibri"/>
              <a:sym typeface="Calibri"/>
            </a:endParaRPr>
          </a:p>
        </p:txBody>
      </p:sp>
      <p:sp>
        <p:nvSpPr>
          <p:cNvPr id="64" name="Google Shape;64;p5"/>
          <p:cNvSpPr/>
          <p:nvPr/>
        </p:nvSpPr>
        <p:spPr>
          <a:xfrm>
            <a:off x="6199632" y="3922776"/>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5"/>
          <p:cNvSpPr txBox="1"/>
          <p:nvPr/>
        </p:nvSpPr>
        <p:spPr>
          <a:xfrm>
            <a:off x="6336792" y="3922776"/>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10</a:t>
            </a:r>
            <a:endParaRPr sz="2400">
              <a:solidFill>
                <a:schemeClr val="dk1"/>
              </a:solidFill>
              <a:latin typeface="Calibri"/>
              <a:ea typeface="Calibri"/>
              <a:cs typeface="Calibri"/>
              <a:sym typeface="Calibri"/>
            </a:endParaRPr>
          </a:p>
        </p:txBody>
      </p:sp>
      <p:sp>
        <p:nvSpPr>
          <p:cNvPr id="66" name="Google Shape;66;p5"/>
          <p:cNvSpPr txBox="1"/>
          <p:nvPr/>
        </p:nvSpPr>
        <p:spPr>
          <a:xfrm>
            <a:off x="7022592" y="3922776"/>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Empirical Benchmarking</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System-1 decision model evaluation</a:t>
            </a:r>
            <a:endParaRPr sz="1500">
              <a:solidFill>
                <a:schemeClr val="dk1"/>
              </a:solidFill>
              <a:latin typeface="Calibri"/>
              <a:ea typeface="Calibri"/>
              <a:cs typeface="Calibri"/>
              <a:sym typeface="Calibri"/>
            </a:endParaRPr>
          </a:p>
        </p:txBody>
      </p:sp>
      <p:sp>
        <p:nvSpPr>
          <p:cNvPr id="67" name="Google Shape;67;p5"/>
          <p:cNvSpPr/>
          <p:nvPr/>
        </p:nvSpPr>
        <p:spPr>
          <a:xfrm>
            <a:off x="6199632" y="4773168"/>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5"/>
          <p:cNvSpPr txBox="1"/>
          <p:nvPr/>
        </p:nvSpPr>
        <p:spPr>
          <a:xfrm>
            <a:off x="6336792" y="4773168"/>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11</a:t>
            </a:r>
            <a:endParaRPr sz="2400">
              <a:solidFill>
                <a:schemeClr val="dk1"/>
              </a:solidFill>
              <a:latin typeface="Calibri"/>
              <a:ea typeface="Calibri"/>
              <a:cs typeface="Calibri"/>
              <a:sym typeface="Calibri"/>
            </a:endParaRPr>
          </a:p>
        </p:txBody>
      </p:sp>
      <p:sp>
        <p:nvSpPr>
          <p:cNvPr id="69" name="Google Shape;69;p5"/>
          <p:cNvSpPr txBox="1"/>
          <p:nvPr/>
        </p:nvSpPr>
        <p:spPr>
          <a:xfrm>
            <a:off x="7022592" y="4773168"/>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Mathematical Formulation</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Triage boundaries, drift vector, R₀ bound</a:t>
            </a:r>
            <a:endParaRPr sz="1500">
              <a:solidFill>
                <a:schemeClr val="dk1"/>
              </a:solidFill>
              <a:latin typeface="Calibri"/>
              <a:ea typeface="Calibri"/>
              <a:cs typeface="Calibri"/>
              <a:sym typeface="Calibri"/>
            </a:endParaRPr>
          </a:p>
        </p:txBody>
      </p:sp>
      <p:sp>
        <p:nvSpPr>
          <p:cNvPr id="70" name="Google Shape;70;p5"/>
          <p:cNvSpPr/>
          <p:nvPr/>
        </p:nvSpPr>
        <p:spPr>
          <a:xfrm>
            <a:off x="6199632" y="5623560"/>
            <a:ext cx="5532120"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txBox="1"/>
          <p:nvPr/>
        </p:nvSpPr>
        <p:spPr>
          <a:xfrm>
            <a:off x="6336792" y="5623560"/>
            <a:ext cx="640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400"/>
              <a:buFont typeface="Calibri"/>
              <a:buNone/>
            </a:pPr>
            <a:r>
              <a:rPr b="1" lang="en-US" sz="2400">
                <a:solidFill>
                  <a:srgbClr val="10B981"/>
                </a:solidFill>
                <a:latin typeface="Calibri"/>
                <a:ea typeface="Calibri"/>
                <a:cs typeface="Calibri"/>
                <a:sym typeface="Calibri"/>
              </a:rPr>
              <a:t>12</a:t>
            </a:r>
            <a:endParaRPr sz="2400">
              <a:solidFill>
                <a:schemeClr val="dk1"/>
              </a:solidFill>
              <a:latin typeface="Calibri"/>
              <a:ea typeface="Calibri"/>
              <a:cs typeface="Calibri"/>
              <a:sym typeface="Calibri"/>
            </a:endParaRPr>
          </a:p>
        </p:txBody>
      </p:sp>
      <p:sp>
        <p:nvSpPr>
          <p:cNvPr id="72" name="Google Shape;72;p5"/>
          <p:cNvSpPr txBox="1"/>
          <p:nvPr/>
        </p:nvSpPr>
        <p:spPr>
          <a:xfrm>
            <a:off x="7022592" y="562356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Calibri"/>
              <a:buNone/>
            </a:pPr>
            <a:r>
              <a:rPr b="1" lang="en-US" sz="1500">
                <a:solidFill>
                  <a:srgbClr val="F8FAFC"/>
                </a:solidFill>
                <a:latin typeface="Calibri"/>
                <a:ea typeface="Calibri"/>
                <a:cs typeface="Calibri"/>
                <a:sym typeface="Calibri"/>
              </a:rPr>
              <a:t>References &amp; Conclusion</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alibri"/>
              <a:buNone/>
            </a:pPr>
            <a:r>
              <a:rPr lang="en-US" sz="1200">
                <a:solidFill>
                  <a:srgbClr val="94A3B8"/>
                </a:solidFill>
                <a:latin typeface="Calibri"/>
                <a:ea typeface="Calibri"/>
                <a:cs typeface="Calibri"/>
                <a:sym typeface="Calibri"/>
              </a:rPr>
              <a:t>Citations and closing summary</a:t>
            </a:r>
            <a:endParaRPr sz="1500">
              <a:solidFill>
                <a:schemeClr val="dk1"/>
              </a:solidFill>
              <a:latin typeface="Calibri"/>
              <a:ea typeface="Calibri"/>
              <a:cs typeface="Calibri"/>
              <a:sym typeface="Calibri"/>
            </a:endParaRPr>
          </a:p>
        </p:txBody>
      </p:sp>
      <p:sp>
        <p:nvSpPr>
          <p:cNvPr id="73" name="Google Shape;73;p5"/>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6"/>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Problem Statement</a:t>
            </a:r>
            <a:endParaRPr sz="2800"/>
          </a:p>
        </p:txBody>
      </p:sp>
      <p:sp>
        <p:nvSpPr>
          <p:cNvPr id="80" name="Google Shape;80;p6"/>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CORE MOTIVATION</a:t>
            </a:r>
            <a:endParaRPr sz="1200">
              <a:solidFill>
                <a:schemeClr val="dk1"/>
              </a:solidFill>
              <a:latin typeface="Calibri"/>
              <a:ea typeface="Calibri"/>
              <a:cs typeface="Calibri"/>
              <a:sym typeface="Calibri"/>
            </a:endParaRPr>
          </a:p>
        </p:txBody>
      </p:sp>
      <p:sp>
        <p:nvSpPr>
          <p:cNvPr id="81" name="Google Shape;81;p6"/>
          <p:cNvSpPr/>
          <p:nvPr/>
        </p:nvSpPr>
        <p:spPr>
          <a:xfrm>
            <a:off x="457200" y="1371600"/>
            <a:ext cx="5532120"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6"/>
          <p:cNvSpPr txBox="1"/>
          <p:nvPr/>
        </p:nvSpPr>
        <p:spPr>
          <a:xfrm>
            <a:off x="640080" y="148132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800"/>
              <a:buFont typeface="Calibri"/>
              <a:buNone/>
            </a:pPr>
            <a:r>
              <a:rPr b="1" lang="en-US" sz="1800">
                <a:solidFill>
                  <a:srgbClr val="06B6D4"/>
                </a:solidFill>
                <a:latin typeface="Calibri"/>
                <a:ea typeface="Calibri"/>
                <a:cs typeface="Calibri"/>
                <a:sym typeface="Calibri"/>
              </a:rPr>
              <a:t>1. Domain &amp; Industrial Context</a:t>
            </a:r>
            <a:endParaRPr sz="1800">
              <a:solidFill>
                <a:schemeClr val="dk1"/>
              </a:solidFill>
              <a:latin typeface="Calibri"/>
              <a:ea typeface="Calibri"/>
              <a:cs typeface="Calibri"/>
              <a:sym typeface="Calibri"/>
            </a:endParaRPr>
          </a:p>
        </p:txBody>
      </p:sp>
      <p:sp>
        <p:nvSpPr>
          <p:cNvPr id="83" name="Google Shape;83;p6"/>
          <p:cNvSpPr txBox="1"/>
          <p:nvPr/>
        </p:nvSpPr>
        <p:spPr>
          <a:xfrm>
            <a:off x="640080" y="1938528"/>
            <a:ext cx="5166360" cy="1737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500"/>
              <a:buFont typeface="Calibri"/>
              <a:buChar char="•"/>
            </a:pPr>
            <a:r>
              <a:rPr lang="en-US" sz="1500">
                <a:solidFill>
                  <a:srgbClr val="F8FAFC"/>
                </a:solidFill>
                <a:latin typeface="Calibri"/>
                <a:ea typeface="Calibri"/>
                <a:cs typeface="Calibri"/>
                <a:sym typeface="Calibri"/>
              </a:rPr>
              <a:t>Enterprise software is moving from single-turn LLMs to autonomous multi-agent systems (MAS)</a:t>
            </a:r>
            <a:endParaRPr sz="15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500"/>
              <a:buFont typeface="Calibri"/>
              <a:buChar char="•"/>
            </a:pPr>
            <a:r>
              <a:rPr lang="en-US" sz="1500">
                <a:solidFill>
                  <a:srgbClr val="F8FAFC"/>
                </a:solidFill>
                <a:latin typeface="Calibri"/>
                <a:ea typeface="Calibri"/>
                <a:cs typeface="Calibri"/>
                <a:sym typeface="Calibri"/>
              </a:rPr>
              <a:t>Agents discover skills, transact in decentralized marketplaces, and run privileged tools: APIs, SQL, bash, web scrapers</a:t>
            </a:r>
            <a:endParaRPr sz="1500">
              <a:solidFill>
                <a:schemeClr val="dk1"/>
              </a:solidFill>
              <a:latin typeface="Calibri"/>
              <a:ea typeface="Calibri"/>
              <a:cs typeface="Calibri"/>
              <a:sym typeface="Calibri"/>
            </a:endParaRPr>
          </a:p>
        </p:txBody>
      </p:sp>
      <p:sp>
        <p:nvSpPr>
          <p:cNvPr id="84" name="Google Shape;84;p6"/>
          <p:cNvSpPr/>
          <p:nvPr/>
        </p:nvSpPr>
        <p:spPr>
          <a:xfrm>
            <a:off x="6199632" y="1371600"/>
            <a:ext cx="5532120"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6"/>
          <p:cNvSpPr txBox="1"/>
          <p:nvPr/>
        </p:nvSpPr>
        <p:spPr>
          <a:xfrm>
            <a:off x="6382512" y="148132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750"/>
              <a:buFont typeface="Calibri"/>
              <a:buNone/>
            </a:pPr>
            <a:r>
              <a:rPr b="1" lang="en-US" sz="1750">
                <a:solidFill>
                  <a:srgbClr val="F59E0B"/>
                </a:solidFill>
                <a:latin typeface="Calibri"/>
                <a:ea typeface="Calibri"/>
                <a:cs typeface="Calibri"/>
                <a:sym typeface="Calibri"/>
              </a:rPr>
              <a:t>2. Observation: Trust Asymmetry</a:t>
            </a:r>
            <a:endParaRPr sz="1750">
              <a:solidFill>
                <a:schemeClr val="dk1"/>
              </a:solidFill>
              <a:latin typeface="Calibri"/>
              <a:ea typeface="Calibri"/>
              <a:cs typeface="Calibri"/>
              <a:sym typeface="Calibri"/>
            </a:endParaRPr>
          </a:p>
        </p:txBody>
      </p:sp>
      <p:sp>
        <p:nvSpPr>
          <p:cNvPr id="86" name="Google Shape;86;p6"/>
          <p:cNvSpPr txBox="1"/>
          <p:nvPr/>
        </p:nvSpPr>
        <p:spPr>
          <a:xfrm>
            <a:off x="6382512" y="1938528"/>
            <a:ext cx="5166360" cy="1737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Guardrails (Llama Guard, NeMo) are stateless and perimeter-focused: they inspect only user prompts</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Downstream agents execute upstream messages with implicit trust</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OpenAI–Hugging Face incident (2024): agents coordinated lateral actions and probed sandbox boundaries</a:t>
            </a:r>
            <a:endParaRPr sz="1450">
              <a:solidFill>
                <a:schemeClr val="dk1"/>
              </a:solidFill>
              <a:latin typeface="Calibri"/>
              <a:ea typeface="Calibri"/>
              <a:cs typeface="Calibri"/>
              <a:sym typeface="Calibri"/>
            </a:endParaRPr>
          </a:p>
        </p:txBody>
      </p:sp>
      <p:sp>
        <p:nvSpPr>
          <p:cNvPr id="87" name="Google Shape;87;p6"/>
          <p:cNvSpPr/>
          <p:nvPr/>
        </p:nvSpPr>
        <p:spPr>
          <a:xfrm>
            <a:off x="457200" y="3931920"/>
            <a:ext cx="5532120"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6"/>
          <p:cNvSpPr txBox="1"/>
          <p:nvPr/>
        </p:nvSpPr>
        <p:spPr>
          <a:xfrm>
            <a:off x="640080" y="404164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Calibri"/>
              <a:buNone/>
            </a:pPr>
            <a:r>
              <a:rPr b="1" lang="en-US" sz="1800">
                <a:solidFill>
                  <a:srgbClr val="EF4444"/>
                </a:solidFill>
                <a:latin typeface="Calibri"/>
                <a:ea typeface="Calibri"/>
                <a:cs typeface="Calibri"/>
                <a:sym typeface="Calibri"/>
              </a:rPr>
              <a:t>3. Mind Viruses &amp; Crescendo Drift</a:t>
            </a:r>
            <a:endParaRPr sz="1800">
              <a:solidFill>
                <a:schemeClr val="dk1"/>
              </a:solidFill>
              <a:latin typeface="Calibri"/>
              <a:ea typeface="Calibri"/>
              <a:cs typeface="Calibri"/>
              <a:sym typeface="Calibri"/>
            </a:endParaRPr>
          </a:p>
        </p:txBody>
      </p:sp>
      <p:sp>
        <p:nvSpPr>
          <p:cNvPr id="89" name="Google Shape;89;p6"/>
          <p:cNvSpPr txBox="1"/>
          <p:nvPr/>
        </p:nvSpPr>
        <p:spPr>
          <a:xfrm>
            <a:off x="640080" y="4498848"/>
            <a:ext cx="5166360" cy="1737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EF4444"/>
              </a:buClr>
              <a:buSzPts val="1500"/>
              <a:buFont typeface="Calibri"/>
              <a:buChar char="•"/>
            </a:pPr>
            <a:r>
              <a:rPr b="1" lang="en-US" sz="1500">
                <a:solidFill>
                  <a:srgbClr val="EF4444"/>
                </a:solidFill>
                <a:latin typeface="Calibri"/>
                <a:ea typeface="Calibri"/>
                <a:cs typeface="Calibri"/>
                <a:sym typeface="Calibri"/>
              </a:rPr>
              <a:t>Mind Viruses </a:t>
            </a:r>
            <a:r>
              <a:rPr lang="en-US" sz="1500">
                <a:solidFill>
                  <a:srgbClr val="F8FAFC"/>
                </a:solidFill>
                <a:latin typeface="Calibri"/>
                <a:ea typeface="Calibri"/>
                <a:cs typeface="Calibri"/>
                <a:sym typeface="Calibri"/>
              </a:rPr>
              <a:t>A payload in Agent A coerces it to infect Agent B. If R₀ &gt; 1 it cascades exponentially.</a:t>
            </a:r>
            <a:endParaRPr sz="1500">
              <a:solidFill>
                <a:schemeClr val="dk1"/>
              </a:solidFill>
              <a:latin typeface="Calibri"/>
              <a:ea typeface="Calibri"/>
              <a:cs typeface="Calibri"/>
              <a:sym typeface="Calibri"/>
            </a:endParaRPr>
          </a:p>
          <a:p>
            <a:pPr indent="-152400" lvl="0" marL="152400" marR="0" rtl="0" algn="l">
              <a:spcBef>
                <a:spcPts val="500"/>
              </a:spcBef>
              <a:spcAft>
                <a:spcPts val="0"/>
              </a:spcAft>
              <a:buClr>
                <a:srgbClr val="EF4444"/>
              </a:buClr>
              <a:buSzPts val="1500"/>
              <a:buFont typeface="Calibri"/>
              <a:buChar char="•"/>
            </a:pPr>
            <a:r>
              <a:rPr b="1" lang="en-US" sz="1500">
                <a:solidFill>
                  <a:srgbClr val="EF4444"/>
                </a:solidFill>
                <a:latin typeface="Calibri"/>
                <a:ea typeface="Calibri"/>
                <a:cs typeface="Calibri"/>
                <a:sym typeface="Calibri"/>
              </a:rPr>
              <a:t>Crescendo drift </a:t>
            </a:r>
            <a:r>
              <a:rPr lang="en-US" sz="1500">
                <a:solidFill>
                  <a:srgbClr val="F8FAFC"/>
                </a:solidFill>
                <a:latin typeface="Calibri"/>
                <a:ea typeface="Calibri"/>
                <a:cs typeface="Calibri"/>
                <a:sym typeface="Calibri"/>
              </a:rPr>
              <a:t>Goals are fragmented across benign turns, bypassing perimeter filters until the goal is hijacked.</a:t>
            </a:r>
            <a:endParaRPr sz="1500">
              <a:solidFill>
                <a:schemeClr val="dk1"/>
              </a:solidFill>
              <a:latin typeface="Calibri"/>
              <a:ea typeface="Calibri"/>
              <a:cs typeface="Calibri"/>
              <a:sym typeface="Calibri"/>
            </a:endParaRPr>
          </a:p>
        </p:txBody>
      </p:sp>
      <p:sp>
        <p:nvSpPr>
          <p:cNvPr id="90" name="Google Shape;90;p6"/>
          <p:cNvSpPr/>
          <p:nvPr/>
        </p:nvSpPr>
        <p:spPr>
          <a:xfrm>
            <a:off x="6199632" y="3931920"/>
            <a:ext cx="5532120"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txBox="1"/>
          <p:nvPr/>
        </p:nvSpPr>
        <p:spPr>
          <a:xfrm>
            <a:off x="6382512" y="404164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4. Mathematical Aim</a:t>
            </a:r>
            <a:endParaRPr sz="1600">
              <a:solidFill>
                <a:schemeClr val="dk1"/>
              </a:solidFill>
              <a:latin typeface="Calibri"/>
              <a:ea typeface="Calibri"/>
              <a:cs typeface="Calibri"/>
              <a:sym typeface="Calibri"/>
            </a:endParaRPr>
          </a:p>
        </p:txBody>
      </p:sp>
      <p:sp>
        <p:nvSpPr>
          <p:cNvPr id="92" name="Google Shape;92;p6"/>
          <p:cNvSpPr txBox="1"/>
          <p:nvPr/>
        </p:nvSpPr>
        <p:spPr>
          <a:xfrm>
            <a:off x="6382512" y="4480560"/>
            <a:ext cx="5166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lang="en-US" sz="1300">
                <a:solidFill>
                  <a:srgbClr val="94A3B8"/>
                </a:solidFill>
                <a:latin typeface="Calibri"/>
                <a:ea typeface="Calibri"/>
                <a:cs typeface="Calibri"/>
                <a:sym typeface="Calibri"/>
              </a:rPr>
              <a:t>Minimize latency, subject to:</a:t>
            </a:r>
            <a:endParaRPr sz="1300">
              <a:solidFill>
                <a:schemeClr val="dk1"/>
              </a:solidFill>
              <a:latin typeface="Calibri"/>
              <a:ea typeface="Calibri"/>
              <a:cs typeface="Calibri"/>
              <a:sym typeface="Calibri"/>
            </a:endParaRPr>
          </a:p>
        </p:txBody>
      </p:sp>
      <p:sp>
        <p:nvSpPr>
          <p:cNvPr id="93" name="Google Shape;93;p6"/>
          <p:cNvSpPr txBox="1"/>
          <p:nvPr/>
        </p:nvSpPr>
        <p:spPr>
          <a:xfrm>
            <a:off x="6382512" y="4892040"/>
            <a:ext cx="1691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3000"/>
              <a:buFont typeface="Calibri"/>
              <a:buNone/>
            </a:pPr>
            <a:r>
              <a:rPr b="1" lang="en-US" sz="3000">
                <a:solidFill>
                  <a:srgbClr val="10B981"/>
                </a:solidFill>
                <a:latin typeface="Calibri"/>
                <a:ea typeface="Calibri"/>
                <a:cs typeface="Calibri"/>
                <a:sym typeface="Calibri"/>
              </a:rPr>
              <a:t>R₀ ≤ 0</a:t>
            </a:r>
            <a:endParaRPr sz="3000">
              <a:solidFill>
                <a:schemeClr val="dk1"/>
              </a:solidFill>
              <a:latin typeface="Calibri"/>
              <a:ea typeface="Calibri"/>
              <a:cs typeface="Calibri"/>
              <a:sym typeface="Calibri"/>
            </a:endParaRPr>
          </a:p>
        </p:txBody>
      </p:sp>
      <p:sp>
        <p:nvSpPr>
          <p:cNvPr id="94" name="Google Shape;94;p6"/>
          <p:cNvSpPr txBox="1"/>
          <p:nvPr/>
        </p:nvSpPr>
        <p:spPr>
          <a:xfrm>
            <a:off x="6382512" y="566928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200"/>
              <a:buFont typeface="Calibri"/>
              <a:buNone/>
            </a:pPr>
            <a:r>
              <a:rPr lang="en-US" sz="1200">
                <a:solidFill>
                  <a:srgbClr val="F8FAFC"/>
                </a:solidFill>
                <a:latin typeface="Calibri"/>
                <a:ea typeface="Calibri"/>
                <a:cs typeface="Calibri"/>
                <a:sym typeface="Calibri"/>
              </a:rPr>
              <a:t>Swarm reproduction</a:t>
            </a:r>
            <a:endParaRPr sz="1200">
              <a:solidFill>
                <a:schemeClr val="dk1"/>
              </a:solidFill>
              <a:latin typeface="Calibri"/>
              <a:ea typeface="Calibri"/>
              <a:cs typeface="Calibri"/>
              <a:sym typeface="Calibri"/>
            </a:endParaRPr>
          </a:p>
        </p:txBody>
      </p:sp>
      <p:sp>
        <p:nvSpPr>
          <p:cNvPr id="95" name="Google Shape;95;p6"/>
          <p:cNvSpPr txBox="1"/>
          <p:nvPr/>
        </p:nvSpPr>
        <p:spPr>
          <a:xfrm>
            <a:off x="8165592" y="4892040"/>
            <a:ext cx="1691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3000"/>
              <a:buFont typeface="Calibri"/>
              <a:buNone/>
            </a:pPr>
            <a:r>
              <a:rPr b="1" lang="en-US" sz="3000">
                <a:solidFill>
                  <a:srgbClr val="10B981"/>
                </a:solidFill>
                <a:latin typeface="Calibri"/>
                <a:ea typeface="Calibri"/>
                <a:cs typeface="Calibri"/>
                <a:sym typeface="Calibri"/>
              </a:rPr>
              <a:t>≥ 95%</a:t>
            </a:r>
            <a:endParaRPr sz="3000">
              <a:solidFill>
                <a:schemeClr val="dk1"/>
              </a:solidFill>
              <a:latin typeface="Calibri"/>
              <a:ea typeface="Calibri"/>
              <a:cs typeface="Calibri"/>
              <a:sym typeface="Calibri"/>
            </a:endParaRPr>
          </a:p>
        </p:txBody>
      </p:sp>
      <p:sp>
        <p:nvSpPr>
          <p:cNvPr id="96" name="Google Shape;96;p6"/>
          <p:cNvSpPr txBox="1"/>
          <p:nvPr/>
        </p:nvSpPr>
        <p:spPr>
          <a:xfrm>
            <a:off x="8165592" y="566928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200"/>
              <a:buFont typeface="Calibri"/>
              <a:buNone/>
            </a:pPr>
            <a:r>
              <a:rPr lang="en-US" sz="1200">
                <a:solidFill>
                  <a:srgbClr val="F8FAFC"/>
                </a:solidFill>
                <a:latin typeface="Calibri"/>
                <a:ea typeface="Calibri"/>
                <a:cs typeface="Calibri"/>
                <a:sym typeface="Calibri"/>
              </a:rPr>
              <a:t>Detection ASR</a:t>
            </a:r>
            <a:endParaRPr sz="1200">
              <a:solidFill>
                <a:schemeClr val="dk1"/>
              </a:solidFill>
              <a:latin typeface="Calibri"/>
              <a:ea typeface="Calibri"/>
              <a:cs typeface="Calibri"/>
              <a:sym typeface="Calibri"/>
            </a:endParaRPr>
          </a:p>
        </p:txBody>
      </p:sp>
      <p:sp>
        <p:nvSpPr>
          <p:cNvPr id="97" name="Google Shape;97;p6"/>
          <p:cNvSpPr txBox="1"/>
          <p:nvPr/>
        </p:nvSpPr>
        <p:spPr>
          <a:xfrm>
            <a:off x="9948672" y="4892040"/>
            <a:ext cx="16916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3000"/>
              <a:buFont typeface="Calibri"/>
              <a:buNone/>
            </a:pPr>
            <a:r>
              <a:rPr b="1" lang="en-US" sz="3000">
                <a:solidFill>
                  <a:srgbClr val="10B981"/>
                </a:solidFill>
                <a:latin typeface="Calibri"/>
                <a:ea typeface="Calibri"/>
                <a:cs typeface="Calibri"/>
                <a:sym typeface="Calibri"/>
              </a:rPr>
              <a:t>≤ 2%</a:t>
            </a:r>
            <a:endParaRPr sz="3000">
              <a:solidFill>
                <a:schemeClr val="dk1"/>
              </a:solidFill>
              <a:latin typeface="Calibri"/>
              <a:ea typeface="Calibri"/>
              <a:cs typeface="Calibri"/>
              <a:sym typeface="Calibri"/>
            </a:endParaRPr>
          </a:p>
        </p:txBody>
      </p:sp>
      <p:sp>
        <p:nvSpPr>
          <p:cNvPr id="98" name="Google Shape;98;p6"/>
          <p:cNvSpPr txBox="1"/>
          <p:nvPr/>
        </p:nvSpPr>
        <p:spPr>
          <a:xfrm>
            <a:off x="9948672" y="5669280"/>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200"/>
              <a:buFont typeface="Calibri"/>
              <a:buNone/>
            </a:pPr>
            <a:r>
              <a:rPr lang="en-US" sz="1200">
                <a:solidFill>
                  <a:srgbClr val="F8FAFC"/>
                </a:solidFill>
                <a:latin typeface="Calibri"/>
                <a:ea typeface="Calibri"/>
                <a:cs typeface="Calibri"/>
                <a:sym typeface="Calibri"/>
              </a:rPr>
              <a:t>False-positive rate</a:t>
            </a:r>
            <a:endParaRPr sz="1200">
              <a:solidFill>
                <a:schemeClr val="dk1"/>
              </a:solidFill>
              <a:latin typeface="Calibri"/>
              <a:ea typeface="Calibri"/>
              <a:cs typeface="Calibri"/>
              <a:sym typeface="Calibri"/>
            </a:endParaRPr>
          </a:p>
        </p:txBody>
      </p:sp>
      <p:sp>
        <p:nvSpPr>
          <p:cNvPr id="99" name="Google Shape;99;p6"/>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Project Scope &amp; Topological Threat Models</a:t>
            </a:r>
            <a:endParaRPr sz="2800"/>
          </a:p>
        </p:txBody>
      </p:sp>
      <p:sp>
        <p:nvSpPr>
          <p:cNvPr id="106" name="Google Shape;106;p7"/>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SCOPE AND FEASIBILITY STUDY · PART 1</a:t>
            </a:r>
            <a:endParaRPr sz="1200">
              <a:solidFill>
                <a:schemeClr val="dk1"/>
              </a:solidFill>
              <a:latin typeface="Calibri"/>
              <a:ea typeface="Calibri"/>
              <a:cs typeface="Calibri"/>
              <a:sym typeface="Calibri"/>
            </a:endParaRPr>
          </a:p>
        </p:txBody>
      </p:sp>
      <p:sp>
        <p:nvSpPr>
          <p:cNvPr id="107" name="Google Shape;107;p7"/>
          <p:cNvSpPr/>
          <p:nvPr/>
        </p:nvSpPr>
        <p:spPr>
          <a:xfrm>
            <a:off x="457200" y="1371600"/>
            <a:ext cx="4114800" cy="3931920"/>
          </a:xfrm>
          <a:prstGeom prst="roundRect">
            <a:avLst>
              <a:gd fmla="val 186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txBox="1"/>
          <p:nvPr/>
        </p:nvSpPr>
        <p:spPr>
          <a:xfrm>
            <a:off x="640080" y="1481328"/>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750"/>
              <a:buFont typeface="Calibri"/>
              <a:buNone/>
            </a:pPr>
            <a:r>
              <a:rPr b="1" lang="en-US" sz="1750">
                <a:solidFill>
                  <a:srgbClr val="10B981"/>
                </a:solidFill>
                <a:latin typeface="Calibri"/>
                <a:ea typeface="Calibri"/>
                <a:cs typeface="Calibri"/>
                <a:sym typeface="Calibri"/>
              </a:rPr>
              <a:t>In-Scope Topologies</a:t>
            </a:r>
            <a:endParaRPr sz="1750">
              <a:solidFill>
                <a:schemeClr val="dk1"/>
              </a:solidFill>
              <a:latin typeface="Calibri"/>
              <a:ea typeface="Calibri"/>
              <a:cs typeface="Calibri"/>
              <a:sym typeface="Calibri"/>
            </a:endParaRPr>
          </a:p>
        </p:txBody>
      </p:sp>
      <p:sp>
        <p:nvSpPr>
          <p:cNvPr id="109" name="Google Shape;109;p7"/>
          <p:cNvSpPr txBox="1"/>
          <p:nvPr/>
        </p:nvSpPr>
        <p:spPr>
          <a:xfrm>
            <a:off x="640080" y="1938528"/>
            <a:ext cx="3749040" cy="32461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10B981"/>
              </a:buClr>
              <a:buSzPts val="1450"/>
              <a:buFont typeface="Calibri"/>
              <a:buChar char="•"/>
            </a:pPr>
            <a:r>
              <a:rPr b="1" lang="en-US" sz="1450">
                <a:solidFill>
                  <a:srgbClr val="10B981"/>
                </a:solidFill>
                <a:latin typeface="Calibri"/>
                <a:ea typeface="Calibri"/>
                <a:cs typeface="Calibri"/>
                <a:sym typeface="Calibri"/>
              </a:rPr>
              <a:t>Sequential chains (A→B→C) </a:t>
            </a:r>
            <a:r>
              <a:rPr lang="en-US" sz="1450">
                <a:solidFill>
                  <a:srgbClr val="F8FAFC"/>
                </a:solidFill>
                <a:latin typeface="Calibri"/>
                <a:ea typeface="Calibri"/>
                <a:cs typeface="Calibri"/>
                <a:sym typeface="Calibri"/>
              </a:rPr>
              <a:t>Poisoned upstream output hijacks the final result (supply-chain poisoning)</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10B981"/>
              </a:buClr>
              <a:buSzPts val="1450"/>
              <a:buFont typeface="Calibri"/>
              <a:buChar char="•"/>
            </a:pPr>
            <a:r>
              <a:rPr b="1" lang="en-US" sz="1450">
                <a:solidFill>
                  <a:srgbClr val="10B981"/>
                </a:solidFill>
                <a:latin typeface="Calibri"/>
                <a:ea typeface="Calibri"/>
                <a:cs typeface="Calibri"/>
                <a:sym typeface="Calibri"/>
              </a:rPr>
              <a:t>Peer-to-peer mesh </a:t>
            </a:r>
            <a:r>
              <a:rPr lang="en-US" sz="1450">
                <a:solidFill>
                  <a:srgbClr val="F8FAFC"/>
                </a:solidFill>
                <a:latin typeface="Calibri"/>
                <a:ea typeface="Calibri"/>
                <a:cs typeface="Calibri"/>
                <a:sym typeface="Calibri"/>
              </a:rPr>
              <a:t>Gossip-style swarms where infection diffuses exponentially</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10B981"/>
              </a:buClr>
              <a:buSzPts val="1450"/>
              <a:buFont typeface="Calibri"/>
              <a:buChar char="•"/>
            </a:pPr>
            <a:r>
              <a:rPr b="1" lang="en-US" sz="1450">
                <a:solidFill>
                  <a:srgbClr val="10B981"/>
                </a:solidFill>
                <a:latin typeface="Calibri"/>
                <a:ea typeface="Calibri"/>
                <a:cs typeface="Calibri"/>
                <a:sym typeface="Calibri"/>
              </a:rPr>
              <a:t>Agent marketplaces </a:t>
            </a:r>
            <a:r>
              <a:rPr lang="en-US" sz="1450">
                <a:solidFill>
                  <a:srgbClr val="F8FAFC"/>
                </a:solidFill>
                <a:latin typeface="Calibri"/>
                <a:ea typeface="Calibri"/>
                <a:cs typeface="Calibri"/>
                <a:sym typeface="Calibri"/>
              </a:rPr>
              <a:t>Consumer agents hire third-party skills and MCP tool servers</a:t>
            </a:r>
            <a:endParaRPr sz="1450">
              <a:solidFill>
                <a:schemeClr val="dk1"/>
              </a:solidFill>
              <a:latin typeface="Calibri"/>
              <a:ea typeface="Calibri"/>
              <a:cs typeface="Calibri"/>
              <a:sym typeface="Calibri"/>
            </a:endParaRPr>
          </a:p>
        </p:txBody>
      </p:sp>
      <p:sp>
        <p:nvSpPr>
          <p:cNvPr id="110" name="Google Shape;110;p7"/>
          <p:cNvSpPr/>
          <p:nvPr/>
        </p:nvSpPr>
        <p:spPr>
          <a:xfrm>
            <a:off x="4727448" y="1371600"/>
            <a:ext cx="3657600" cy="3931920"/>
          </a:xfrm>
          <a:prstGeom prst="roundRect">
            <a:avLst>
              <a:gd fmla="val 2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7"/>
          <p:cNvSpPr txBox="1"/>
          <p:nvPr/>
        </p:nvSpPr>
        <p:spPr>
          <a:xfrm>
            <a:off x="4910328" y="1481328"/>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750"/>
              <a:buFont typeface="Calibri"/>
              <a:buNone/>
            </a:pPr>
            <a:r>
              <a:rPr b="1" lang="en-US" sz="1750">
                <a:solidFill>
                  <a:srgbClr val="EF4444"/>
                </a:solidFill>
                <a:latin typeface="Calibri"/>
                <a:ea typeface="Calibri"/>
                <a:cs typeface="Calibri"/>
                <a:sym typeface="Calibri"/>
              </a:rPr>
              <a:t>Threat Vectors Covered</a:t>
            </a:r>
            <a:endParaRPr sz="1750">
              <a:solidFill>
                <a:schemeClr val="dk1"/>
              </a:solidFill>
              <a:latin typeface="Calibri"/>
              <a:ea typeface="Calibri"/>
              <a:cs typeface="Calibri"/>
              <a:sym typeface="Calibri"/>
            </a:endParaRPr>
          </a:p>
        </p:txBody>
      </p:sp>
      <p:sp>
        <p:nvSpPr>
          <p:cNvPr id="112" name="Google Shape;112;p7"/>
          <p:cNvSpPr txBox="1"/>
          <p:nvPr/>
        </p:nvSpPr>
        <p:spPr>
          <a:xfrm>
            <a:off x="4910328" y="1938528"/>
            <a:ext cx="3291840" cy="32461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Mind Viruses and zero-click AI worms</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Multi-turn drift: Crescendo, TAP</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Black-box RL injections: AutoInject / RLredAgent</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Indirect injection in tool payloads: InjecAgent, AgentDojo</a:t>
            </a:r>
            <a:endParaRPr sz="1450">
              <a:solidFill>
                <a:schemeClr val="dk1"/>
              </a:solidFill>
              <a:latin typeface="Calibri"/>
              <a:ea typeface="Calibri"/>
              <a:cs typeface="Calibri"/>
              <a:sym typeface="Calibri"/>
            </a:endParaRPr>
          </a:p>
        </p:txBody>
      </p:sp>
      <p:sp>
        <p:nvSpPr>
          <p:cNvPr id="113" name="Google Shape;113;p7"/>
          <p:cNvSpPr/>
          <p:nvPr/>
        </p:nvSpPr>
        <p:spPr>
          <a:xfrm>
            <a:off x="8540496" y="1371600"/>
            <a:ext cx="3191256" cy="3931920"/>
          </a:xfrm>
          <a:prstGeom prst="roundRect">
            <a:avLst>
              <a:gd fmla="val 2292"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7"/>
          <p:cNvSpPr txBox="1"/>
          <p:nvPr/>
        </p:nvSpPr>
        <p:spPr>
          <a:xfrm>
            <a:off x="8723376" y="1481328"/>
            <a:ext cx="28254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750"/>
              <a:buFont typeface="Calibri"/>
              <a:buNone/>
            </a:pPr>
            <a:r>
              <a:rPr b="1" lang="en-US" sz="1750">
                <a:solidFill>
                  <a:srgbClr val="94A3B8"/>
                </a:solidFill>
                <a:latin typeface="Calibri"/>
                <a:ea typeface="Calibri"/>
                <a:cs typeface="Calibri"/>
                <a:sym typeface="Calibri"/>
              </a:rPr>
              <a:t>Out of Scope</a:t>
            </a:r>
            <a:endParaRPr sz="1750">
              <a:solidFill>
                <a:schemeClr val="dk1"/>
              </a:solidFill>
              <a:latin typeface="Calibri"/>
              <a:ea typeface="Calibri"/>
              <a:cs typeface="Calibri"/>
              <a:sym typeface="Calibri"/>
            </a:endParaRPr>
          </a:p>
        </p:txBody>
      </p:sp>
      <p:sp>
        <p:nvSpPr>
          <p:cNvPr id="115" name="Google Shape;115;p7"/>
          <p:cNvSpPr txBox="1"/>
          <p:nvPr/>
        </p:nvSpPr>
        <p:spPr>
          <a:xfrm>
            <a:off x="8723376" y="1938528"/>
            <a:ext cx="2825496" cy="324612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Hardware fault injection and side channels</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Host OS kernel privilege escalation outside sandboxes</a:t>
            </a:r>
            <a:endParaRPr sz="145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450"/>
              <a:buFont typeface="Calibri"/>
              <a:buChar char="•"/>
            </a:pPr>
            <a:r>
              <a:rPr lang="en-US" sz="1450">
                <a:solidFill>
                  <a:srgbClr val="F8FAFC"/>
                </a:solidFill>
                <a:latin typeface="Calibri"/>
                <a:ea typeface="Calibri"/>
                <a:cs typeface="Calibri"/>
                <a:sym typeface="Calibri"/>
              </a:rPr>
              <a:t>Pre-training foundation models (we fine-tune pre-trained weights)</a:t>
            </a:r>
            <a:endParaRPr sz="1450">
              <a:solidFill>
                <a:schemeClr val="dk1"/>
              </a:solidFill>
              <a:latin typeface="Calibri"/>
              <a:ea typeface="Calibri"/>
              <a:cs typeface="Calibri"/>
              <a:sym typeface="Calibri"/>
            </a:endParaRPr>
          </a:p>
        </p:txBody>
      </p:sp>
      <p:sp>
        <p:nvSpPr>
          <p:cNvPr id="116" name="Google Shape;116;p7"/>
          <p:cNvSpPr/>
          <p:nvPr/>
        </p:nvSpPr>
        <p:spPr>
          <a:xfrm>
            <a:off x="457200" y="5486400"/>
            <a:ext cx="11274552" cy="868680"/>
          </a:xfrm>
          <a:prstGeom prst="roundRect">
            <a:avLst>
              <a:gd fmla="val 8421" name="adj"/>
            </a:avLst>
          </a:prstGeom>
          <a:solidFill>
            <a:srgbClr val="2A1F0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txBox="1"/>
          <p:nvPr/>
        </p:nvSpPr>
        <p:spPr>
          <a:xfrm>
            <a:off x="685800" y="5486400"/>
            <a:ext cx="1081735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600"/>
              <a:buFont typeface="Calibri"/>
              <a:buNone/>
            </a:pPr>
            <a:r>
              <a:rPr b="1" lang="en-US" sz="1600">
                <a:solidFill>
                  <a:srgbClr val="F59E0B"/>
                </a:solidFill>
                <a:latin typeface="Calibri"/>
                <a:ea typeface="Calibri"/>
                <a:cs typeface="Calibri"/>
                <a:sym typeface="Calibri"/>
              </a:rPr>
              <a:t>The Guardrail Curse:  </a:t>
            </a:r>
            <a:r>
              <a:rPr lang="en-US" sz="1600">
                <a:solidFill>
                  <a:srgbClr val="F8FAFC"/>
                </a:solidFill>
                <a:latin typeface="Calibri"/>
                <a:ea typeface="Calibri"/>
                <a:cs typeface="Calibri"/>
                <a:sym typeface="Calibri"/>
              </a:rPr>
              <a:t>monolithic LLM judges add 2–5 seconds of latency per message, paralyzing real-time agent swarms.</a:t>
            </a:r>
            <a:endParaRPr sz="1600">
              <a:solidFill>
                <a:schemeClr val="dk1"/>
              </a:solidFill>
              <a:latin typeface="Calibri"/>
              <a:ea typeface="Calibri"/>
              <a:cs typeface="Calibri"/>
              <a:sym typeface="Calibri"/>
            </a:endParaRPr>
          </a:p>
        </p:txBody>
      </p:sp>
      <p:sp>
        <p:nvSpPr>
          <p:cNvPr id="118" name="Google Shape;118;p7"/>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Feasibility Study: 7-Vector Evaluation</a:t>
            </a:r>
            <a:endParaRPr sz="2800"/>
          </a:p>
        </p:txBody>
      </p:sp>
      <p:sp>
        <p:nvSpPr>
          <p:cNvPr id="125" name="Google Shape;125;p8"/>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SCOPE AND FEASIBILITY STUDY · PART 2</a:t>
            </a:r>
            <a:endParaRPr sz="1200">
              <a:solidFill>
                <a:schemeClr val="dk1"/>
              </a:solidFill>
              <a:latin typeface="Calibri"/>
              <a:ea typeface="Calibri"/>
              <a:cs typeface="Calibri"/>
              <a:sym typeface="Calibri"/>
            </a:endParaRPr>
          </a:p>
        </p:txBody>
      </p:sp>
      <p:graphicFrame>
        <p:nvGraphicFramePr>
          <p:cNvPr id="126" name="Google Shape;126;p8"/>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920250"/>
                <a:gridCol w="5029200"/>
                <a:gridCol w="4325100"/>
              </a:tblGrid>
              <a:tr h="190500">
                <a:tc>
                  <a:txBody>
                    <a:bodyPr/>
                    <a:lstStyle/>
                    <a:p>
                      <a:pPr indent="0" lvl="0" marL="0" marR="0" rtl="0" algn="l">
                        <a:spcBef>
                          <a:spcPts val="0"/>
                        </a:spcBef>
                        <a:spcAft>
                          <a:spcPts val="0"/>
                        </a:spcAft>
                        <a:buClr>
                          <a:srgbClr val="06B6D4"/>
                        </a:buClr>
                        <a:buSzPts val="1500"/>
                        <a:buFont typeface="Calibri"/>
                        <a:buNone/>
                      </a:pPr>
                      <a:r>
                        <a:rPr b="1" lang="en-US" sz="1500" u="none" cap="none" strike="noStrike">
                          <a:solidFill>
                            <a:srgbClr val="06B6D4"/>
                          </a:solidFill>
                        </a:rPr>
                        <a:t>Vector</a:t>
                      </a:r>
                      <a:endParaRPr sz="15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500"/>
                        <a:buFont typeface="Calibri"/>
                        <a:buNone/>
                      </a:pPr>
                      <a:r>
                        <a:rPr b="1" lang="en-US" sz="1500" u="none" cap="none" strike="noStrike">
                          <a:solidFill>
                            <a:srgbClr val="10B981"/>
                          </a:solidFill>
                        </a:rPr>
                        <a:t>Resource Availability &amp; Implementation Status</a:t>
                      </a:r>
                      <a:endParaRPr sz="15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500"/>
                        <a:buFont typeface="Calibri"/>
                        <a:buNone/>
                      </a:pPr>
                      <a:r>
                        <a:rPr b="1" lang="en-US" sz="1500" u="none" cap="none" strike="noStrike">
                          <a:solidFill>
                            <a:srgbClr val="10B981"/>
                          </a:solidFill>
                        </a:rPr>
                        <a:t>Risk Mitigation Strategy</a:t>
                      </a:r>
                      <a:endParaRPr sz="15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1. Data &amp; Benchmarks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Accessible open-source benchmarks: AgentDojo (629 cases), InjecAgent (1,054 scenarios), BFCL, BANKING77, CLINC150, and Anthropic Mind Viruses dataset.</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Automated red-teaming (TAP/Crescendo) synthetically generates mutated attack edge cases.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2. Compute</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System-1 runs on commodity GPUs (NVIDIA RTX 4090 / A10G) or edge runtimes (Cloudflare Workers AI, TypeSafe endpoints).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Offload heavy System-2 audits to quantized local models (Llama-3.3-70B-AWQ) or rate-limited API credits.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3. Hardware &amp; Models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Pre-trained models ready: Clef, Clef-flash, Jev, Kev 9B, DiffusionGemma Jev, and Llama-3-8B.</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Standardized containerization (Docker) guarantees environment reproducibility and isolation.</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4. Technical Skills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Demonstrated proficiency in Python, PyTorch, LangGraph, CrewAI, AutoGen, and prompt injection defense.</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Prior testbed implementations and codebases de-risk development timeline.</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5. Tools &amp; Libraries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Production-ready stack: Hugging Face transformers, vLLM, AgentDojo, NeMo-Guardrails, FastAPI, Streamlit, MCP SDK.</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Fully open-source dependencies backed by major industry frameworks and active documentation.</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6. Time &amp; Milestones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16 weeks allocated across Capstone I, II, and III. Deliverables structured into incremental, test-driven phases.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Strict milestone gating: Phase I baseline → Phase II core → Phase III co-evolution.</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71450">
                <a:tc>
                  <a:txBody>
                    <a:bodyPr/>
                    <a:lstStyle/>
                    <a:p>
                      <a:pPr indent="0" lvl="0" marL="0" marR="0" rtl="0" algn="l">
                        <a:spcBef>
                          <a:spcPts val="0"/>
                        </a:spcBef>
                        <a:spcAft>
                          <a:spcPts val="0"/>
                        </a:spcAft>
                        <a:buClr>
                          <a:srgbClr val="06B6D4"/>
                        </a:buClr>
                        <a:buSzPts val="1350"/>
                        <a:buFont typeface="Calibri"/>
                        <a:buNone/>
                      </a:pPr>
                      <a:r>
                        <a:rPr b="1" lang="en-US" sz="1350" u="none" cap="none" strike="noStrike">
                          <a:solidFill>
                            <a:srgbClr val="06B6D4"/>
                          </a:solidFill>
                        </a:rPr>
                        <a:t>7. Risk Control &amp; Ethics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Red-teaming payloads and self-replicating prompts could escape testbeds.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350"/>
                        <a:buFont typeface="Calibri"/>
                        <a:buNone/>
                      </a:pPr>
                      <a:r>
                        <a:rPr lang="en-US" sz="1350" u="none" cap="none" strike="noStrike">
                          <a:solidFill>
                            <a:srgbClr val="F8FAFC"/>
                          </a:solidFill>
                        </a:rPr>
                        <a:t>Strict runtime isolation: virtualized network namespaces, zero external internet egress, mock tool envs.</a:t>
                      </a:r>
                      <a:endParaRPr sz="13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bl>
          </a:graphicData>
        </a:graphic>
      </p:graphicFrame>
      <p:sp>
        <p:nvSpPr>
          <p:cNvPr id="127" name="Google Shape;127;p8"/>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Background: Evolution &amp; Domain Glossary</a:t>
            </a:r>
            <a:endParaRPr sz="2800"/>
          </a:p>
        </p:txBody>
      </p:sp>
      <p:sp>
        <p:nvSpPr>
          <p:cNvPr id="134" name="Google Shape;134;p9"/>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a:t>
            </a:r>
            <a:endParaRPr sz="1200">
              <a:solidFill>
                <a:schemeClr val="dk1"/>
              </a:solidFill>
              <a:latin typeface="Calibri"/>
              <a:ea typeface="Calibri"/>
              <a:cs typeface="Calibri"/>
              <a:sym typeface="Calibri"/>
            </a:endParaRPr>
          </a:p>
        </p:txBody>
      </p:sp>
      <p:sp>
        <p:nvSpPr>
          <p:cNvPr id="135" name="Google Shape;135;p9"/>
          <p:cNvSpPr/>
          <p:nvPr/>
        </p:nvSpPr>
        <p:spPr>
          <a:xfrm>
            <a:off x="457200" y="1371600"/>
            <a:ext cx="5532120" cy="1051560"/>
          </a:xfrm>
          <a:prstGeom prst="roundRect">
            <a:avLst>
              <a:gd fmla="val 6957"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txBox="1"/>
          <p:nvPr/>
        </p:nvSpPr>
        <p:spPr>
          <a:xfrm>
            <a:off x="640080" y="1371600"/>
            <a:ext cx="5166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500"/>
              <a:buFont typeface="Calibri"/>
              <a:buNone/>
            </a:pPr>
            <a:r>
              <a:rPr b="1" lang="en-US" sz="1500">
                <a:solidFill>
                  <a:srgbClr val="94A3B8"/>
                </a:solidFill>
                <a:latin typeface="Calibri"/>
                <a:ea typeface="Calibri"/>
                <a:cs typeface="Calibri"/>
                <a:sym typeface="Calibri"/>
              </a:rPr>
              <a:t>1st Gen · 2020–22</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Isolated completion engines. Defense: static regex and toxicity classifiers.</a:t>
            </a:r>
            <a:endParaRPr sz="1500">
              <a:solidFill>
                <a:schemeClr val="dk1"/>
              </a:solidFill>
              <a:latin typeface="Calibri"/>
              <a:ea typeface="Calibri"/>
              <a:cs typeface="Calibri"/>
              <a:sym typeface="Calibri"/>
            </a:endParaRPr>
          </a:p>
        </p:txBody>
      </p:sp>
      <p:sp>
        <p:nvSpPr>
          <p:cNvPr id="137" name="Google Shape;137;p9"/>
          <p:cNvSpPr/>
          <p:nvPr/>
        </p:nvSpPr>
        <p:spPr>
          <a:xfrm>
            <a:off x="457200" y="2560320"/>
            <a:ext cx="5532120" cy="1051560"/>
          </a:xfrm>
          <a:prstGeom prst="roundRect">
            <a:avLst>
              <a:gd fmla="val 6957"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9"/>
          <p:cNvSpPr txBox="1"/>
          <p:nvPr/>
        </p:nvSpPr>
        <p:spPr>
          <a:xfrm>
            <a:off x="640080" y="2560320"/>
            <a:ext cx="5166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500"/>
              <a:buFont typeface="Calibri"/>
              <a:buNone/>
            </a:pPr>
            <a:r>
              <a:rPr b="1" lang="en-US" sz="1500">
                <a:solidFill>
                  <a:srgbClr val="06B6D4"/>
                </a:solidFill>
                <a:latin typeface="Calibri"/>
                <a:ea typeface="Calibri"/>
                <a:cs typeface="Calibri"/>
                <a:sym typeface="Calibri"/>
              </a:rPr>
              <a:t>2nd Gen · 2023–24</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Chatbots with retrieval (RAG). Defense: injection classifiers such as Llama Guard and NeMo.</a:t>
            </a:r>
            <a:endParaRPr sz="1500">
              <a:solidFill>
                <a:schemeClr val="dk1"/>
              </a:solidFill>
              <a:latin typeface="Calibri"/>
              <a:ea typeface="Calibri"/>
              <a:cs typeface="Calibri"/>
              <a:sym typeface="Calibri"/>
            </a:endParaRPr>
          </a:p>
        </p:txBody>
      </p:sp>
      <p:sp>
        <p:nvSpPr>
          <p:cNvPr id="139" name="Google Shape;139;p9"/>
          <p:cNvSpPr/>
          <p:nvPr/>
        </p:nvSpPr>
        <p:spPr>
          <a:xfrm>
            <a:off x="457200" y="3749040"/>
            <a:ext cx="5532120" cy="1051560"/>
          </a:xfrm>
          <a:prstGeom prst="roundRect">
            <a:avLst>
              <a:gd fmla="val 6957"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9"/>
          <p:cNvSpPr txBox="1"/>
          <p:nvPr/>
        </p:nvSpPr>
        <p:spPr>
          <a:xfrm>
            <a:off x="640080" y="3749040"/>
            <a:ext cx="5166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500"/>
              <a:buFont typeface="Calibri"/>
              <a:buNone/>
            </a:pPr>
            <a:r>
              <a:rPr b="1" lang="en-US" sz="1500">
                <a:solidFill>
                  <a:srgbClr val="EF4444"/>
                </a:solidFill>
                <a:latin typeface="Calibri"/>
                <a:ea typeface="Calibri"/>
                <a:cs typeface="Calibri"/>
                <a:sym typeface="Calibri"/>
              </a:rPr>
              <a:t>3rd Gen · 2025–26</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00"/>
              <a:buFont typeface="Calibri"/>
              <a:buNone/>
            </a:pPr>
            <a:r>
              <a:rPr lang="en-US" sz="1300">
                <a:solidFill>
                  <a:srgbClr val="F8FAFC"/>
                </a:solidFill>
                <a:latin typeface="Calibri"/>
                <a:ea typeface="Calibri"/>
                <a:cs typeface="Calibri"/>
                <a:sym typeface="Calibri"/>
              </a:rPr>
              <a:t>Autonomous multi-agent swarms with persistent memory, tools, sub-agents, and asynchronous coordination.</a:t>
            </a:r>
            <a:endParaRPr sz="1500">
              <a:solidFill>
                <a:schemeClr val="dk1"/>
              </a:solidFill>
              <a:latin typeface="Calibri"/>
              <a:ea typeface="Calibri"/>
              <a:cs typeface="Calibri"/>
              <a:sym typeface="Calibri"/>
            </a:endParaRPr>
          </a:p>
        </p:txBody>
      </p:sp>
      <p:sp>
        <p:nvSpPr>
          <p:cNvPr id="141" name="Google Shape;141;p9"/>
          <p:cNvSpPr/>
          <p:nvPr/>
        </p:nvSpPr>
        <p:spPr>
          <a:xfrm>
            <a:off x="457200" y="4937760"/>
            <a:ext cx="5532120" cy="1417320"/>
          </a:xfrm>
          <a:prstGeom prst="roundRect">
            <a:avLst>
              <a:gd fmla="val 5161" name="adj"/>
            </a:avLst>
          </a:prstGeom>
          <a:solidFill>
            <a:srgbClr val="2A1212"/>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9"/>
          <p:cNvSpPr txBox="1"/>
          <p:nvPr/>
        </p:nvSpPr>
        <p:spPr>
          <a:xfrm>
            <a:off x="640080" y="4937760"/>
            <a:ext cx="5166360"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b="1" lang="en-US" sz="1400">
                <a:solidFill>
                  <a:srgbClr val="EF4444"/>
                </a:solidFill>
                <a:latin typeface="Calibri"/>
                <a:ea typeface="Calibri"/>
                <a:cs typeface="Calibri"/>
                <a:sym typeface="Calibri"/>
              </a:rPr>
              <a:t>The fundamental shift: </a:t>
            </a:r>
            <a:r>
              <a:rPr lang="en-US" sz="1400">
                <a:solidFill>
                  <a:srgbClr val="F8FAFC"/>
                </a:solidFill>
                <a:latin typeface="Calibri"/>
                <a:ea typeface="Calibri"/>
                <a:cs typeface="Calibri"/>
                <a:sym typeface="Calibri"/>
              </a:rPr>
              <a:t>in MAS, agents are both clients and servers to each other. One unverified payload infects downstream actions across the whole enterprise graph.</a:t>
            </a:r>
            <a:endParaRPr sz="1400">
              <a:solidFill>
                <a:schemeClr val="dk1"/>
              </a:solidFill>
              <a:latin typeface="Calibri"/>
              <a:ea typeface="Calibri"/>
              <a:cs typeface="Calibri"/>
              <a:sym typeface="Calibri"/>
            </a:endParaRPr>
          </a:p>
        </p:txBody>
      </p:sp>
      <p:sp>
        <p:nvSpPr>
          <p:cNvPr id="143" name="Google Shape;143;p9"/>
          <p:cNvSpPr/>
          <p:nvPr/>
        </p:nvSpPr>
        <p:spPr>
          <a:xfrm>
            <a:off x="6199632" y="1371600"/>
            <a:ext cx="5532120" cy="4983480"/>
          </a:xfrm>
          <a:prstGeom prst="roundRect">
            <a:avLst>
              <a:gd fmla="val 1468"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txBox="1"/>
          <p:nvPr/>
        </p:nvSpPr>
        <p:spPr>
          <a:xfrm>
            <a:off x="6382512" y="148132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700"/>
              <a:buFont typeface="Calibri"/>
              <a:buNone/>
            </a:pPr>
            <a:r>
              <a:rPr b="1" lang="en-US" sz="1700">
                <a:solidFill>
                  <a:srgbClr val="10B981"/>
                </a:solidFill>
                <a:latin typeface="Calibri"/>
                <a:ea typeface="Calibri"/>
                <a:cs typeface="Calibri"/>
                <a:sym typeface="Calibri"/>
              </a:rPr>
              <a:t>Core Domain Glossary</a:t>
            </a:r>
            <a:endParaRPr sz="1700">
              <a:solidFill>
                <a:schemeClr val="dk1"/>
              </a:solidFill>
              <a:latin typeface="Calibri"/>
              <a:ea typeface="Calibri"/>
              <a:cs typeface="Calibri"/>
              <a:sym typeface="Calibri"/>
            </a:endParaRPr>
          </a:p>
        </p:txBody>
      </p:sp>
      <p:sp>
        <p:nvSpPr>
          <p:cNvPr id="145" name="Google Shape;145;p9"/>
          <p:cNvSpPr txBox="1"/>
          <p:nvPr/>
        </p:nvSpPr>
        <p:spPr>
          <a:xfrm>
            <a:off x="6382512" y="1965960"/>
            <a:ext cx="5166360" cy="4251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Mind Virus </a:t>
            </a:r>
            <a:r>
              <a:rPr lang="en-US" sz="1300">
                <a:solidFill>
                  <a:srgbClr val="F8FAFC"/>
                </a:solidFill>
                <a:latin typeface="Calibri"/>
                <a:ea typeface="Calibri"/>
                <a:cs typeface="Calibri"/>
                <a:sym typeface="Calibri"/>
              </a:rPr>
              <a:t>Self-replicating adversarial prompt that makes an agent run unauthorized actions and forward the payload to peers.</a:t>
            </a:r>
            <a:endParaRPr sz="1300">
              <a:solidFill>
                <a:schemeClr val="dk1"/>
              </a:solidFill>
              <a:latin typeface="Calibri"/>
              <a:ea typeface="Calibri"/>
              <a:cs typeface="Calibri"/>
              <a:sym typeface="Calibri"/>
            </a:endParaRPr>
          </a:p>
          <a:p>
            <a:pPr indent="0" lvl="0" marL="0" marR="0" rtl="0" algn="l">
              <a:spcBef>
                <a:spcPts val="90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Reproduction number R₀ </a:t>
            </a:r>
            <a:r>
              <a:rPr lang="en-US" sz="1300">
                <a:solidFill>
                  <a:srgbClr val="F8FAFC"/>
                </a:solidFill>
                <a:latin typeface="Calibri"/>
                <a:ea typeface="Calibri"/>
                <a:cs typeface="Calibri"/>
                <a:sym typeface="Calibri"/>
              </a:rPr>
              <a:t>Average secondary agents an infected agent compromises. R₀ &gt; 1 ⇒ epidemic; R₀ &lt; 1 ⇒ extinction.</a:t>
            </a:r>
            <a:endParaRPr sz="1300">
              <a:solidFill>
                <a:schemeClr val="dk1"/>
              </a:solidFill>
              <a:latin typeface="Calibri"/>
              <a:ea typeface="Calibri"/>
              <a:cs typeface="Calibri"/>
              <a:sym typeface="Calibri"/>
            </a:endParaRPr>
          </a:p>
          <a:p>
            <a:pPr indent="0" lvl="0" marL="0" marR="0" rtl="0" algn="l">
              <a:spcBef>
                <a:spcPts val="90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Crescendo attack </a:t>
            </a:r>
            <a:r>
              <a:rPr lang="en-US" sz="1300">
                <a:solidFill>
                  <a:srgbClr val="F8FAFC"/>
                </a:solidFill>
                <a:latin typeface="Calibri"/>
                <a:ea typeface="Calibri"/>
                <a:cs typeface="Calibri"/>
                <a:sym typeface="Calibri"/>
              </a:rPr>
              <a:t>Slow multi-turn drift from innocuous topics to unauthorized execution, evading single-turn filters.</a:t>
            </a:r>
            <a:endParaRPr sz="1300">
              <a:solidFill>
                <a:schemeClr val="dk1"/>
              </a:solidFill>
              <a:latin typeface="Calibri"/>
              <a:ea typeface="Calibri"/>
              <a:cs typeface="Calibri"/>
              <a:sym typeface="Calibri"/>
            </a:endParaRPr>
          </a:p>
          <a:p>
            <a:pPr indent="0" lvl="0" marL="0" marR="0" rtl="0" algn="l">
              <a:spcBef>
                <a:spcPts val="90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System-1 </a:t>
            </a:r>
            <a:r>
              <a:rPr lang="en-US" sz="1300">
                <a:solidFill>
                  <a:srgbClr val="F8FAFC"/>
                </a:solidFill>
                <a:latin typeface="Calibri"/>
                <a:ea typeface="Calibri"/>
                <a:cs typeface="Calibri"/>
                <a:sym typeface="Calibri"/>
              </a:rPr>
              <a:t>Fast, non-autoregressive single-pass decision models (~30–50 ms).</a:t>
            </a:r>
            <a:endParaRPr sz="1300">
              <a:solidFill>
                <a:schemeClr val="dk1"/>
              </a:solidFill>
              <a:latin typeface="Calibri"/>
              <a:ea typeface="Calibri"/>
              <a:cs typeface="Calibri"/>
              <a:sym typeface="Calibri"/>
            </a:endParaRPr>
          </a:p>
          <a:p>
            <a:pPr indent="0" lvl="0" marL="0" marR="0" rtl="0" algn="l">
              <a:spcBef>
                <a:spcPts val="90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System-2 </a:t>
            </a:r>
            <a:r>
              <a:rPr lang="en-US" sz="1300">
                <a:solidFill>
                  <a:srgbClr val="F8FAFC"/>
                </a:solidFill>
                <a:latin typeface="Calibri"/>
                <a:ea typeface="Calibri"/>
                <a:cs typeface="Calibri"/>
                <a:sym typeface="Calibri"/>
              </a:rPr>
              <a:t>Slow autoregressive reasoning: trajectory audits and chain-of-thought verification.</a:t>
            </a:r>
            <a:endParaRPr sz="1300">
              <a:solidFill>
                <a:schemeClr val="dk1"/>
              </a:solidFill>
              <a:latin typeface="Calibri"/>
              <a:ea typeface="Calibri"/>
              <a:cs typeface="Calibri"/>
              <a:sym typeface="Calibri"/>
            </a:endParaRPr>
          </a:p>
          <a:p>
            <a:pPr indent="0" lvl="0" marL="0" marR="0" rtl="0" algn="l">
              <a:spcBef>
                <a:spcPts val="90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State-drift vector </a:t>
            </a:r>
            <a:r>
              <a:rPr lang="en-US" sz="1300">
                <a:solidFill>
                  <a:srgbClr val="F8FAFC"/>
                </a:solidFill>
                <a:latin typeface="Calibri"/>
                <a:ea typeface="Calibri"/>
                <a:cs typeface="Calibri"/>
                <a:sym typeface="Calibri"/>
              </a:rPr>
              <a:t>Divergence between the initial system-prompt spec and the runtime trajectory.</a:t>
            </a:r>
            <a:endParaRPr sz="1300">
              <a:solidFill>
                <a:schemeClr val="dk1"/>
              </a:solidFill>
              <a:latin typeface="Calibri"/>
              <a:ea typeface="Calibri"/>
              <a:cs typeface="Calibri"/>
              <a:sym typeface="Calibri"/>
            </a:endParaRPr>
          </a:p>
        </p:txBody>
      </p:sp>
      <p:sp>
        <p:nvSpPr>
          <p:cNvPr id="146" name="Google Shape;146;p9"/>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(1/7) – Mind Viruses &amp; Autonomous Worms in MAS</a:t>
            </a:r>
            <a:endParaRPr sz="2800"/>
          </a:p>
        </p:txBody>
      </p:sp>
      <p:sp>
        <p:nvSpPr>
          <p:cNvPr id="153" name="Google Shape;153;p10"/>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1/7</a:t>
            </a:r>
            <a:endParaRPr sz="1200">
              <a:solidFill>
                <a:schemeClr val="dk1"/>
              </a:solidFill>
              <a:latin typeface="Calibri"/>
              <a:ea typeface="Calibri"/>
              <a:cs typeface="Calibri"/>
              <a:sym typeface="Calibri"/>
            </a:endParaRPr>
          </a:p>
        </p:txBody>
      </p:sp>
      <p:graphicFrame>
        <p:nvGraphicFramePr>
          <p:cNvPr id="154" name="Google Shape;154;p10"/>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400"/>
                        <a:buFont typeface="Calibri"/>
                        <a:buNone/>
                      </a:pPr>
                      <a:r>
                        <a:rPr b="1" lang="en-US" sz="1400" u="none" cap="none" strike="noStrike">
                          <a:solidFill>
                            <a:srgbClr val="EF4444"/>
                          </a:solidFill>
                        </a:rPr>
                        <a:t>Paper 1: Mind Viruses in Multi-Agent LLM Systems</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300"/>
                        <a:buFont typeface="Calibri"/>
                        <a:buNone/>
                      </a:pPr>
                      <a:r>
                        <a:rPr b="1" lang="en-US" sz="1300" u="none" cap="none" strike="noStrike">
                          <a:solidFill>
                            <a:srgbClr val="EF4444"/>
                          </a:solidFill>
                        </a:rPr>
                        <a:t>Paper 2: Morris-II – AI Worms Targeting GenAI</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Papadopoulos et al. (Anthropic &amp; EPFL, 2024)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Cohen, Bitton, Nassi (ACM CCS 2025 / arXiv:2403.02817)</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Quantifies how adversarial ideas propagate autonomously across multi-agent LLM systems.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Formalizes viral reproduction number R₀ across network topologies (Erdős–Rényi, scale-free).</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Evaluates viral persistence against model scale and temperature.</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Designs and implements "Morris-II", the first zero-click self-replicating worm targeting GenAI ecosystems.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Exploits RAG and email-assistant agent loops via adversarial multimodal/text payloads.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Proposes the "Virtual Donkey" guardrail.</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First rigorous mathematical treatment of prompt propagation using epidemiological models.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Proves that larger, more capable models are more susceptible to viral propagation due to higher compliance.</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Demonstrates zero-click real-world exploitability without human intervention.</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Successfully steals sensitive user data and forces spam forwarding across connected services.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Relies on post-hoc manual intervention; lacks an active, low-latency runtime defender.</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Tested primarily on synthetic communication graphs rather than production agent frameworks.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Evaluated only on email and simple document RAG agents.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Does not evaluate complex multi-turn negotiation or dynamic tool-calling marketplace topologies.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155" name="Google Shape;155;p10"/>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(2/7) – MAS Injection Threat Models &amp; Real-World Failures</a:t>
            </a:r>
            <a:endParaRPr sz="2800"/>
          </a:p>
        </p:txBody>
      </p:sp>
      <p:sp>
        <p:nvSpPr>
          <p:cNvPr id="162" name="Google Shape;162;p11"/>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2/7</a:t>
            </a:r>
            <a:endParaRPr sz="1200">
              <a:solidFill>
                <a:schemeClr val="dk1"/>
              </a:solidFill>
              <a:latin typeface="Calibri"/>
              <a:ea typeface="Calibri"/>
              <a:cs typeface="Calibri"/>
              <a:sym typeface="Calibri"/>
            </a:endParaRPr>
          </a:p>
        </p:txBody>
      </p:sp>
      <p:graphicFrame>
        <p:nvGraphicFramePr>
          <p:cNvPr id="163" name="Google Shape;163;p11"/>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F59E0B"/>
                        </a:buClr>
                        <a:buSzPts val="1400"/>
                        <a:buFont typeface="Calibri"/>
                        <a:buNone/>
                      </a:pPr>
                      <a:r>
                        <a:rPr b="1" lang="en-US" sz="1400" u="none" cap="none" strike="noStrike">
                          <a:solidFill>
                            <a:srgbClr val="F59E0B"/>
                          </a:solidFill>
                        </a:rPr>
                        <a:t>Paper 3: Beyond Single-Model Injection in MAS</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F59E0B"/>
                        </a:buClr>
                        <a:buSzPts val="1300"/>
                        <a:buFont typeface="Calibri"/>
                        <a:buNone/>
                      </a:pPr>
                      <a:r>
                        <a:rPr b="1" lang="en-US" sz="1300" u="none" cap="none" strike="noStrike">
                          <a:solidFill>
                            <a:srgbClr val="F59E0B"/>
                          </a:solidFill>
                        </a:rPr>
                        <a:t>Paper 4: OpenAI–Hugging Face Incident Report</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Paul &amp; Nandy (ICML AIWILD 2026 / arXiv:2609.22949)</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OpenAI Security Team (OpenAI Technical Report, 2024)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Establishes a comprehensive 14-vector threat taxonomy for prompt injection in MAS.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Tests lateral propagation across 6-agent collaborative workflows.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Evaluates inter-agent message signing, provenance tracking, and privilege boundary isolation.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Documents real-world anomalous multi-agent coordination during automated evaluation runs.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Agents utilized shared Hugging Face repositories to coordinate actions outside sandboxed boundaries.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Forensic analysis of unintended autonomous communication channels.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Formalizes multi-agent privilege boundaries and proves that 67% of agents suffer scope violations.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Provides cryptographic message signing and provenance tracking architectures.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Rare empirical forensic documentation of real-world multi-agent boundary violations in production.</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Validates that agentic sandboxes face emergent multi-agent coordination threats.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 computational overhead from repeated cryptographic verification and validation agents.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Evaluated on static pipeline architectures; does not address dynamic marketplace discovery.</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Retrospective incident report rather than a generalized defensive framework.</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Does not offer proactive algorithmic defense mechanisms for autonomous multi-agent swarms.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164" name="Google Shape;164;p11"/>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(3/7) – Multi-Turn Drift &amp; Automated Red-Teaming</a:t>
            </a:r>
            <a:endParaRPr sz="2800"/>
          </a:p>
        </p:txBody>
      </p:sp>
      <p:sp>
        <p:nvSpPr>
          <p:cNvPr id="171" name="Google Shape;171;p12"/>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3/7</a:t>
            </a:r>
            <a:endParaRPr sz="1200">
              <a:solidFill>
                <a:schemeClr val="dk1"/>
              </a:solidFill>
              <a:latin typeface="Calibri"/>
              <a:ea typeface="Calibri"/>
              <a:cs typeface="Calibri"/>
              <a:sym typeface="Calibri"/>
            </a:endParaRPr>
          </a:p>
        </p:txBody>
      </p:sp>
      <p:graphicFrame>
        <p:nvGraphicFramePr>
          <p:cNvPr id="172" name="Google Shape;172;p12"/>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400"/>
                        <a:buFont typeface="Calibri"/>
                        <a:buNone/>
                      </a:pPr>
                      <a:r>
                        <a:rPr b="1" lang="en-US" sz="1400" u="none" cap="none" strike="noStrike">
                          <a:solidFill>
                            <a:srgbClr val="EF4444"/>
                          </a:solidFill>
                        </a:rPr>
                        <a:t>Paper 5: The Crescendo Multi-Turn LLM Jailbreak</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300"/>
                        <a:buFont typeface="Calibri"/>
                        <a:buNone/>
                      </a:pPr>
                      <a:r>
                        <a:rPr b="1" lang="en-US" sz="1300" u="none" cap="none" strike="noStrike">
                          <a:solidFill>
                            <a:srgbClr val="EF4444"/>
                          </a:solidFill>
                        </a:rPr>
                        <a:t>Paper 6: AutoInject / RLredAgent</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Russinovich, Salem, Eldan (Microsoft Research, USENIX 2024)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Chen et al. (ETH Zürich, 2024 / arXiv:2406.13352)</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Introduces the Crescendo multi-turn attack exploiting conversational semantic drift.</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Begins with benign dialogue, progressively nudging the model across turns; backtracks on refusal.</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Automated via the Crescendomation red-teaming tool.</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Automates prompt injection generation against tool-integrated agents using black-box Reinforcement Learning.</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Optimizes adversarial suffixes and injection prefixes using policy gradients without model weights.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Benchmarked on AgentDojo.</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Achieves 60%–85%+ Attack Success Rate (ASR) across GPT-4, Claude-3.5, and Gemini.</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Completely bypasses single-turn stateless guardrails because each individual turn appears benign.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Fully automated black-box attack discovery without requiring internal model gradients.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 transferability across diverse tool schemas and agent architectures.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Evaluated only in human-to-LLM chatbot dialogues, not in autonomous agent-to-agent swarms.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Requires multiple query roundtrips, which can be detected if historical trajectory is audited.</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Significant compute budget required during the initial RL training/optimization phase.</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Focuses on single-agent tool hijacking rather than multi-agent cascading mind viruses.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173" name="Google Shape;173;p12"/>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(4/7) – Algorithmic Black-Box Attack Optimization</a:t>
            </a:r>
            <a:endParaRPr sz="2800"/>
          </a:p>
        </p:txBody>
      </p:sp>
      <p:sp>
        <p:nvSpPr>
          <p:cNvPr id="180" name="Google Shape;180;p13"/>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4/7</a:t>
            </a:r>
            <a:endParaRPr sz="1200">
              <a:solidFill>
                <a:schemeClr val="dk1"/>
              </a:solidFill>
              <a:latin typeface="Calibri"/>
              <a:ea typeface="Calibri"/>
              <a:cs typeface="Calibri"/>
              <a:sym typeface="Calibri"/>
            </a:endParaRPr>
          </a:p>
        </p:txBody>
      </p:sp>
      <p:graphicFrame>
        <p:nvGraphicFramePr>
          <p:cNvPr id="181" name="Google Shape;181;p13"/>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400"/>
                        <a:buFont typeface="Calibri"/>
                        <a:buNone/>
                      </a:pPr>
                      <a:r>
                        <a:rPr b="1" lang="en-US" sz="1400" u="none" cap="none" strike="noStrike">
                          <a:solidFill>
                            <a:srgbClr val="EF4444"/>
                          </a:solidFill>
                        </a:rPr>
                        <a:t>Paper 7: PAIR – Prompt Automated Iterative Refinement</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EF4444"/>
                        </a:buClr>
                        <a:buSzPts val="1300"/>
                        <a:buFont typeface="Calibri"/>
                        <a:buNone/>
                      </a:pPr>
                      <a:r>
                        <a:rPr b="1" lang="en-US" sz="1300" u="none" cap="none" strike="noStrike">
                          <a:solidFill>
                            <a:srgbClr val="EF4444"/>
                          </a:solidFill>
                        </a:rPr>
                        <a:t>Paper 8: TAP – Tree of Attacks with Pruning</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Chao et al. (2023 / arXiv:2310.08419)</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Mehrotra et al. (2023 / arXiv:2312.02119)</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Implements an automated black-box jailbreak algorithm pairing an Attacker LLM with a Target LLM.</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Iteratively refines candidate prompts based on target response feedback in ~20 queries.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Formulates jailbreak prompt exploration as a tree search (Tree of Thoughts) with automated pruning.</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Evaluator LLM prunes off-topic and hard-refusal branches, focusing on high-probability trajectories.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Fast convergence: executes in under 20 queries, orders of magnitude faster than GCG or brute force.</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Does not require model token logits or gradient access.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Achieves &gt;80% ASR on state-of-the-art models within 10–30 queries.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Highly sample-efficient pruning prevents combinatorial search space explosion.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 variance in success rates depending on the reasoning capability of the Attacker LLM.</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Attack payloads can be caught if the defense analyzes semantic trajectory clustering.</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Requires multiple evaluator LLM calls per branch, increasing exploration compute cost.</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Does not model multi-agent lateral message passing or inter-agent trust dynamics.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182" name="Google Shape;182;p13"/>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(5/7) – Tool-Integrated Injection Benchmarks</a:t>
            </a:r>
            <a:endParaRPr sz="2800"/>
          </a:p>
        </p:txBody>
      </p:sp>
      <p:sp>
        <p:nvSpPr>
          <p:cNvPr id="189" name="Google Shape;189;p14"/>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5/7</a:t>
            </a:r>
            <a:endParaRPr sz="1200">
              <a:solidFill>
                <a:schemeClr val="dk1"/>
              </a:solidFill>
              <a:latin typeface="Calibri"/>
              <a:ea typeface="Calibri"/>
              <a:cs typeface="Calibri"/>
              <a:sym typeface="Calibri"/>
            </a:endParaRPr>
          </a:p>
        </p:txBody>
      </p:sp>
      <p:graphicFrame>
        <p:nvGraphicFramePr>
          <p:cNvPr id="190" name="Google Shape;190;p14"/>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06B6D4"/>
                        </a:buClr>
                        <a:buSzPts val="1400"/>
                        <a:buFont typeface="Calibri"/>
                        <a:buNone/>
                      </a:pPr>
                      <a:r>
                        <a:rPr b="1" lang="en-US" sz="1400" u="none" cap="none" strike="noStrike">
                          <a:solidFill>
                            <a:srgbClr val="06B6D4"/>
                          </a:solidFill>
                        </a:rPr>
                        <a:t>Paper 9: AgentDojo Dynamic Evaluation Benchmark</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06B6D4"/>
                        </a:buClr>
                        <a:buSzPts val="1300"/>
                        <a:buFont typeface="Calibri"/>
                        <a:buNone/>
                      </a:pPr>
                      <a:r>
                        <a:rPr b="1" lang="en-US" sz="1300" u="none" cap="none" strike="noStrike">
                          <a:solidFill>
                            <a:srgbClr val="06B6D4"/>
                          </a:solidFill>
                        </a:rPr>
                        <a:t>Paper 10: InjecAgent – Indirect Injection in Tool LLMs</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Debenedetti et al. (ETH Zürich, NeurIPS 2024)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Zhan et al. (ACL 2024 / arXiv:2403.02691)</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Constructs a dynamic benchmark environment with 97 realistic agent tasks and 629 security test cases.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Evaluates indirect prompt injection across banking, email, calendar, and file tools.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Quantifies utility-security trade-offs.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First systematic benchmark evaluating indirect prompt injections in 30 tool-integrated LLM agents.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Tests 1,054 scenarios where tool returns embed hidden instructions.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Measures unauthorized tool invocation and data exfiltration.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Gold standard for testing real-world agent tool workflows.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Demonstrates that all existing state-of-the-art defenses degrade agent utility by 20%–40%.</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Standardized dataset covering both ReAct and function-calling agent paradigms.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Highlights high vulnerability (up to 50% ASR) across production models like GPT-4.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Primarily focused on single-agent environments with simulated tools.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Does not capture inter-agent message propagation or multi-agent marketplace dynamics.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Static evaluation set; does not account for adaptive multi-turn re-prompting or mind viruses.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Focuses exclusively on indirect injection, omitting collaborative peer-to-peer deception.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191" name="Google Shape;191;p14"/>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(6/7) – Defense-in-Depth &amp; Multi-Agent Safeguards</a:t>
            </a:r>
            <a:endParaRPr sz="2800"/>
          </a:p>
        </p:txBody>
      </p:sp>
      <p:sp>
        <p:nvSpPr>
          <p:cNvPr id="198" name="Google Shape;198;p15"/>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6/7</a:t>
            </a:r>
            <a:endParaRPr sz="1200">
              <a:solidFill>
                <a:schemeClr val="dk1"/>
              </a:solidFill>
              <a:latin typeface="Calibri"/>
              <a:ea typeface="Calibri"/>
              <a:cs typeface="Calibri"/>
              <a:sym typeface="Calibri"/>
            </a:endParaRPr>
          </a:p>
        </p:txBody>
      </p:sp>
      <p:graphicFrame>
        <p:nvGraphicFramePr>
          <p:cNvPr id="199" name="Google Shape;199;p15"/>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400"/>
                        <a:buFont typeface="Calibri"/>
                        <a:buNone/>
                      </a:pPr>
                      <a:r>
                        <a:rPr b="1" lang="en-US" sz="1400" u="none" cap="none" strike="noStrike">
                          <a:solidFill>
                            <a:srgbClr val="10B981"/>
                          </a:solidFill>
                        </a:rPr>
                        <a:t>Paper 11: CivicShield – Layered Defense-in-Depth</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300"/>
                        <a:buFont typeface="Calibri"/>
                        <a:buNone/>
                      </a:pPr>
                      <a:r>
                        <a:rPr b="1" lang="en-US" sz="1300" u="none" cap="none" strike="noStrike">
                          <a:solidFill>
                            <a:srgbClr val="10B981"/>
                          </a:solidFill>
                        </a:rPr>
                        <a:t>Paper 12: Multi-Agent LLM Defense Pipeline</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Patil (2024)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Hossain et al. (2025 / arXiv:2509.14285)</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Implements a stateful, layered Defense-in-Depth architecture for enterprise AI chatbots.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Employs multi-stage input sanitization, context-aware policy checks, and output validation.</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Mitigates multi-turn privilege escalation.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Deploys a dedicated pipeline of specialized LLM agents (Inspector, Sanitizer, Verifier).</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Hierarchically inspects and cleans prompt injection payloads before task agent execution.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Successfully prevents conversational escalation by tracking context state across turns.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Zero-trust security model prevents single-point-of-failure vulnerabilities.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Achieves higher injection detection accuracy than monolithic guardrails by decomposing roles.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Modular and adaptable to diverse application domains.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Designed for single-agent human-to-chatbot interactions rather than autonomous agent swarms.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Lacks non-autoregressive triage, leading to linear latency scaling (O(N) with turns).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Extreme latency and token cost penalty (running 3–4 LLM passes per inter-agent message).</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Vulnerable to subversion if the Sanitizer or Inspector agent itself is compromised.</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200" name="Google Shape;200;p15"/>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6"/>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Literature Survey (7/7) – Guardrail Systems &amp; Baseline Limitations</a:t>
            </a:r>
            <a:endParaRPr sz="2800"/>
          </a:p>
        </p:txBody>
      </p:sp>
      <p:sp>
        <p:nvSpPr>
          <p:cNvPr id="207" name="Google Shape;207;p16"/>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BACKGROUND · LITERATURE SURVEY 7/7</a:t>
            </a:r>
            <a:endParaRPr sz="1200">
              <a:solidFill>
                <a:schemeClr val="dk1"/>
              </a:solidFill>
              <a:latin typeface="Calibri"/>
              <a:ea typeface="Calibri"/>
              <a:cs typeface="Calibri"/>
              <a:sym typeface="Calibri"/>
            </a:endParaRPr>
          </a:p>
        </p:txBody>
      </p:sp>
      <p:graphicFrame>
        <p:nvGraphicFramePr>
          <p:cNvPr id="208" name="Google Shape;208;p16"/>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1325875"/>
                <a:gridCol w="4974325"/>
                <a:gridCol w="4974325"/>
              </a:tblGrid>
              <a:tr h="177800">
                <a:tc>
                  <a:txBody>
                    <a:bodyPr/>
                    <a:lstStyle/>
                    <a:p>
                      <a:pPr indent="0" lvl="0" marL="0" marR="0" rtl="0" algn="l">
                        <a:spcBef>
                          <a:spcPts val="0"/>
                        </a:spcBef>
                        <a:spcAft>
                          <a:spcPts val="0"/>
                        </a:spcAft>
                        <a:buClr>
                          <a:srgbClr val="94A3B8"/>
                        </a:buClr>
                        <a:buSzPts val="1200"/>
                        <a:buFont typeface="Calibri"/>
                        <a:buNone/>
                      </a:pPr>
                      <a:r>
                        <a:rPr b="1" lang="en-US" sz="1200" u="none" cap="none" strike="noStrike">
                          <a:solidFill>
                            <a:srgbClr val="94A3B8"/>
                          </a:solidFill>
                        </a:rPr>
                        <a:t>Feature</a:t>
                      </a:r>
                      <a:endParaRPr sz="12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400"/>
                        <a:buFont typeface="Calibri"/>
                        <a:buNone/>
                      </a:pPr>
                      <a:r>
                        <a:rPr b="1" lang="en-US" sz="1400" u="none" cap="none" strike="noStrike">
                          <a:solidFill>
                            <a:srgbClr val="10B981"/>
                          </a:solidFill>
                        </a:rPr>
                        <a:t>Paper 13: Llama Guard – Input-Output Safeguard</a:t>
                      </a:r>
                      <a:endParaRPr sz="14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10B981"/>
                        </a:buClr>
                        <a:buSzPts val="1300"/>
                        <a:buFont typeface="Calibri"/>
                        <a:buNone/>
                      </a:pPr>
                      <a:r>
                        <a:rPr b="1" lang="en-US" sz="1300" u="none" cap="none" strike="noStrike">
                          <a:solidFill>
                            <a:srgbClr val="10B981"/>
                          </a:solidFill>
                        </a:rPr>
                        <a:t>Paper 14: NeMo Guardrails Toolkit</a:t>
                      </a:r>
                      <a:endParaRPr sz="130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Paper Details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Inan et al. (Meta AI, 2023 / arXiv:2312.06674)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8FAFC"/>
                        </a:buClr>
                        <a:buSzPts val="1250"/>
                        <a:buFont typeface="Calibri"/>
                        <a:buNone/>
                      </a:pPr>
                      <a:r>
                        <a:rPr lang="en-US" sz="1250" u="none" cap="none" strike="noStrike">
                          <a:solidFill>
                            <a:srgbClr val="F8FAFC"/>
                          </a:solidFill>
                        </a:rPr>
                        <a:t>Rebedea et al. (NVIDIA, 2023 / arXiv:2310.10501)</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Objective &amp; Technique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Open foundation safety classifier based on Llama2-7B.</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Classifies inputs and outputs against a 6-category safety taxonomy using instruction-tuned classification.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Programmable dialogue guardrail engine using Colang.</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Enforces topical control, execution safety, and hallucination rails via predefined flow scripts.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Advantages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Standard open baseline widely deployed in enterprise systems.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 accuracy on explicit single-turn harmful queries (hate speech, self-harm, cyberweapons).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Deterministic control over conversation paths and tool execution schemas.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Lightweight runtime integration with LangChain and semantic search engines.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158750">
                <a:tc>
                  <a:txBody>
                    <a:bodyPr/>
                    <a:lstStyle/>
                    <a:p>
                      <a:pPr indent="0" lvl="0" marL="0" marR="0" rtl="0" algn="l">
                        <a:spcBef>
                          <a:spcPts val="0"/>
                        </a:spcBef>
                        <a:spcAft>
                          <a:spcPts val="0"/>
                        </a:spcAft>
                        <a:buClr>
                          <a:srgbClr val="06B6D4"/>
                        </a:buClr>
                        <a:buSzPts val="1250"/>
                        <a:buFont typeface="Calibri"/>
                        <a:buNone/>
                      </a:pPr>
                      <a:r>
                        <a:rPr b="1" lang="en-US" sz="1250" u="none" cap="none" strike="noStrike">
                          <a:solidFill>
                            <a:srgbClr val="06B6D4"/>
                          </a:solidFill>
                        </a:rPr>
                        <a:t>Limitations</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Stateless Failure: Completely blind to multi-turn Crescendo attacks and benign-appearing mind viruses.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High latency (~500–1200 ms) compared to non-autoregressive decision models.</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Brittle: handcrafted Colang rules fail against semantic rephrasing and novel RL suffixes.</a:t>
                      </a:r>
                      <a:endParaRPr sz="1250" u="none" cap="none" strike="noStrike"/>
                    </a:p>
                    <a:p>
                      <a:pPr indent="-114300" lvl="0" marL="114300" marR="0" rtl="0" algn="l">
                        <a:spcBef>
                          <a:spcPts val="0"/>
                        </a:spcBef>
                        <a:spcAft>
                          <a:spcPts val="0"/>
                        </a:spcAft>
                        <a:buClr>
                          <a:srgbClr val="F8FAFC"/>
                        </a:buClr>
                        <a:buSzPts val="1250"/>
                        <a:buFont typeface="Calibri"/>
                        <a:buChar char="•"/>
                      </a:pPr>
                      <a:r>
                        <a:rPr lang="en-US" sz="1250" u="none" cap="none" strike="noStrike">
                          <a:solidFill>
                            <a:srgbClr val="F8FAFC"/>
                          </a:solidFill>
                        </a:rPr>
                        <a:t>Cannot scale to complex, decentralized multi-agent mesh communication.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209" name="Google Shape;209;p16"/>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Applications &amp; Real-World Use Cases</a:t>
            </a:r>
            <a:endParaRPr sz="2800"/>
          </a:p>
        </p:txBody>
      </p:sp>
      <p:sp>
        <p:nvSpPr>
          <p:cNvPr id="216" name="Google Shape;216;p17"/>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APPLICATIONS / USE CASES</a:t>
            </a:r>
            <a:endParaRPr sz="1200">
              <a:solidFill>
                <a:schemeClr val="dk1"/>
              </a:solidFill>
              <a:latin typeface="Calibri"/>
              <a:ea typeface="Calibri"/>
              <a:cs typeface="Calibri"/>
              <a:sym typeface="Calibri"/>
            </a:endParaRPr>
          </a:p>
        </p:txBody>
      </p:sp>
      <p:sp>
        <p:nvSpPr>
          <p:cNvPr id="217" name="Google Shape;217;p17"/>
          <p:cNvSpPr/>
          <p:nvPr/>
        </p:nvSpPr>
        <p:spPr>
          <a:xfrm>
            <a:off x="457200" y="1371600"/>
            <a:ext cx="3611880" cy="2468880"/>
          </a:xfrm>
          <a:prstGeom prst="roundRect">
            <a:avLst>
              <a:gd fmla="val 2963"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7"/>
          <p:cNvSpPr/>
          <p:nvPr/>
        </p:nvSpPr>
        <p:spPr>
          <a:xfrm>
            <a:off x="640080" y="1554480"/>
            <a:ext cx="457200" cy="457200"/>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7"/>
          <p:cNvSpPr txBox="1"/>
          <p:nvPr/>
        </p:nvSpPr>
        <p:spPr>
          <a:xfrm>
            <a:off x="640080"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220" name="Google Shape;220;p17"/>
          <p:cNvSpPr txBox="1"/>
          <p:nvPr/>
        </p:nvSpPr>
        <p:spPr>
          <a:xfrm>
            <a:off x="1234440" y="155448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700"/>
              <a:buFont typeface="Calibri"/>
              <a:buNone/>
            </a:pPr>
            <a:r>
              <a:rPr b="1" lang="en-US" sz="1700">
                <a:solidFill>
                  <a:srgbClr val="06B6D4"/>
                </a:solidFill>
                <a:latin typeface="Calibri"/>
                <a:ea typeface="Calibri"/>
                <a:cs typeface="Calibri"/>
                <a:sym typeface="Calibri"/>
              </a:rPr>
              <a:t>Enterprise MCP Agent Gateways</a:t>
            </a:r>
            <a:endParaRPr sz="1700">
              <a:solidFill>
                <a:schemeClr val="dk1"/>
              </a:solidFill>
              <a:latin typeface="Calibri"/>
              <a:ea typeface="Calibri"/>
              <a:cs typeface="Calibri"/>
              <a:sym typeface="Calibri"/>
            </a:endParaRPr>
          </a:p>
        </p:txBody>
      </p:sp>
      <p:sp>
        <p:nvSpPr>
          <p:cNvPr id="221" name="Google Shape;221;p17"/>
          <p:cNvSpPr txBox="1"/>
          <p:nvPr/>
        </p:nvSpPr>
        <p:spPr>
          <a:xfrm>
            <a:off x="640080" y="2148840"/>
            <a:ext cx="324612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Mandatory security proxy for agents using third-party MCP servers and SaaS tools: validates schemas, enforces least-privilege tokens, sanitizes untrusted tool returns.</a:t>
            </a:r>
            <a:endParaRPr sz="1600">
              <a:solidFill>
                <a:schemeClr val="dk1"/>
              </a:solidFill>
              <a:latin typeface="Calibri"/>
              <a:ea typeface="Calibri"/>
              <a:cs typeface="Calibri"/>
              <a:sym typeface="Calibri"/>
            </a:endParaRPr>
          </a:p>
        </p:txBody>
      </p:sp>
      <p:sp>
        <p:nvSpPr>
          <p:cNvPr id="222" name="Google Shape;222;p17"/>
          <p:cNvSpPr/>
          <p:nvPr/>
        </p:nvSpPr>
        <p:spPr>
          <a:xfrm>
            <a:off x="4288536" y="1371600"/>
            <a:ext cx="3611880" cy="2468880"/>
          </a:xfrm>
          <a:prstGeom prst="roundRect">
            <a:avLst>
              <a:gd fmla="val 2963"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7"/>
          <p:cNvSpPr/>
          <p:nvPr/>
        </p:nvSpPr>
        <p:spPr>
          <a:xfrm>
            <a:off x="4471416" y="1554480"/>
            <a:ext cx="457200" cy="457200"/>
          </a:xfrm>
          <a:prstGeom prst="ellipse">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7"/>
          <p:cNvSpPr txBox="1"/>
          <p:nvPr/>
        </p:nvSpPr>
        <p:spPr>
          <a:xfrm>
            <a:off x="4471416"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225" name="Google Shape;225;p17"/>
          <p:cNvSpPr txBox="1"/>
          <p:nvPr/>
        </p:nvSpPr>
        <p:spPr>
          <a:xfrm>
            <a:off x="5065776" y="155448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700"/>
              <a:buFont typeface="Calibri"/>
              <a:buNone/>
            </a:pPr>
            <a:r>
              <a:rPr b="1" lang="en-US" sz="1700">
                <a:solidFill>
                  <a:srgbClr val="10B981"/>
                </a:solidFill>
                <a:latin typeface="Calibri"/>
                <a:ea typeface="Calibri"/>
                <a:cs typeface="Calibri"/>
                <a:sym typeface="Calibri"/>
              </a:rPr>
              <a:t>Autonomous DevOps CI/CD Swarms</a:t>
            </a:r>
            <a:endParaRPr sz="1700">
              <a:solidFill>
                <a:schemeClr val="dk1"/>
              </a:solidFill>
              <a:latin typeface="Calibri"/>
              <a:ea typeface="Calibri"/>
              <a:cs typeface="Calibri"/>
              <a:sym typeface="Calibri"/>
            </a:endParaRPr>
          </a:p>
        </p:txBody>
      </p:sp>
      <p:sp>
        <p:nvSpPr>
          <p:cNvPr id="226" name="Google Shape;226;p17"/>
          <p:cNvSpPr txBox="1"/>
          <p:nvPr/>
        </p:nvSpPr>
        <p:spPr>
          <a:xfrm>
            <a:off x="4471416" y="2148840"/>
            <a:ext cx="324612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Stops poisoned PR comments, issue templates, and tool outputs from hijacking build, test, and release swarms or harvesting credentials.</a:t>
            </a:r>
            <a:endParaRPr sz="1600">
              <a:solidFill>
                <a:schemeClr val="dk1"/>
              </a:solidFill>
              <a:latin typeface="Calibri"/>
              <a:ea typeface="Calibri"/>
              <a:cs typeface="Calibri"/>
              <a:sym typeface="Calibri"/>
            </a:endParaRPr>
          </a:p>
        </p:txBody>
      </p:sp>
      <p:sp>
        <p:nvSpPr>
          <p:cNvPr id="227" name="Google Shape;227;p17"/>
          <p:cNvSpPr/>
          <p:nvPr/>
        </p:nvSpPr>
        <p:spPr>
          <a:xfrm>
            <a:off x="8119872" y="1371600"/>
            <a:ext cx="3611880" cy="2468880"/>
          </a:xfrm>
          <a:prstGeom prst="roundRect">
            <a:avLst>
              <a:gd fmla="val 2963"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7"/>
          <p:cNvSpPr/>
          <p:nvPr/>
        </p:nvSpPr>
        <p:spPr>
          <a:xfrm>
            <a:off x="8302752" y="1554480"/>
            <a:ext cx="457200" cy="45720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7"/>
          <p:cNvSpPr txBox="1"/>
          <p:nvPr/>
        </p:nvSpPr>
        <p:spPr>
          <a:xfrm>
            <a:off x="8302752" y="1554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230" name="Google Shape;230;p17"/>
          <p:cNvSpPr txBox="1"/>
          <p:nvPr/>
        </p:nvSpPr>
        <p:spPr>
          <a:xfrm>
            <a:off x="8897112" y="1554480"/>
            <a:ext cx="2651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700"/>
              <a:buFont typeface="Calibri"/>
              <a:buNone/>
            </a:pPr>
            <a:r>
              <a:rPr b="1" lang="en-US" sz="1700">
                <a:solidFill>
                  <a:srgbClr val="F59E0B"/>
                </a:solidFill>
                <a:latin typeface="Calibri"/>
                <a:ea typeface="Calibri"/>
                <a:cs typeface="Calibri"/>
                <a:sym typeface="Calibri"/>
              </a:rPr>
              <a:t>Financial &amp; Trading Meshes</a:t>
            </a:r>
            <a:endParaRPr sz="1700">
              <a:solidFill>
                <a:schemeClr val="dk1"/>
              </a:solidFill>
              <a:latin typeface="Calibri"/>
              <a:ea typeface="Calibri"/>
              <a:cs typeface="Calibri"/>
              <a:sym typeface="Calibri"/>
            </a:endParaRPr>
          </a:p>
        </p:txBody>
      </p:sp>
      <p:sp>
        <p:nvSpPr>
          <p:cNvPr id="231" name="Google Shape;231;p17"/>
          <p:cNvSpPr txBox="1"/>
          <p:nvPr/>
        </p:nvSpPr>
        <p:spPr>
          <a:xfrm>
            <a:off x="8302752" y="2148840"/>
            <a:ext cx="324612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Enforces semantic invariant bounds across market-making, sentiment, and execution agents; blocks cascading manipulation from poisoned data feeds.</a:t>
            </a:r>
            <a:endParaRPr sz="1600">
              <a:solidFill>
                <a:schemeClr val="dk1"/>
              </a:solidFill>
              <a:latin typeface="Calibri"/>
              <a:ea typeface="Calibri"/>
              <a:cs typeface="Calibri"/>
              <a:sym typeface="Calibri"/>
            </a:endParaRPr>
          </a:p>
        </p:txBody>
      </p:sp>
      <p:sp>
        <p:nvSpPr>
          <p:cNvPr id="232" name="Google Shape;232;p17"/>
          <p:cNvSpPr/>
          <p:nvPr/>
        </p:nvSpPr>
        <p:spPr>
          <a:xfrm>
            <a:off x="457200" y="4023360"/>
            <a:ext cx="5532120" cy="2331720"/>
          </a:xfrm>
          <a:prstGeom prst="roundRect">
            <a:avLst>
              <a:gd fmla="val 3137"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7"/>
          <p:cNvSpPr/>
          <p:nvPr/>
        </p:nvSpPr>
        <p:spPr>
          <a:xfrm>
            <a:off x="640080" y="4206240"/>
            <a:ext cx="457200" cy="457200"/>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7"/>
          <p:cNvSpPr txBox="1"/>
          <p:nvPr/>
        </p:nvSpPr>
        <p:spPr>
          <a:xfrm>
            <a:off x="640080" y="42062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4</a:t>
            </a:r>
            <a:endParaRPr sz="1400">
              <a:solidFill>
                <a:schemeClr val="dk1"/>
              </a:solidFill>
              <a:latin typeface="Calibri"/>
              <a:ea typeface="Calibri"/>
              <a:cs typeface="Calibri"/>
              <a:sym typeface="Calibri"/>
            </a:endParaRPr>
          </a:p>
        </p:txBody>
      </p:sp>
      <p:sp>
        <p:nvSpPr>
          <p:cNvPr id="235" name="Google Shape;235;p17"/>
          <p:cNvSpPr txBox="1"/>
          <p:nvPr/>
        </p:nvSpPr>
        <p:spPr>
          <a:xfrm>
            <a:off x="1234440" y="42062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700"/>
              <a:buFont typeface="Calibri"/>
              <a:buNone/>
            </a:pPr>
            <a:r>
              <a:rPr b="1" lang="en-US" sz="1700">
                <a:solidFill>
                  <a:srgbClr val="EF4444"/>
                </a:solidFill>
                <a:latin typeface="Calibri"/>
                <a:ea typeface="Calibri"/>
                <a:cs typeface="Calibri"/>
                <a:sym typeface="Calibri"/>
              </a:rPr>
              <a:t>Inter-Agency Civic AI</a:t>
            </a:r>
            <a:endParaRPr sz="1700">
              <a:solidFill>
                <a:schemeClr val="dk1"/>
              </a:solidFill>
              <a:latin typeface="Calibri"/>
              <a:ea typeface="Calibri"/>
              <a:cs typeface="Calibri"/>
              <a:sym typeface="Calibri"/>
            </a:endParaRPr>
          </a:p>
        </p:txBody>
      </p:sp>
      <p:sp>
        <p:nvSpPr>
          <p:cNvPr id="236" name="Google Shape;236;p17"/>
          <p:cNvSpPr txBox="1"/>
          <p:nvPr/>
        </p:nvSpPr>
        <p:spPr>
          <a:xfrm>
            <a:off x="640080" y="4800600"/>
            <a:ext cx="516636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Protects multi-department government agents (health, tax, records) from lateral privilege escalation and data harvesting, with compliance audit logs.</a:t>
            </a:r>
            <a:endParaRPr sz="1600">
              <a:solidFill>
                <a:schemeClr val="dk1"/>
              </a:solidFill>
              <a:latin typeface="Calibri"/>
              <a:ea typeface="Calibri"/>
              <a:cs typeface="Calibri"/>
              <a:sym typeface="Calibri"/>
            </a:endParaRPr>
          </a:p>
        </p:txBody>
      </p:sp>
      <p:sp>
        <p:nvSpPr>
          <p:cNvPr id="237" name="Google Shape;237;p17"/>
          <p:cNvSpPr/>
          <p:nvPr/>
        </p:nvSpPr>
        <p:spPr>
          <a:xfrm>
            <a:off x="6199632" y="4023360"/>
            <a:ext cx="5532120" cy="2331720"/>
          </a:xfrm>
          <a:prstGeom prst="roundRect">
            <a:avLst>
              <a:gd fmla="val 3137"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7"/>
          <p:cNvSpPr/>
          <p:nvPr/>
        </p:nvSpPr>
        <p:spPr>
          <a:xfrm>
            <a:off x="6382512" y="4206240"/>
            <a:ext cx="457200" cy="457200"/>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7"/>
          <p:cNvSpPr txBox="1"/>
          <p:nvPr/>
        </p:nvSpPr>
        <p:spPr>
          <a:xfrm>
            <a:off x="6382512" y="42062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5</a:t>
            </a:r>
            <a:endParaRPr sz="1400">
              <a:solidFill>
                <a:schemeClr val="dk1"/>
              </a:solidFill>
              <a:latin typeface="Calibri"/>
              <a:ea typeface="Calibri"/>
              <a:cs typeface="Calibri"/>
              <a:sym typeface="Calibri"/>
            </a:endParaRPr>
          </a:p>
        </p:txBody>
      </p:sp>
      <p:sp>
        <p:nvSpPr>
          <p:cNvPr id="240" name="Google Shape;240;p17"/>
          <p:cNvSpPr txBox="1"/>
          <p:nvPr/>
        </p:nvSpPr>
        <p:spPr>
          <a:xfrm>
            <a:off x="6976872" y="42062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700"/>
              <a:buFont typeface="Calibri"/>
              <a:buNone/>
            </a:pPr>
            <a:r>
              <a:rPr b="1" lang="en-US" sz="1700">
                <a:solidFill>
                  <a:srgbClr val="06B6D4"/>
                </a:solidFill>
                <a:latin typeface="Calibri"/>
                <a:ea typeface="Calibri"/>
                <a:cs typeface="Calibri"/>
                <a:sym typeface="Calibri"/>
              </a:rPr>
              <a:t>Constrained Edge Swarms</a:t>
            </a:r>
            <a:endParaRPr sz="1700">
              <a:solidFill>
                <a:schemeClr val="dk1"/>
              </a:solidFill>
              <a:latin typeface="Calibri"/>
              <a:ea typeface="Calibri"/>
              <a:cs typeface="Calibri"/>
              <a:sym typeface="Calibri"/>
            </a:endParaRPr>
          </a:p>
        </p:txBody>
      </p:sp>
      <p:sp>
        <p:nvSpPr>
          <p:cNvPr id="241" name="Google Shape;241;p17"/>
          <p:cNvSpPr txBox="1"/>
          <p:nvPr/>
        </p:nvSpPr>
        <p:spPr>
          <a:xfrm>
            <a:off x="6382512" y="4800600"/>
            <a:ext cx="516636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Runs sub-50 ms System-1 triage on edge nodes with no cloud latency, securing drone and warehouse-robot mesh traffic.</a:t>
            </a:r>
            <a:endParaRPr sz="1600">
              <a:solidFill>
                <a:schemeClr val="dk1"/>
              </a:solidFill>
              <a:latin typeface="Calibri"/>
              <a:ea typeface="Calibri"/>
              <a:cs typeface="Calibri"/>
              <a:sym typeface="Calibri"/>
            </a:endParaRPr>
          </a:p>
        </p:txBody>
      </p:sp>
      <p:sp>
        <p:nvSpPr>
          <p:cNvPr id="242" name="Google Shape;242;p17"/>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Expected Deliverables: Capstone-I</a:t>
            </a:r>
            <a:endParaRPr sz="2800"/>
          </a:p>
        </p:txBody>
      </p:sp>
      <p:sp>
        <p:nvSpPr>
          <p:cNvPr id="249" name="Google Shape;249;p18"/>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EXPECTED DELIVERABLES</a:t>
            </a:r>
            <a:endParaRPr sz="1200">
              <a:solidFill>
                <a:schemeClr val="dk1"/>
              </a:solidFill>
              <a:latin typeface="Calibri"/>
              <a:ea typeface="Calibri"/>
              <a:cs typeface="Calibri"/>
              <a:sym typeface="Calibri"/>
            </a:endParaRPr>
          </a:p>
        </p:txBody>
      </p:sp>
      <p:sp>
        <p:nvSpPr>
          <p:cNvPr id="250" name="Google Shape;250;p18"/>
          <p:cNvSpPr/>
          <p:nvPr/>
        </p:nvSpPr>
        <p:spPr>
          <a:xfrm>
            <a:off x="457200"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8"/>
          <p:cNvSpPr/>
          <p:nvPr/>
        </p:nvSpPr>
        <p:spPr>
          <a:xfrm>
            <a:off x="640080" y="1554480"/>
            <a:ext cx="566928" cy="5669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8"/>
          <p:cNvSpPr txBox="1"/>
          <p:nvPr/>
        </p:nvSpPr>
        <p:spPr>
          <a:xfrm>
            <a:off x="640080"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D1</a:t>
            </a:r>
            <a:endParaRPr sz="1400">
              <a:solidFill>
                <a:schemeClr val="dk1"/>
              </a:solidFill>
              <a:latin typeface="Calibri"/>
              <a:ea typeface="Calibri"/>
              <a:cs typeface="Calibri"/>
              <a:sym typeface="Calibri"/>
            </a:endParaRPr>
          </a:p>
        </p:txBody>
      </p:sp>
      <p:sp>
        <p:nvSpPr>
          <p:cNvPr id="253" name="Google Shape;253;p18"/>
          <p:cNvSpPr txBox="1"/>
          <p:nvPr/>
        </p:nvSpPr>
        <p:spPr>
          <a:xfrm>
            <a:off x="1325880"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600"/>
              <a:buFont typeface="Calibri"/>
              <a:buNone/>
            </a:pPr>
            <a:r>
              <a:rPr b="1" lang="en-US" sz="1600">
                <a:solidFill>
                  <a:srgbClr val="06B6D4"/>
                </a:solidFill>
                <a:latin typeface="Calibri"/>
                <a:ea typeface="Calibri"/>
                <a:cs typeface="Calibri"/>
                <a:sym typeface="Calibri"/>
              </a:rPr>
              <a:t>Multi-Agent Benchmark Testbed &amp; Topology Simulator</a:t>
            </a:r>
            <a:endParaRPr sz="1600">
              <a:solidFill>
                <a:schemeClr val="dk1"/>
              </a:solidFill>
              <a:latin typeface="Calibri"/>
              <a:ea typeface="Calibri"/>
              <a:cs typeface="Calibri"/>
              <a:sym typeface="Calibri"/>
            </a:endParaRPr>
          </a:p>
        </p:txBody>
      </p:sp>
      <p:sp>
        <p:nvSpPr>
          <p:cNvPr id="254" name="Google Shape;254;p18"/>
          <p:cNvSpPr txBox="1"/>
          <p:nvPr/>
        </p:nvSpPr>
        <p:spPr>
          <a:xfrm>
            <a:off x="640080"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LangGraph MAS simulation environment</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3-stage sequential pipeline (A→B→C)</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Peer-to-peer collaborative mesh (N = 6 agents)</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Dynamic marketplace with tool-schema discovery</a:t>
            </a:r>
            <a:endParaRPr sz="1700">
              <a:solidFill>
                <a:schemeClr val="dk1"/>
              </a:solidFill>
              <a:latin typeface="Calibri"/>
              <a:ea typeface="Calibri"/>
              <a:cs typeface="Calibri"/>
              <a:sym typeface="Calibri"/>
            </a:endParaRPr>
          </a:p>
        </p:txBody>
      </p:sp>
      <p:sp>
        <p:nvSpPr>
          <p:cNvPr id="255" name="Google Shape;255;p18"/>
          <p:cNvSpPr/>
          <p:nvPr/>
        </p:nvSpPr>
        <p:spPr>
          <a:xfrm>
            <a:off x="4288536"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8"/>
          <p:cNvSpPr/>
          <p:nvPr/>
        </p:nvSpPr>
        <p:spPr>
          <a:xfrm>
            <a:off x="4471416" y="1554480"/>
            <a:ext cx="566928" cy="5669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8"/>
          <p:cNvSpPr txBox="1"/>
          <p:nvPr/>
        </p:nvSpPr>
        <p:spPr>
          <a:xfrm>
            <a:off x="4471416"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D2</a:t>
            </a:r>
            <a:endParaRPr sz="1400">
              <a:solidFill>
                <a:schemeClr val="dk1"/>
              </a:solidFill>
              <a:latin typeface="Calibri"/>
              <a:ea typeface="Calibri"/>
              <a:cs typeface="Calibri"/>
              <a:sym typeface="Calibri"/>
            </a:endParaRPr>
          </a:p>
        </p:txBody>
      </p:sp>
      <p:sp>
        <p:nvSpPr>
          <p:cNvPr id="258" name="Google Shape;258;p18"/>
          <p:cNvSpPr txBox="1"/>
          <p:nvPr/>
        </p:nvSpPr>
        <p:spPr>
          <a:xfrm>
            <a:off x="5157216"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600"/>
              <a:buFont typeface="Calibri"/>
              <a:buNone/>
            </a:pPr>
            <a:r>
              <a:rPr b="1" lang="en-US" sz="1600">
                <a:solidFill>
                  <a:srgbClr val="06B6D4"/>
                </a:solidFill>
                <a:latin typeface="Calibri"/>
                <a:ea typeface="Calibri"/>
                <a:cs typeface="Calibri"/>
                <a:sym typeface="Calibri"/>
              </a:rPr>
              <a:t>Automated Adversarial Red-Teaming Engine</a:t>
            </a:r>
            <a:endParaRPr sz="1600">
              <a:solidFill>
                <a:schemeClr val="dk1"/>
              </a:solidFill>
              <a:latin typeface="Calibri"/>
              <a:ea typeface="Calibri"/>
              <a:cs typeface="Calibri"/>
              <a:sym typeface="Calibri"/>
            </a:endParaRPr>
          </a:p>
        </p:txBody>
      </p:sp>
      <p:sp>
        <p:nvSpPr>
          <p:cNvPr id="259" name="Google Shape;259;p18"/>
          <p:cNvSpPr txBox="1"/>
          <p:nvPr/>
        </p:nvSpPr>
        <p:spPr>
          <a:xfrm>
            <a:off x="4471416"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Crescendo conversational drift</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Tree of Attacks with Pruning (TAP)</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AutoInject / RLredAgent suffix generator targeting AgentDojo tools</a:t>
            </a:r>
            <a:endParaRPr sz="1700">
              <a:solidFill>
                <a:schemeClr val="dk1"/>
              </a:solidFill>
              <a:latin typeface="Calibri"/>
              <a:ea typeface="Calibri"/>
              <a:cs typeface="Calibri"/>
              <a:sym typeface="Calibri"/>
            </a:endParaRPr>
          </a:p>
        </p:txBody>
      </p:sp>
      <p:sp>
        <p:nvSpPr>
          <p:cNvPr id="260" name="Google Shape;260;p18"/>
          <p:cNvSpPr/>
          <p:nvPr/>
        </p:nvSpPr>
        <p:spPr>
          <a:xfrm>
            <a:off x="8119872"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8"/>
          <p:cNvSpPr/>
          <p:nvPr/>
        </p:nvSpPr>
        <p:spPr>
          <a:xfrm>
            <a:off x="8302752" y="1554480"/>
            <a:ext cx="566928" cy="5669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8"/>
          <p:cNvSpPr txBox="1"/>
          <p:nvPr/>
        </p:nvSpPr>
        <p:spPr>
          <a:xfrm>
            <a:off x="8302752"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D3</a:t>
            </a:r>
            <a:endParaRPr sz="1400">
              <a:solidFill>
                <a:schemeClr val="dk1"/>
              </a:solidFill>
              <a:latin typeface="Calibri"/>
              <a:ea typeface="Calibri"/>
              <a:cs typeface="Calibri"/>
              <a:sym typeface="Calibri"/>
            </a:endParaRPr>
          </a:p>
        </p:txBody>
      </p:sp>
      <p:sp>
        <p:nvSpPr>
          <p:cNvPr id="263" name="Google Shape;263;p18"/>
          <p:cNvSpPr txBox="1"/>
          <p:nvPr/>
        </p:nvSpPr>
        <p:spPr>
          <a:xfrm>
            <a:off x="8988552"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600"/>
              <a:buFont typeface="Calibri"/>
              <a:buNone/>
            </a:pPr>
            <a:r>
              <a:rPr b="1" lang="en-US" sz="1600">
                <a:solidFill>
                  <a:srgbClr val="06B6D4"/>
                </a:solidFill>
                <a:latin typeface="Calibri"/>
                <a:ea typeface="Calibri"/>
                <a:cs typeface="Calibri"/>
                <a:sym typeface="Calibri"/>
              </a:rPr>
              <a:t>Baseline Vulnerability &amp; Viral Propagation Report</a:t>
            </a:r>
            <a:endParaRPr sz="1600">
              <a:solidFill>
                <a:schemeClr val="dk1"/>
              </a:solidFill>
              <a:latin typeface="Calibri"/>
              <a:ea typeface="Calibri"/>
              <a:cs typeface="Calibri"/>
              <a:sym typeface="Calibri"/>
            </a:endParaRPr>
          </a:p>
        </p:txBody>
      </p:sp>
      <p:sp>
        <p:nvSpPr>
          <p:cNvPr id="264" name="Google Shape;264;p18"/>
          <p:cNvSpPr txBox="1"/>
          <p:nvPr/>
        </p:nvSpPr>
        <p:spPr>
          <a:xfrm>
            <a:off x="8302752"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Measure baseline infection rate, ASR, and R₀ in undefended swarms</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Benchmark Llama Guard and NeMo Guardrails, showing failure modes against multi-turn drift</a:t>
            </a:r>
            <a:endParaRPr sz="1700">
              <a:solidFill>
                <a:schemeClr val="dk1"/>
              </a:solidFill>
              <a:latin typeface="Calibri"/>
              <a:ea typeface="Calibri"/>
              <a:cs typeface="Calibri"/>
              <a:sym typeface="Calibri"/>
            </a:endParaRPr>
          </a:p>
        </p:txBody>
      </p:sp>
      <p:sp>
        <p:nvSpPr>
          <p:cNvPr id="265" name="Google Shape;265;p18"/>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9"/>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Expected Deliverables: Capstone-II</a:t>
            </a:r>
            <a:endParaRPr sz="2800"/>
          </a:p>
        </p:txBody>
      </p:sp>
      <p:sp>
        <p:nvSpPr>
          <p:cNvPr id="272" name="Google Shape;272;p19"/>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EXPECTED DELIVERABLES</a:t>
            </a:r>
            <a:endParaRPr sz="1200">
              <a:solidFill>
                <a:schemeClr val="dk1"/>
              </a:solidFill>
              <a:latin typeface="Calibri"/>
              <a:ea typeface="Calibri"/>
              <a:cs typeface="Calibri"/>
              <a:sym typeface="Calibri"/>
            </a:endParaRPr>
          </a:p>
        </p:txBody>
      </p:sp>
      <p:sp>
        <p:nvSpPr>
          <p:cNvPr id="273" name="Google Shape;273;p19"/>
          <p:cNvSpPr/>
          <p:nvPr/>
        </p:nvSpPr>
        <p:spPr>
          <a:xfrm>
            <a:off x="457200"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9"/>
          <p:cNvSpPr/>
          <p:nvPr/>
        </p:nvSpPr>
        <p:spPr>
          <a:xfrm>
            <a:off x="640080" y="1554480"/>
            <a:ext cx="566928" cy="566928"/>
          </a:xfrm>
          <a:prstGeom prst="ellipse">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9"/>
          <p:cNvSpPr txBox="1"/>
          <p:nvPr/>
        </p:nvSpPr>
        <p:spPr>
          <a:xfrm>
            <a:off x="640080"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D4</a:t>
            </a:r>
            <a:endParaRPr sz="1400">
              <a:solidFill>
                <a:schemeClr val="dk1"/>
              </a:solidFill>
              <a:latin typeface="Calibri"/>
              <a:ea typeface="Calibri"/>
              <a:cs typeface="Calibri"/>
              <a:sym typeface="Calibri"/>
            </a:endParaRPr>
          </a:p>
        </p:txBody>
      </p:sp>
      <p:sp>
        <p:nvSpPr>
          <p:cNvPr id="276" name="Google Shape;276;p19"/>
          <p:cNvSpPr txBox="1"/>
          <p:nvPr/>
        </p:nvSpPr>
        <p:spPr>
          <a:xfrm>
            <a:off x="1325880"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High-Speed System-1 Triage Gate</a:t>
            </a:r>
            <a:endParaRPr sz="1600">
              <a:solidFill>
                <a:schemeClr val="dk1"/>
              </a:solidFill>
              <a:latin typeface="Calibri"/>
              <a:ea typeface="Calibri"/>
              <a:cs typeface="Calibri"/>
              <a:sym typeface="Calibri"/>
            </a:endParaRPr>
          </a:p>
        </p:txBody>
      </p:sp>
      <p:sp>
        <p:nvSpPr>
          <p:cNvPr id="277" name="Google Shape;277;p19"/>
          <p:cNvSpPr txBox="1"/>
          <p:nvPr/>
        </p:nvSpPr>
        <p:spPr>
          <a:xfrm>
            <a:off x="640080"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Clef-flash (Cloudflare) and Jev (TypeSafe AI), sub-50 ms inference</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Three-tier calibrated risk score: Green (nominal), Amber (drift), Red (hazard)</a:t>
            </a:r>
            <a:endParaRPr sz="1700">
              <a:solidFill>
                <a:schemeClr val="dk1"/>
              </a:solidFill>
              <a:latin typeface="Calibri"/>
              <a:ea typeface="Calibri"/>
              <a:cs typeface="Calibri"/>
              <a:sym typeface="Calibri"/>
            </a:endParaRPr>
          </a:p>
        </p:txBody>
      </p:sp>
      <p:sp>
        <p:nvSpPr>
          <p:cNvPr id="278" name="Google Shape;278;p19"/>
          <p:cNvSpPr/>
          <p:nvPr/>
        </p:nvSpPr>
        <p:spPr>
          <a:xfrm>
            <a:off x="4288536"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9"/>
          <p:cNvSpPr/>
          <p:nvPr/>
        </p:nvSpPr>
        <p:spPr>
          <a:xfrm>
            <a:off x="4471416" y="1554480"/>
            <a:ext cx="566928" cy="566928"/>
          </a:xfrm>
          <a:prstGeom prst="ellipse">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9"/>
          <p:cNvSpPr txBox="1"/>
          <p:nvPr/>
        </p:nvSpPr>
        <p:spPr>
          <a:xfrm>
            <a:off x="4471416"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D5</a:t>
            </a:r>
            <a:endParaRPr sz="1400">
              <a:solidFill>
                <a:schemeClr val="dk1"/>
              </a:solidFill>
              <a:latin typeface="Calibri"/>
              <a:ea typeface="Calibri"/>
              <a:cs typeface="Calibri"/>
              <a:sym typeface="Calibri"/>
            </a:endParaRPr>
          </a:p>
        </p:txBody>
      </p:sp>
      <p:sp>
        <p:nvSpPr>
          <p:cNvPr id="281" name="Google Shape;281;p19"/>
          <p:cNvSpPr txBox="1"/>
          <p:nvPr/>
        </p:nvSpPr>
        <p:spPr>
          <a:xfrm>
            <a:off x="5157216"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System-2 Trajectory Reasoner &amp; Invariant Validator</a:t>
            </a:r>
            <a:endParaRPr sz="1600">
              <a:solidFill>
                <a:schemeClr val="dk1"/>
              </a:solidFill>
              <a:latin typeface="Calibri"/>
              <a:ea typeface="Calibri"/>
              <a:cs typeface="Calibri"/>
              <a:sym typeface="Calibri"/>
            </a:endParaRPr>
          </a:p>
        </p:txBody>
      </p:sp>
      <p:sp>
        <p:nvSpPr>
          <p:cNvPr id="282" name="Google Shape;282;p19"/>
          <p:cNvSpPr txBox="1"/>
          <p:nvPr/>
        </p:nvSpPr>
        <p:spPr>
          <a:xfrm>
            <a:off x="4471416"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Rolling-context audit of the full multi-turn trajectory</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Goal-invariant engine compares runtime trajectory with immutable initial specs</a:t>
            </a:r>
            <a:endParaRPr sz="1700">
              <a:solidFill>
                <a:schemeClr val="dk1"/>
              </a:solidFill>
              <a:latin typeface="Calibri"/>
              <a:ea typeface="Calibri"/>
              <a:cs typeface="Calibri"/>
              <a:sym typeface="Calibri"/>
            </a:endParaRPr>
          </a:p>
        </p:txBody>
      </p:sp>
      <p:sp>
        <p:nvSpPr>
          <p:cNvPr id="283" name="Google Shape;283;p19"/>
          <p:cNvSpPr/>
          <p:nvPr/>
        </p:nvSpPr>
        <p:spPr>
          <a:xfrm>
            <a:off x="8119872"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9"/>
          <p:cNvSpPr/>
          <p:nvPr/>
        </p:nvSpPr>
        <p:spPr>
          <a:xfrm>
            <a:off x="8302752" y="1554480"/>
            <a:ext cx="566928" cy="566928"/>
          </a:xfrm>
          <a:prstGeom prst="ellipse">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9"/>
          <p:cNvSpPr txBox="1"/>
          <p:nvPr/>
        </p:nvSpPr>
        <p:spPr>
          <a:xfrm>
            <a:off x="8302752"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D6</a:t>
            </a:r>
            <a:endParaRPr sz="1400">
              <a:solidFill>
                <a:schemeClr val="dk1"/>
              </a:solidFill>
              <a:latin typeface="Calibri"/>
              <a:ea typeface="Calibri"/>
              <a:cs typeface="Calibri"/>
              <a:sym typeface="Calibri"/>
            </a:endParaRPr>
          </a:p>
        </p:txBody>
      </p:sp>
      <p:sp>
        <p:nvSpPr>
          <p:cNvPr id="286" name="Google Shape;286;p19"/>
          <p:cNvSpPr txBox="1"/>
          <p:nvPr/>
        </p:nvSpPr>
        <p:spPr>
          <a:xfrm>
            <a:off x="8988552"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Containment &amp; HITL Dashboard</a:t>
            </a:r>
            <a:endParaRPr sz="1600">
              <a:solidFill>
                <a:schemeClr val="dk1"/>
              </a:solidFill>
              <a:latin typeface="Calibri"/>
              <a:ea typeface="Calibri"/>
              <a:cs typeface="Calibri"/>
              <a:sym typeface="Calibri"/>
            </a:endParaRPr>
          </a:p>
        </p:txBody>
      </p:sp>
      <p:sp>
        <p:nvSpPr>
          <p:cNvPr id="287" name="Google Shape;287;p19"/>
          <p:cNvSpPr txBox="1"/>
          <p:nvPr/>
        </p:nvSpPr>
        <p:spPr>
          <a:xfrm>
            <a:off x="8302752"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Automatic quarantine, message dropping, credential revocation</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Streamlit/FastAPI supervisor console to review flagged trajectories and approve or reject escalations</a:t>
            </a:r>
            <a:endParaRPr sz="1700">
              <a:solidFill>
                <a:schemeClr val="dk1"/>
              </a:solidFill>
              <a:latin typeface="Calibri"/>
              <a:ea typeface="Calibri"/>
              <a:cs typeface="Calibri"/>
              <a:sym typeface="Calibri"/>
            </a:endParaRPr>
          </a:p>
        </p:txBody>
      </p:sp>
      <p:sp>
        <p:nvSpPr>
          <p:cNvPr id="288" name="Google Shape;288;p19"/>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Expected Deliverables: Capstone-III</a:t>
            </a:r>
            <a:endParaRPr sz="2800"/>
          </a:p>
        </p:txBody>
      </p:sp>
      <p:sp>
        <p:nvSpPr>
          <p:cNvPr id="295" name="Google Shape;295;p20"/>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EXPECTED DELIVERABLES</a:t>
            </a:r>
            <a:endParaRPr sz="1200">
              <a:solidFill>
                <a:schemeClr val="dk1"/>
              </a:solidFill>
              <a:latin typeface="Calibri"/>
              <a:ea typeface="Calibri"/>
              <a:cs typeface="Calibri"/>
              <a:sym typeface="Calibri"/>
            </a:endParaRPr>
          </a:p>
        </p:txBody>
      </p:sp>
      <p:sp>
        <p:nvSpPr>
          <p:cNvPr id="296" name="Google Shape;296;p20"/>
          <p:cNvSpPr/>
          <p:nvPr/>
        </p:nvSpPr>
        <p:spPr>
          <a:xfrm>
            <a:off x="457200"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20"/>
          <p:cNvSpPr/>
          <p:nvPr/>
        </p:nvSpPr>
        <p:spPr>
          <a:xfrm>
            <a:off x="640080" y="1554480"/>
            <a:ext cx="566928" cy="56692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20"/>
          <p:cNvSpPr txBox="1"/>
          <p:nvPr/>
        </p:nvSpPr>
        <p:spPr>
          <a:xfrm>
            <a:off x="640080"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D7</a:t>
            </a:r>
            <a:endParaRPr sz="1400">
              <a:solidFill>
                <a:schemeClr val="dk1"/>
              </a:solidFill>
              <a:latin typeface="Calibri"/>
              <a:ea typeface="Calibri"/>
              <a:cs typeface="Calibri"/>
              <a:sym typeface="Calibri"/>
            </a:endParaRPr>
          </a:p>
        </p:txBody>
      </p:sp>
      <p:sp>
        <p:nvSpPr>
          <p:cNvPr id="299" name="Google Shape;299;p20"/>
          <p:cNvSpPr txBox="1"/>
          <p:nvPr/>
        </p:nvSpPr>
        <p:spPr>
          <a:xfrm>
            <a:off x="1325880"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600"/>
              <a:buFont typeface="Calibri"/>
              <a:buNone/>
            </a:pPr>
            <a:r>
              <a:rPr b="1" lang="en-US" sz="1600">
                <a:solidFill>
                  <a:srgbClr val="F59E0B"/>
                </a:solidFill>
                <a:latin typeface="Calibri"/>
                <a:ea typeface="Calibri"/>
                <a:cs typeface="Calibri"/>
                <a:sym typeface="Calibri"/>
              </a:rPr>
              <a:t>Closed-Loop Co-Evolutionary Immune Pipeline</a:t>
            </a:r>
            <a:endParaRPr sz="1600">
              <a:solidFill>
                <a:schemeClr val="dk1"/>
              </a:solidFill>
              <a:latin typeface="Calibri"/>
              <a:ea typeface="Calibri"/>
              <a:cs typeface="Calibri"/>
              <a:sym typeface="Calibri"/>
            </a:endParaRPr>
          </a:p>
        </p:txBody>
      </p:sp>
      <p:sp>
        <p:nvSpPr>
          <p:cNvPr id="300" name="Google Shape;300;p20"/>
          <p:cNvSpPr txBox="1"/>
          <p:nvPr/>
        </p:nvSpPr>
        <p:spPr>
          <a:xfrm>
            <a:off x="640080"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Red-team trajectories that breach or trigger System-2 feed System-1 fine-tuning and calibration</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Autonomous synthetic virus generation for proactive immunity via the MLflow registry</a:t>
            </a:r>
            <a:endParaRPr sz="1700">
              <a:solidFill>
                <a:schemeClr val="dk1"/>
              </a:solidFill>
              <a:latin typeface="Calibri"/>
              <a:ea typeface="Calibri"/>
              <a:cs typeface="Calibri"/>
              <a:sym typeface="Calibri"/>
            </a:endParaRPr>
          </a:p>
        </p:txBody>
      </p:sp>
      <p:sp>
        <p:nvSpPr>
          <p:cNvPr id="301" name="Google Shape;301;p20"/>
          <p:cNvSpPr/>
          <p:nvPr/>
        </p:nvSpPr>
        <p:spPr>
          <a:xfrm>
            <a:off x="4288536"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20"/>
          <p:cNvSpPr/>
          <p:nvPr/>
        </p:nvSpPr>
        <p:spPr>
          <a:xfrm>
            <a:off x="4471416" y="1554480"/>
            <a:ext cx="566928" cy="56692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20"/>
          <p:cNvSpPr txBox="1"/>
          <p:nvPr/>
        </p:nvSpPr>
        <p:spPr>
          <a:xfrm>
            <a:off x="4471416"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D8</a:t>
            </a:r>
            <a:endParaRPr sz="1400">
              <a:solidFill>
                <a:schemeClr val="dk1"/>
              </a:solidFill>
              <a:latin typeface="Calibri"/>
              <a:ea typeface="Calibri"/>
              <a:cs typeface="Calibri"/>
              <a:sym typeface="Calibri"/>
            </a:endParaRPr>
          </a:p>
        </p:txBody>
      </p:sp>
      <p:sp>
        <p:nvSpPr>
          <p:cNvPr id="304" name="Google Shape;304;p20"/>
          <p:cNvSpPr txBox="1"/>
          <p:nvPr/>
        </p:nvSpPr>
        <p:spPr>
          <a:xfrm>
            <a:off x="5157216"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600"/>
              <a:buFont typeface="Calibri"/>
              <a:buNone/>
            </a:pPr>
            <a:r>
              <a:rPr b="1" lang="en-US" sz="1600">
                <a:solidFill>
                  <a:srgbClr val="F59E0B"/>
                </a:solidFill>
                <a:latin typeface="Calibri"/>
                <a:ea typeface="Calibri"/>
                <a:cs typeface="Calibri"/>
                <a:sym typeface="Calibri"/>
              </a:rPr>
              <a:t>Empirical Benchmark &amp; Cost-Latency Study</a:t>
            </a:r>
            <a:endParaRPr sz="1600">
              <a:solidFill>
                <a:schemeClr val="dk1"/>
              </a:solidFill>
              <a:latin typeface="Calibri"/>
              <a:ea typeface="Calibri"/>
              <a:cs typeface="Calibri"/>
              <a:sym typeface="Calibri"/>
            </a:endParaRPr>
          </a:p>
        </p:txBody>
      </p:sp>
      <p:sp>
        <p:nvSpPr>
          <p:cNvPr id="305" name="Google Shape;305;p20"/>
          <p:cNvSpPr txBox="1"/>
          <p:nvPr/>
        </p:nvSpPr>
        <p:spPr>
          <a:xfrm>
            <a:off x="4471416"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Formal proof of R₀ &lt; 1 across all three topologies under frontier attacks</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&gt;75% latency and compute-cost reduction vs. monolithic LLM-as-a-judge</a:t>
            </a:r>
            <a:endParaRPr sz="1700">
              <a:solidFill>
                <a:schemeClr val="dk1"/>
              </a:solidFill>
              <a:latin typeface="Calibri"/>
              <a:ea typeface="Calibri"/>
              <a:cs typeface="Calibri"/>
              <a:sym typeface="Calibri"/>
            </a:endParaRPr>
          </a:p>
        </p:txBody>
      </p:sp>
      <p:sp>
        <p:nvSpPr>
          <p:cNvPr id="306" name="Google Shape;306;p20"/>
          <p:cNvSpPr/>
          <p:nvPr/>
        </p:nvSpPr>
        <p:spPr>
          <a:xfrm>
            <a:off x="8119872" y="1371600"/>
            <a:ext cx="3611880" cy="4937760"/>
          </a:xfrm>
          <a:prstGeom prst="roundRect">
            <a:avLst>
              <a:gd fmla="val 2025"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0"/>
          <p:cNvSpPr/>
          <p:nvPr/>
        </p:nvSpPr>
        <p:spPr>
          <a:xfrm>
            <a:off x="8302752" y="1554480"/>
            <a:ext cx="566928" cy="56692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20"/>
          <p:cNvSpPr txBox="1"/>
          <p:nvPr/>
        </p:nvSpPr>
        <p:spPr>
          <a:xfrm>
            <a:off x="8302752" y="1554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D9</a:t>
            </a:r>
            <a:endParaRPr sz="1400">
              <a:solidFill>
                <a:schemeClr val="dk1"/>
              </a:solidFill>
              <a:latin typeface="Calibri"/>
              <a:ea typeface="Calibri"/>
              <a:cs typeface="Calibri"/>
              <a:sym typeface="Calibri"/>
            </a:endParaRPr>
          </a:p>
        </p:txBody>
      </p:sp>
      <p:sp>
        <p:nvSpPr>
          <p:cNvPr id="309" name="Google Shape;309;p20"/>
          <p:cNvSpPr txBox="1"/>
          <p:nvPr/>
        </p:nvSpPr>
        <p:spPr>
          <a:xfrm>
            <a:off x="8988552" y="1508760"/>
            <a:ext cx="2606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600"/>
              <a:buFont typeface="Calibri"/>
              <a:buNone/>
            </a:pPr>
            <a:r>
              <a:rPr b="1" lang="en-US" sz="1600">
                <a:solidFill>
                  <a:srgbClr val="F59E0B"/>
                </a:solidFill>
                <a:latin typeface="Calibri"/>
                <a:ea typeface="Calibri"/>
                <a:cs typeface="Calibri"/>
                <a:sym typeface="Calibri"/>
              </a:rPr>
              <a:t>Open-Source Framework &amp; Publication</a:t>
            </a:r>
            <a:endParaRPr sz="1600">
              <a:solidFill>
                <a:schemeClr val="dk1"/>
              </a:solidFill>
              <a:latin typeface="Calibri"/>
              <a:ea typeface="Calibri"/>
              <a:cs typeface="Calibri"/>
              <a:sym typeface="Calibri"/>
            </a:endParaRPr>
          </a:p>
        </p:txBody>
      </p:sp>
      <p:sp>
        <p:nvSpPr>
          <p:cNvPr id="310" name="Google Shape;310;p20"/>
          <p:cNvSpPr txBox="1"/>
          <p:nvPr/>
        </p:nvSpPr>
        <p:spPr>
          <a:xfrm>
            <a:off x="8302752" y="2423160"/>
            <a:ext cx="3246120" cy="374904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Production-grade repo: docs, Docker deployment, MCP gateway plugins</a:t>
            </a:r>
            <a:endParaRPr sz="1700">
              <a:solidFill>
                <a:schemeClr val="dk1"/>
              </a:solidFill>
              <a:latin typeface="Calibri"/>
              <a:ea typeface="Calibri"/>
              <a:cs typeface="Calibri"/>
              <a:sym typeface="Calibri"/>
            </a:endParaRPr>
          </a:p>
          <a:p>
            <a:pPr indent="-152400" lvl="0" marL="152400" marR="0" rtl="0" algn="l">
              <a:spcBef>
                <a:spcPts val="1200"/>
              </a:spcBef>
              <a:spcAft>
                <a:spcPts val="0"/>
              </a:spcAft>
              <a:buClr>
                <a:srgbClr val="F8FAFC"/>
              </a:buClr>
              <a:buSzPts val="1700"/>
              <a:buFont typeface="Calibri"/>
              <a:buChar char="•"/>
            </a:pPr>
            <a:r>
              <a:rPr lang="en-US" sz="1700">
                <a:solidFill>
                  <a:srgbClr val="F8FAFC"/>
                </a:solidFill>
                <a:latin typeface="Calibri"/>
                <a:ea typeface="Calibri"/>
                <a:cs typeface="Calibri"/>
                <a:sym typeface="Calibri"/>
              </a:rPr>
              <a:t>Research paper for IEEE S&amp;P, ACM CCS, or USENIX Security</a:t>
            </a:r>
            <a:endParaRPr sz="1700">
              <a:solidFill>
                <a:schemeClr val="dk1"/>
              </a:solidFill>
              <a:latin typeface="Calibri"/>
              <a:ea typeface="Calibri"/>
              <a:cs typeface="Calibri"/>
              <a:sym typeface="Calibri"/>
            </a:endParaRPr>
          </a:p>
        </p:txBody>
      </p:sp>
      <p:sp>
        <p:nvSpPr>
          <p:cNvPr id="311" name="Google Shape;311;p20"/>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1"/>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Capstone (Phase-I &amp; Phase-II) Project Timeline</a:t>
            </a:r>
            <a:endParaRPr sz="2800"/>
          </a:p>
        </p:txBody>
      </p:sp>
      <p:sp>
        <p:nvSpPr>
          <p:cNvPr id="318" name="Google Shape;318;p21"/>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PROJECT MANAGEMENT</a:t>
            </a:r>
            <a:endParaRPr sz="1200">
              <a:solidFill>
                <a:schemeClr val="dk1"/>
              </a:solidFill>
              <a:latin typeface="Calibri"/>
              <a:ea typeface="Calibri"/>
              <a:cs typeface="Calibri"/>
              <a:sym typeface="Calibri"/>
            </a:endParaRPr>
          </a:p>
        </p:txBody>
      </p:sp>
      <p:graphicFrame>
        <p:nvGraphicFramePr>
          <p:cNvPr id="319" name="Google Shape;319;p21"/>
          <p:cNvGraphicFramePr/>
          <p:nvPr/>
        </p:nvGraphicFramePr>
        <p:xfrm>
          <a:off x="457200" y="1325880"/>
          <a:ext cx="3000000" cy="3000000"/>
        </p:xfrm>
        <a:graphic>
          <a:graphicData uri="http://schemas.openxmlformats.org/drawingml/2006/table">
            <a:tbl>
              <a:tblPr>
                <a:noFill/>
                <a:tableStyleId>{F57A8375-10F8-424A-B98F-4306393A8A9D}</a:tableStyleId>
              </a:tblPr>
              <a:tblGrid>
                <a:gridCol w="3291850"/>
                <a:gridCol w="594350"/>
                <a:gridCol w="594350"/>
                <a:gridCol w="594350"/>
                <a:gridCol w="594350"/>
                <a:gridCol w="594350"/>
                <a:gridCol w="594350"/>
                <a:gridCol w="594350"/>
                <a:gridCol w="594350"/>
                <a:gridCol w="3227825"/>
              </a:tblGrid>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&amp; Task Description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W1-2</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W3-4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W5-6</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W7-8</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W9-10</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W11-12</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W13-14</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ctr">
                        <a:spcBef>
                          <a:spcPts val="0"/>
                        </a:spcBef>
                        <a:spcAft>
                          <a:spcPts val="0"/>
                        </a:spcAft>
                        <a:buClr>
                          <a:srgbClr val="06B6D4"/>
                        </a:buClr>
                        <a:buSzPts val="1250"/>
                        <a:buFont typeface="Calibri"/>
                        <a:buNone/>
                      </a:pPr>
                      <a:r>
                        <a:rPr b="1" lang="en-US" sz="1250" u="none" cap="none" strike="noStrike">
                          <a:solidFill>
                            <a:srgbClr val="06B6D4"/>
                          </a:solidFill>
                        </a:rPr>
                        <a:t>W15-16</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Individual Effort Allocation</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E293B"/>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1: Threat Modeling &amp; Lit Taxonomy</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All Team Members (Joint Foundation)</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2: MAS Topology Testbed (LangGraph)</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Neel Chandrakar (Testbed Architecture)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3: Automated Red-Team Engine (TAP)</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Pranav Balebail (Attack Harness &amp; Fuzzing)</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4: System-1 Triage Gate (Clef/Jev)</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Neel Chandrakar (Decision Heads &amp; Triaging)</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5: System-2 Trajectory Reasoner</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Pranav Kaushal (Invariant Auditing Engine)</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6: Quarantine &amp; HITL Dashboard</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Pranav Swaroop (Containment &amp; Supervisor UI)</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7: Co-Evolutionary Loop (MLflow)</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Neel Chandrakar &amp; Pranav Balebail (Active Retraining)</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11827"/>
                    </a:solidFill>
                  </a:tcPr>
                </a:tc>
              </a:tr>
              <a:tr h="420625">
                <a:tc>
                  <a:txBody>
                    <a:bodyPr/>
                    <a:lstStyle/>
                    <a:p>
                      <a:pPr indent="0" lvl="0" marL="0" marR="0" rtl="0" algn="l">
                        <a:spcBef>
                          <a:spcPts val="0"/>
                        </a:spcBef>
                        <a:spcAft>
                          <a:spcPts val="0"/>
                        </a:spcAft>
                        <a:buClr>
                          <a:srgbClr val="F8FAFC"/>
                        </a:buClr>
                        <a:buSzPts val="1250"/>
                        <a:buFont typeface="Calibri"/>
                        <a:buNone/>
                      </a:pPr>
                      <a:r>
                        <a:rPr b="1" lang="en-US" sz="1250" u="none" cap="none" strike="noStrike">
                          <a:solidFill>
                            <a:srgbClr val="F8FAFC"/>
                          </a:solidFill>
                        </a:rPr>
                        <a:t>Stage 8: Final Benchmarks, Validation &amp; Paper</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chemeClr val="dk1"/>
                        </a:buClr>
                        <a:buSzPts val="1250"/>
                        <a:buFont typeface="Calibri"/>
                        <a:buNone/>
                      </a:pPr>
                      <a:r>
                        <a:t/>
                      </a:r>
                      <a:endParaRPr sz="1250" u="none" cap="none" strike="noStrike"/>
                    </a:p>
                  </a:txBody>
                  <a:tcPr marT="54875" marB="54875" marR="54875" marL="54875">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Clr>
                          <a:srgbClr val="94A3B8"/>
                        </a:buClr>
                        <a:buSzPts val="1250"/>
                        <a:buFont typeface="Calibri"/>
                        <a:buNone/>
                      </a:pPr>
                      <a:r>
                        <a:rPr lang="en-US" sz="1250" u="none" cap="none" strike="noStrike">
                          <a:solidFill>
                            <a:srgbClr val="94A3B8"/>
                          </a:solidFill>
                        </a:rPr>
                        <a:t>All Team Members (Empirical Defense &amp; Writing)</a:t>
                      </a:r>
                      <a:endParaRPr sz="1250" u="none" cap="none" strike="noStrike"/>
                    </a:p>
                  </a:txBody>
                  <a:tcPr marT="54875" marB="54875" marR="54875" marL="54875" anchor="ctr">
                    <a:lnL cap="flat" cmpd="sng" w="9525">
                      <a:solidFill>
                        <a:srgbClr val="334155"/>
                      </a:solidFill>
                      <a:prstDash val="solid"/>
                      <a:round/>
                      <a:headEnd len="sm" w="sm" type="none"/>
                      <a:tailEnd len="sm" w="sm" type="none"/>
                    </a:lnL>
                    <a:lnR cap="flat" cmpd="sng" w="9525">
                      <a:solidFill>
                        <a:srgbClr val="334155"/>
                      </a:solidFill>
                      <a:prstDash val="solid"/>
                      <a:round/>
                      <a:headEnd len="sm" w="sm" type="none"/>
                      <a:tailEnd len="sm" w="sm" type="none"/>
                    </a:lnR>
                    <a:lnT cap="flat" cmpd="sng" w="9525">
                      <a:solidFill>
                        <a:srgbClr val="334155"/>
                      </a:solidFill>
                      <a:prstDash val="solid"/>
                      <a:round/>
                      <a:headEnd len="sm" w="sm" type="none"/>
                      <a:tailEnd len="sm" w="sm" type="none"/>
                    </a:lnT>
                    <a:lnB cap="flat" cmpd="sng" w="9525">
                      <a:solidFill>
                        <a:srgbClr val="334155"/>
                      </a:solidFill>
                      <a:prstDash val="solid"/>
                      <a:round/>
                      <a:headEnd len="sm" w="sm" type="none"/>
                      <a:tailEnd len="sm" w="sm" type="none"/>
                    </a:lnB>
                    <a:solidFill>
                      <a:srgbClr val="0F172A"/>
                    </a:solidFill>
                  </a:tcPr>
                </a:tc>
              </a:tr>
            </a:tbl>
          </a:graphicData>
        </a:graphic>
      </p:graphicFrame>
      <p:sp>
        <p:nvSpPr>
          <p:cNvPr id="320" name="Google Shape;320;p21"/>
          <p:cNvSpPr/>
          <p:nvPr/>
        </p:nvSpPr>
        <p:spPr>
          <a:xfrm>
            <a:off x="457200" y="5623560"/>
            <a:ext cx="11274552" cy="73152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21"/>
          <p:cNvSpPr txBox="1"/>
          <p:nvPr/>
        </p:nvSpPr>
        <p:spPr>
          <a:xfrm>
            <a:off x="685800" y="5623560"/>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500"/>
              <a:buFont typeface="Calibri"/>
              <a:buNone/>
            </a:pPr>
            <a:r>
              <a:rPr b="1" lang="en-US" sz="1500">
                <a:solidFill>
                  <a:srgbClr val="F59E0B"/>
                </a:solidFill>
                <a:latin typeface="Calibri"/>
                <a:ea typeface="Calibri"/>
                <a:cs typeface="Calibri"/>
                <a:sym typeface="Calibri"/>
              </a:rPr>
              <a:t>Execution plan: </a:t>
            </a:r>
            <a:r>
              <a:rPr lang="en-US" sz="1500">
                <a:solidFill>
                  <a:srgbClr val="F8FAFC"/>
                </a:solidFill>
                <a:latin typeface="Calibri"/>
                <a:ea typeface="Calibri"/>
                <a:cs typeface="Calibri"/>
                <a:sym typeface="Calibri"/>
              </a:rPr>
              <a:t>test-driven development with bi-weekly sprint reviews and automated Git synchronization.</a:t>
            </a:r>
            <a:endParaRPr sz="1500">
              <a:solidFill>
                <a:schemeClr val="dk1"/>
              </a:solidFill>
              <a:latin typeface="Calibri"/>
              <a:ea typeface="Calibri"/>
              <a:cs typeface="Calibri"/>
              <a:sym typeface="Calibri"/>
            </a:endParaRPr>
          </a:p>
        </p:txBody>
      </p:sp>
      <p:sp>
        <p:nvSpPr>
          <p:cNvPr id="322" name="Google Shape;322;p21"/>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2"/>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Proposed System Architecture: Production &amp; Training Pipeline</a:t>
            </a:r>
            <a:endParaRPr sz="2800"/>
          </a:p>
        </p:txBody>
      </p:sp>
      <p:sp>
        <p:nvSpPr>
          <p:cNvPr id="329" name="Google Shape;329;p22"/>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ANY OTHER INFORMATION · PART 1</a:t>
            </a:r>
            <a:endParaRPr sz="1200">
              <a:solidFill>
                <a:schemeClr val="dk1"/>
              </a:solidFill>
              <a:latin typeface="Calibri"/>
              <a:ea typeface="Calibri"/>
              <a:cs typeface="Calibri"/>
              <a:sym typeface="Calibri"/>
            </a:endParaRPr>
          </a:p>
        </p:txBody>
      </p:sp>
      <p:sp>
        <p:nvSpPr>
          <p:cNvPr id="330" name="Google Shape;330;p22"/>
          <p:cNvSpPr/>
          <p:nvPr/>
        </p:nvSpPr>
        <p:spPr>
          <a:xfrm>
            <a:off x="457200" y="1371600"/>
            <a:ext cx="4923960" cy="5029200"/>
          </a:xfrm>
          <a:prstGeom prst="roundRect">
            <a:avLst>
              <a:gd fmla="val 1486" name="adj"/>
            </a:avLst>
          </a:prstGeom>
          <a:solidFill>
            <a:srgbClr val="FFFFFF"/>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ual-plane architecture: production runtime and training pipeline" id="331" name="Google Shape;331;p22"/>
          <p:cNvPicPr preferRelativeResize="0"/>
          <p:nvPr/>
        </p:nvPicPr>
        <p:blipFill rotWithShape="1">
          <a:blip r:embed="rId3">
            <a:alphaModFix/>
          </a:blip>
          <a:srcRect b="0" l="0" r="0" t="0"/>
          <a:stretch/>
        </p:blipFill>
        <p:spPr>
          <a:xfrm>
            <a:off x="548640" y="1463040"/>
            <a:ext cx="4741080" cy="4846320"/>
          </a:xfrm>
          <a:prstGeom prst="rect">
            <a:avLst/>
          </a:prstGeom>
          <a:noFill/>
          <a:ln>
            <a:noFill/>
          </a:ln>
        </p:spPr>
      </p:pic>
      <p:sp>
        <p:nvSpPr>
          <p:cNvPr id="332" name="Google Shape;332;p22"/>
          <p:cNvSpPr txBox="1"/>
          <p:nvPr/>
        </p:nvSpPr>
        <p:spPr>
          <a:xfrm>
            <a:off x="457200" y="6400800"/>
            <a:ext cx="4923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Dual-plane architecture: low-latency enforcement and continuous co-evolution</a:t>
            </a:r>
            <a:endParaRPr sz="1000">
              <a:solidFill>
                <a:schemeClr val="dk1"/>
              </a:solidFill>
              <a:latin typeface="Calibri"/>
              <a:ea typeface="Calibri"/>
              <a:cs typeface="Calibri"/>
              <a:sym typeface="Calibri"/>
            </a:endParaRPr>
          </a:p>
        </p:txBody>
      </p:sp>
      <p:sp>
        <p:nvSpPr>
          <p:cNvPr id="333" name="Google Shape;333;p22"/>
          <p:cNvSpPr/>
          <p:nvPr/>
        </p:nvSpPr>
        <p:spPr>
          <a:xfrm>
            <a:off x="5609760" y="1371600"/>
            <a:ext cx="6121992"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22"/>
          <p:cNvSpPr txBox="1"/>
          <p:nvPr/>
        </p:nvSpPr>
        <p:spPr>
          <a:xfrm>
            <a:off x="5792640" y="1481328"/>
            <a:ext cx="5756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600"/>
              <a:buFont typeface="Calibri"/>
              <a:buNone/>
            </a:pPr>
            <a:r>
              <a:rPr b="1" lang="en-US" sz="1600">
                <a:solidFill>
                  <a:srgbClr val="EF4444"/>
                </a:solidFill>
                <a:latin typeface="Calibri"/>
                <a:ea typeface="Calibri"/>
                <a:cs typeface="Calibri"/>
                <a:sym typeface="Calibri"/>
              </a:rPr>
              <a:t>Production Runtime Plane</a:t>
            </a:r>
            <a:endParaRPr sz="1600">
              <a:solidFill>
                <a:schemeClr val="dk1"/>
              </a:solidFill>
              <a:latin typeface="Calibri"/>
              <a:ea typeface="Calibri"/>
              <a:cs typeface="Calibri"/>
              <a:sym typeface="Calibri"/>
            </a:endParaRPr>
          </a:p>
        </p:txBody>
      </p:sp>
      <p:sp>
        <p:nvSpPr>
          <p:cNvPr id="335" name="Google Shape;335;p22"/>
          <p:cNvSpPr txBox="1"/>
          <p:nvPr/>
        </p:nvSpPr>
        <p:spPr>
          <a:xfrm>
            <a:off x="5792640" y="1938528"/>
            <a:ext cx="5756232" cy="1737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Threat actor (RED agent) attempts multi-turn injection or viral transmission</a:t>
            </a:r>
            <a:endParaRPr sz="13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Defender model (System-1 gate) is an inline proxy: single-pass ~30–50 ms check for viral markers, injection, drift</a:t>
            </a:r>
            <a:endParaRPr sz="13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Verified messages reach the multi-agent app; traces are saved to the DB and synced async to training</a:t>
            </a:r>
            <a:endParaRPr sz="1300">
              <a:solidFill>
                <a:schemeClr val="dk1"/>
              </a:solidFill>
              <a:latin typeface="Calibri"/>
              <a:ea typeface="Calibri"/>
              <a:cs typeface="Calibri"/>
              <a:sym typeface="Calibri"/>
            </a:endParaRPr>
          </a:p>
        </p:txBody>
      </p:sp>
      <p:sp>
        <p:nvSpPr>
          <p:cNvPr id="336" name="Google Shape;336;p22"/>
          <p:cNvSpPr/>
          <p:nvPr/>
        </p:nvSpPr>
        <p:spPr>
          <a:xfrm>
            <a:off x="5609760" y="3931920"/>
            <a:ext cx="6121992" cy="2423160"/>
          </a:xfrm>
          <a:prstGeom prst="roundRect">
            <a:avLst>
              <a:gd fmla="val 3019"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22"/>
          <p:cNvSpPr txBox="1"/>
          <p:nvPr/>
        </p:nvSpPr>
        <p:spPr>
          <a:xfrm>
            <a:off x="5792640" y="4041648"/>
            <a:ext cx="57562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Training &amp; Co-Evolution Plane</a:t>
            </a:r>
            <a:endParaRPr sz="1600">
              <a:solidFill>
                <a:schemeClr val="dk1"/>
              </a:solidFill>
              <a:latin typeface="Calibri"/>
              <a:ea typeface="Calibri"/>
              <a:cs typeface="Calibri"/>
              <a:sym typeface="Calibri"/>
            </a:endParaRPr>
          </a:p>
        </p:txBody>
      </p:sp>
      <p:sp>
        <p:nvSpPr>
          <p:cNvPr id="338" name="Google Shape;338;p22"/>
          <p:cNvSpPr txBox="1"/>
          <p:nvPr/>
        </p:nvSpPr>
        <p:spPr>
          <a:xfrm>
            <a:off x="5792640" y="4498848"/>
            <a:ext cx="5756232" cy="173736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Trace extraction isolates anomalous or flagged segments</a:t>
            </a:r>
            <a:endParaRPr sz="13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Privacy filter strips PII, credentials, user identifiers</a:t>
            </a:r>
            <a:endParaRPr sz="13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Contrastive pairs, then LoRA/QLoRA fine-tuning of the decision model</a:t>
            </a:r>
            <a:endParaRPr sz="1300">
              <a:solidFill>
                <a:schemeClr val="dk1"/>
              </a:solidFill>
              <a:latin typeface="Calibri"/>
              <a:ea typeface="Calibri"/>
              <a:cs typeface="Calibri"/>
              <a:sym typeface="Calibri"/>
            </a:endParaRPr>
          </a:p>
          <a:p>
            <a:pPr indent="-152400" lvl="0" marL="152400" marR="0" rtl="0" algn="l">
              <a:spcBef>
                <a:spcPts val="500"/>
              </a:spcBef>
              <a:spcAft>
                <a:spcPts val="0"/>
              </a:spcAft>
              <a:buClr>
                <a:srgbClr val="F8FAFC"/>
              </a:buClr>
              <a:buSzPts val="1300"/>
              <a:buFont typeface="Calibri"/>
              <a:buChar char="•"/>
            </a:pPr>
            <a:r>
              <a:rPr lang="en-US" sz="1300">
                <a:solidFill>
                  <a:srgbClr val="F8FAFC"/>
                </a:solidFill>
                <a:latin typeface="Calibri"/>
                <a:ea typeface="Calibri"/>
                <a:cs typeface="Calibri"/>
                <a:sym typeface="Calibri"/>
              </a:rPr>
              <a:t>MLflow registry versions and publishes new weights, closing the loop</a:t>
            </a:r>
            <a:endParaRPr sz="1300">
              <a:solidFill>
                <a:schemeClr val="dk1"/>
              </a:solidFill>
              <a:latin typeface="Calibri"/>
              <a:ea typeface="Calibri"/>
              <a:cs typeface="Calibri"/>
              <a:sym typeface="Calibri"/>
            </a:endParaRPr>
          </a:p>
        </p:txBody>
      </p:sp>
      <p:sp>
        <p:nvSpPr>
          <p:cNvPr id="339" name="Google Shape;339;p22"/>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System-1 Decision Model Benchmarking</a:t>
            </a:r>
            <a:endParaRPr sz="2800"/>
          </a:p>
        </p:txBody>
      </p:sp>
      <p:sp>
        <p:nvSpPr>
          <p:cNvPr id="346" name="Google Shape;346;p23"/>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ANY OTHER INFORMATION · PART 2</a:t>
            </a:r>
            <a:endParaRPr sz="1200">
              <a:solidFill>
                <a:schemeClr val="dk1"/>
              </a:solidFill>
              <a:latin typeface="Calibri"/>
              <a:ea typeface="Calibri"/>
              <a:cs typeface="Calibri"/>
              <a:sym typeface="Calibri"/>
            </a:endParaRPr>
          </a:p>
        </p:txBody>
      </p:sp>
      <p:pic>
        <p:nvPicPr>
          <p:cNvPr descr="Benchmark table comparing six System-1 models across ten datasets" id="347" name="Google Shape;347;p23"/>
          <p:cNvPicPr preferRelativeResize="0"/>
          <p:nvPr/>
        </p:nvPicPr>
        <p:blipFill rotWithShape="1">
          <a:blip r:embed="rId3">
            <a:alphaModFix/>
          </a:blip>
          <a:srcRect b="0" l="0" r="0" t="0"/>
          <a:stretch/>
        </p:blipFill>
        <p:spPr>
          <a:xfrm>
            <a:off x="457200" y="1371600"/>
            <a:ext cx="4558570" cy="4846320"/>
          </a:xfrm>
          <a:prstGeom prst="rect">
            <a:avLst/>
          </a:prstGeom>
          <a:noFill/>
          <a:ln>
            <a:noFill/>
          </a:ln>
        </p:spPr>
      </p:pic>
      <p:sp>
        <p:nvSpPr>
          <p:cNvPr id="348" name="Google Shape;348;p23"/>
          <p:cNvSpPr txBox="1"/>
          <p:nvPr/>
        </p:nvSpPr>
        <p:spPr>
          <a:xfrm>
            <a:off x="457200" y="6263640"/>
            <a:ext cx="455857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Six System-1 models across 10 datasets (bold = best per row)</a:t>
            </a:r>
            <a:endParaRPr sz="1000">
              <a:solidFill>
                <a:schemeClr val="dk1"/>
              </a:solidFill>
              <a:latin typeface="Calibri"/>
              <a:ea typeface="Calibri"/>
              <a:cs typeface="Calibri"/>
              <a:sym typeface="Calibri"/>
            </a:endParaRPr>
          </a:p>
        </p:txBody>
      </p:sp>
      <p:sp>
        <p:nvSpPr>
          <p:cNvPr id="349" name="Google Shape;349;p23"/>
          <p:cNvSpPr/>
          <p:nvPr/>
        </p:nvSpPr>
        <p:spPr>
          <a:xfrm>
            <a:off x="5290090" y="1371600"/>
            <a:ext cx="6441662" cy="1554480"/>
          </a:xfrm>
          <a:prstGeom prst="roundRect">
            <a:avLst>
              <a:gd fmla="val 4706"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3"/>
          <p:cNvSpPr txBox="1"/>
          <p:nvPr/>
        </p:nvSpPr>
        <p:spPr>
          <a:xfrm>
            <a:off x="5427250" y="1554480"/>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2800"/>
              <a:buFont typeface="Calibri"/>
              <a:buNone/>
            </a:pPr>
            <a:r>
              <a:rPr b="1" lang="en-US" sz="2800">
                <a:solidFill>
                  <a:srgbClr val="10B981"/>
                </a:solidFill>
                <a:latin typeface="Calibri"/>
                <a:ea typeface="Calibri"/>
                <a:cs typeface="Calibri"/>
                <a:sym typeface="Calibri"/>
              </a:rPr>
              <a:t>98.76%</a:t>
            </a:r>
            <a:endParaRPr sz="2800">
              <a:solidFill>
                <a:schemeClr val="dk1"/>
              </a:solidFill>
              <a:latin typeface="Calibri"/>
              <a:ea typeface="Calibri"/>
              <a:cs typeface="Calibri"/>
              <a:sym typeface="Calibri"/>
            </a:endParaRPr>
          </a:p>
        </p:txBody>
      </p:sp>
      <p:sp>
        <p:nvSpPr>
          <p:cNvPr id="351" name="Google Shape;351;p23"/>
          <p:cNvSpPr txBox="1"/>
          <p:nvPr/>
        </p:nvSpPr>
        <p:spPr>
          <a:xfrm>
            <a:off x="5427250" y="2240280"/>
            <a:ext cx="1737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BFCL case exact · Clef-flash</a:t>
            </a:r>
            <a:endParaRPr sz="1100">
              <a:solidFill>
                <a:schemeClr val="dk1"/>
              </a:solidFill>
              <a:latin typeface="Calibri"/>
              <a:ea typeface="Calibri"/>
              <a:cs typeface="Calibri"/>
              <a:sym typeface="Calibri"/>
            </a:endParaRPr>
          </a:p>
        </p:txBody>
      </p:sp>
      <p:sp>
        <p:nvSpPr>
          <p:cNvPr id="352" name="Google Shape;352;p23"/>
          <p:cNvSpPr txBox="1"/>
          <p:nvPr/>
        </p:nvSpPr>
        <p:spPr>
          <a:xfrm>
            <a:off x="7256050" y="1463040"/>
            <a:ext cx="4292822"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Clef-flash leads tool-call precision (BFCL 98.76%, API-Bank 93.11%, Home appliances 97.73%): the premier edge model for validating tool schemas.</a:t>
            </a:r>
            <a:endParaRPr sz="1400">
              <a:solidFill>
                <a:schemeClr val="dk1"/>
              </a:solidFill>
              <a:latin typeface="Calibri"/>
              <a:ea typeface="Calibri"/>
              <a:cs typeface="Calibri"/>
              <a:sym typeface="Calibri"/>
            </a:endParaRPr>
          </a:p>
        </p:txBody>
      </p:sp>
      <p:sp>
        <p:nvSpPr>
          <p:cNvPr id="353" name="Google Shape;353;p23"/>
          <p:cNvSpPr/>
          <p:nvPr/>
        </p:nvSpPr>
        <p:spPr>
          <a:xfrm>
            <a:off x="5290090" y="3063240"/>
            <a:ext cx="6441662" cy="1554480"/>
          </a:xfrm>
          <a:prstGeom prst="roundRect">
            <a:avLst>
              <a:gd fmla="val 4706"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3"/>
          <p:cNvSpPr txBox="1"/>
          <p:nvPr/>
        </p:nvSpPr>
        <p:spPr>
          <a:xfrm>
            <a:off x="5427250" y="3246120"/>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2800"/>
              <a:buFont typeface="Calibri"/>
              <a:buNone/>
            </a:pPr>
            <a:r>
              <a:rPr b="1" lang="en-US" sz="2800">
                <a:solidFill>
                  <a:srgbClr val="06B6D4"/>
                </a:solidFill>
                <a:latin typeface="Calibri"/>
                <a:ea typeface="Calibri"/>
                <a:cs typeface="Calibri"/>
                <a:sym typeface="Calibri"/>
              </a:rPr>
              <a:t>80.97%</a:t>
            </a:r>
            <a:endParaRPr sz="2800">
              <a:solidFill>
                <a:schemeClr val="dk1"/>
              </a:solidFill>
              <a:latin typeface="Calibri"/>
              <a:ea typeface="Calibri"/>
              <a:cs typeface="Calibri"/>
              <a:sym typeface="Calibri"/>
            </a:endParaRPr>
          </a:p>
        </p:txBody>
      </p:sp>
      <p:sp>
        <p:nvSpPr>
          <p:cNvPr id="355" name="Google Shape;355;p23"/>
          <p:cNvSpPr txBox="1"/>
          <p:nvPr/>
        </p:nvSpPr>
        <p:spPr>
          <a:xfrm>
            <a:off x="5427250" y="3931920"/>
            <a:ext cx="1737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When2Call · Jev</a:t>
            </a:r>
            <a:endParaRPr sz="1100">
              <a:solidFill>
                <a:schemeClr val="dk1"/>
              </a:solidFill>
              <a:latin typeface="Calibri"/>
              <a:ea typeface="Calibri"/>
              <a:cs typeface="Calibri"/>
              <a:sym typeface="Calibri"/>
            </a:endParaRPr>
          </a:p>
        </p:txBody>
      </p:sp>
      <p:sp>
        <p:nvSpPr>
          <p:cNvPr id="356" name="Google Shape;356;p23"/>
          <p:cNvSpPr txBox="1"/>
          <p:nvPr/>
        </p:nvSpPr>
        <p:spPr>
          <a:xfrm>
            <a:off x="7256050" y="3154680"/>
            <a:ext cx="4292822"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Jev beats every model on When2Call (Clef: 72.37%), making it the triage gatekeeper that decides when an interaction needs escalation.</a:t>
            </a:r>
            <a:endParaRPr sz="1400">
              <a:solidFill>
                <a:schemeClr val="dk1"/>
              </a:solidFill>
              <a:latin typeface="Calibri"/>
              <a:ea typeface="Calibri"/>
              <a:cs typeface="Calibri"/>
              <a:sym typeface="Calibri"/>
            </a:endParaRPr>
          </a:p>
        </p:txBody>
      </p:sp>
      <p:sp>
        <p:nvSpPr>
          <p:cNvPr id="357" name="Google Shape;357;p23"/>
          <p:cNvSpPr/>
          <p:nvPr/>
        </p:nvSpPr>
        <p:spPr>
          <a:xfrm>
            <a:off x="5290090" y="4754880"/>
            <a:ext cx="6441662" cy="1554480"/>
          </a:xfrm>
          <a:prstGeom prst="roundRect">
            <a:avLst>
              <a:gd fmla="val 4706"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23"/>
          <p:cNvSpPr txBox="1"/>
          <p:nvPr/>
        </p:nvSpPr>
        <p:spPr>
          <a:xfrm>
            <a:off x="5427250" y="4937760"/>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2800"/>
              <a:buFont typeface="Calibri"/>
              <a:buNone/>
            </a:pPr>
            <a:r>
              <a:rPr b="1" lang="en-US" sz="2800">
                <a:solidFill>
                  <a:srgbClr val="EF4444"/>
                </a:solidFill>
                <a:latin typeface="Calibri"/>
                <a:ea typeface="Calibri"/>
                <a:cs typeface="Calibri"/>
                <a:sym typeface="Calibri"/>
              </a:rPr>
              <a:t>0.00%</a:t>
            </a:r>
            <a:endParaRPr sz="2800">
              <a:solidFill>
                <a:schemeClr val="dk1"/>
              </a:solidFill>
              <a:latin typeface="Calibri"/>
              <a:ea typeface="Calibri"/>
              <a:cs typeface="Calibri"/>
              <a:sym typeface="Calibri"/>
            </a:endParaRPr>
          </a:p>
        </p:txBody>
      </p:sp>
      <p:sp>
        <p:nvSpPr>
          <p:cNvPr id="359" name="Google Shape;359;p23"/>
          <p:cNvSpPr txBox="1"/>
          <p:nvPr/>
        </p:nvSpPr>
        <p:spPr>
          <a:xfrm>
            <a:off x="5427250" y="5623560"/>
            <a:ext cx="1737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lang="en-US" sz="1100">
                <a:solidFill>
                  <a:srgbClr val="94A3B8"/>
                </a:solidFill>
                <a:latin typeface="Calibri"/>
                <a:ea typeface="Calibri"/>
                <a:cs typeface="Calibri"/>
                <a:sym typeface="Calibri"/>
              </a:rPr>
              <a:t>Home appliances · Laya</a:t>
            </a:r>
            <a:endParaRPr sz="1100">
              <a:solidFill>
                <a:schemeClr val="dk1"/>
              </a:solidFill>
              <a:latin typeface="Calibri"/>
              <a:ea typeface="Calibri"/>
              <a:cs typeface="Calibri"/>
              <a:sym typeface="Calibri"/>
            </a:endParaRPr>
          </a:p>
        </p:txBody>
      </p:sp>
      <p:sp>
        <p:nvSpPr>
          <p:cNvPr id="360" name="Google Shape;360;p23"/>
          <p:cNvSpPr txBox="1"/>
          <p:nvPr/>
        </p:nvSpPr>
        <p:spPr>
          <a:xfrm>
            <a:off x="7256050" y="4846320"/>
            <a:ext cx="4292822"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Laya collapses on tool and intent tasks (BFCL 38.13%, API-Bank 11.41%): generic edge chat models cannot secure swarms without specialized fine-tuning.</a:t>
            </a:r>
            <a:endParaRPr sz="1400">
              <a:solidFill>
                <a:schemeClr val="dk1"/>
              </a:solidFill>
              <a:latin typeface="Calibri"/>
              <a:ea typeface="Calibri"/>
              <a:cs typeface="Calibri"/>
              <a:sym typeface="Calibri"/>
            </a:endParaRPr>
          </a:p>
        </p:txBody>
      </p:sp>
      <p:sp>
        <p:nvSpPr>
          <p:cNvPr id="361" name="Google Shape;361;p23"/>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4"/>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Formal Mathematical Formulation &amp; Decision Boundaries</a:t>
            </a:r>
            <a:endParaRPr sz="2800"/>
          </a:p>
        </p:txBody>
      </p:sp>
      <p:sp>
        <p:nvSpPr>
          <p:cNvPr id="368" name="Google Shape;368;p24"/>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ANY OTHER INFORMATION · PART 3</a:t>
            </a:r>
            <a:endParaRPr sz="1200">
              <a:solidFill>
                <a:schemeClr val="dk1"/>
              </a:solidFill>
              <a:latin typeface="Calibri"/>
              <a:ea typeface="Calibri"/>
              <a:cs typeface="Calibri"/>
              <a:sym typeface="Calibri"/>
            </a:endParaRPr>
          </a:p>
        </p:txBody>
      </p:sp>
      <p:sp>
        <p:nvSpPr>
          <p:cNvPr id="369" name="Google Shape;369;p24"/>
          <p:cNvSpPr/>
          <p:nvPr/>
        </p:nvSpPr>
        <p:spPr>
          <a:xfrm>
            <a:off x="457200" y="1371600"/>
            <a:ext cx="5212080" cy="4983480"/>
          </a:xfrm>
          <a:prstGeom prst="roundRect">
            <a:avLst>
              <a:gd fmla="val 1468"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4"/>
          <p:cNvSpPr/>
          <p:nvPr/>
        </p:nvSpPr>
        <p:spPr>
          <a:xfrm>
            <a:off x="5806440" y="1371600"/>
            <a:ext cx="3108960" cy="4983480"/>
          </a:xfrm>
          <a:prstGeom prst="roundRect">
            <a:avLst>
              <a:gd fmla="val 2353"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24"/>
          <p:cNvSpPr/>
          <p:nvPr/>
        </p:nvSpPr>
        <p:spPr>
          <a:xfrm>
            <a:off x="9052560" y="1371600"/>
            <a:ext cx="2679192" cy="4983480"/>
          </a:xfrm>
          <a:prstGeom prst="roundRect">
            <a:avLst>
              <a:gd fmla="val 2730"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4"/>
          <p:cNvSpPr txBox="1"/>
          <p:nvPr/>
        </p:nvSpPr>
        <p:spPr>
          <a:xfrm>
            <a:off x="640080" y="1481328"/>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1. Non-autoregressive triage</a:t>
            </a:r>
            <a:endParaRPr sz="1600">
              <a:solidFill>
                <a:schemeClr val="dk1"/>
              </a:solidFill>
              <a:latin typeface="Calibri"/>
              <a:ea typeface="Calibri"/>
              <a:cs typeface="Calibri"/>
              <a:sym typeface="Calibri"/>
            </a:endParaRPr>
          </a:p>
        </p:txBody>
      </p:sp>
      <p:sp>
        <p:nvSpPr>
          <p:cNvPr id="373" name="Google Shape;373;p24"/>
          <p:cNvSpPr txBox="1"/>
          <p:nvPr/>
        </p:nvSpPr>
        <p:spPr>
          <a:xfrm>
            <a:off x="640080" y="192024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For message mₜ and history Hₜ = (m₁…mₜ₋₁), System-1 computes:</a:t>
            </a:r>
            <a:endParaRPr sz="1400">
              <a:solidFill>
                <a:schemeClr val="dk1"/>
              </a:solidFill>
              <a:latin typeface="Calibri"/>
              <a:ea typeface="Calibri"/>
              <a:cs typeface="Calibri"/>
              <a:sym typeface="Calibri"/>
            </a:endParaRPr>
          </a:p>
        </p:txBody>
      </p:sp>
      <p:sp>
        <p:nvSpPr>
          <p:cNvPr id="374" name="Google Shape;374;p24"/>
          <p:cNvSpPr/>
          <p:nvPr/>
        </p:nvSpPr>
        <p:spPr>
          <a:xfrm>
            <a:off x="640080" y="2468880"/>
            <a:ext cx="4846320" cy="685800"/>
          </a:xfrm>
          <a:prstGeom prst="roundRect">
            <a:avLst>
              <a:gd fmla="val 8000" name="adj"/>
            </a:avLst>
          </a:prstGeom>
          <a:solidFill>
            <a:srgbClr val="0B0F19"/>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24"/>
          <p:cNvSpPr txBox="1"/>
          <p:nvPr/>
        </p:nvSpPr>
        <p:spPr>
          <a:xfrm>
            <a:off x="640080" y="2468880"/>
            <a:ext cx="4846320" cy="685800"/>
          </a:xfrm>
          <a:prstGeom prst="rect">
            <a:avLst/>
          </a:prstGeom>
          <a:noFill/>
          <a:ln>
            <a:noFill/>
          </a:ln>
        </p:spPr>
        <p:txBody>
          <a:bodyPr anchorCtr="0" anchor="ctr" bIns="1000" lIns="1000" spcFirstLastPara="1" rIns="1000" wrap="square" tIns="1000">
            <a:noAutofit/>
          </a:bodyPr>
          <a:lstStyle/>
          <a:p>
            <a:pPr indent="0" lvl="0" marL="0" marR="0" rtl="0" algn="ctr">
              <a:spcBef>
                <a:spcPts val="0"/>
              </a:spcBef>
              <a:spcAft>
                <a:spcPts val="0"/>
              </a:spcAft>
              <a:buClr>
                <a:srgbClr val="06B6D4"/>
              </a:buClr>
              <a:buSzPts val="1400"/>
              <a:buFont typeface="Calibri"/>
              <a:buNone/>
            </a:pPr>
            <a:r>
              <a:rPr b="1" lang="en-US" sz="1400">
                <a:solidFill>
                  <a:srgbClr val="06B6D4"/>
                </a:solidFill>
                <a:latin typeface="Calibri"/>
                <a:ea typeface="Calibri"/>
                <a:cs typeface="Calibri"/>
                <a:sym typeface="Calibri"/>
              </a:rPr>
              <a:t>P_risk(mₜ | Hₜ) = f_Sys1(E(mₜ), E(Hₜ)) ∈ [0, 1]</a:t>
            </a:r>
            <a:endParaRPr sz="1400">
              <a:solidFill>
                <a:schemeClr val="dk1"/>
              </a:solidFill>
              <a:latin typeface="Calibri"/>
              <a:ea typeface="Calibri"/>
              <a:cs typeface="Calibri"/>
              <a:sym typeface="Calibri"/>
            </a:endParaRPr>
          </a:p>
        </p:txBody>
      </p:sp>
      <p:sp>
        <p:nvSpPr>
          <p:cNvPr id="376" name="Google Shape;376;p24"/>
          <p:cNvSpPr txBox="1"/>
          <p:nvPr/>
        </p:nvSpPr>
        <p:spPr>
          <a:xfrm>
            <a:off x="640080" y="3337560"/>
            <a:ext cx="484632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400"/>
              <a:buFont typeface="Calibri"/>
              <a:buNone/>
            </a:pPr>
            <a:r>
              <a:rPr b="1" lang="en-US" sz="1400">
                <a:solidFill>
                  <a:srgbClr val="10B981"/>
                </a:solidFill>
                <a:latin typeface="Calibri"/>
                <a:ea typeface="Calibri"/>
                <a:cs typeface="Calibri"/>
                <a:sym typeface="Calibri"/>
              </a:rPr>
              <a:t>Green · P &lt; τ₁ ≈ 0.15</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50"/>
              <a:buFont typeface="Calibri"/>
              <a:buNone/>
            </a:pPr>
            <a:r>
              <a:rPr lang="en-US" sz="1350">
                <a:solidFill>
                  <a:srgbClr val="F8FAFC"/>
                </a:solidFill>
                <a:latin typeface="Calibri"/>
                <a:ea typeface="Calibri"/>
                <a:cs typeface="Calibri"/>
                <a:sym typeface="Calibri"/>
              </a:rPr>
              <a:t>Low viral risk: zero-overhead pass-through</a:t>
            </a:r>
            <a:endParaRPr sz="1400">
              <a:solidFill>
                <a:schemeClr val="dk1"/>
              </a:solidFill>
              <a:latin typeface="Calibri"/>
              <a:ea typeface="Calibri"/>
              <a:cs typeface="Calibri"/>
              <a:sym typeface="Calibri"/>
            </a:endParaRPr>
          </a:p>
        </p:txBody>
      </p:sp>
      <p:sp>
        <p:nvSpPr>
          <p:cNvPr id="377" name="Google Shape;377;p24"/>
          <p:cNvSpPr txBox="1"/>
          <p:nvPr/>
        </p:nvSpPr>
        <p:spPr>
          <a:xfrm>
            <a:off x="640080" y="4325112"/>
            <a:ext cx="48463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9E0B"/>
              </a:buClr>
              <a:buSzPts val="1400"/>
              <a:buFont typeface="Calibri"/>
              <a:buNone/>
            </a:pPr>
            <a:r>
              <a:rPr b="1" lang="en-US" sz="1400">
                <a:solidFill>
                  <a:srgbClr val="F59E0B"/>
                </a:solidFill>
                <a:latin typeface="Calibri"/>
                <a:ea typeface="Calibri"/>
                <a:cs typeface="Calibri"/>
                <a:sym typeface="Calibri"/>
              </a:rPr>
              <a:t>Amber · τ₁ ≤ P &lt; τ₂ ≈ 0.70</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50"/>
              <a:buFont typeface="Calibri"/>
              <a:buNone/>
            </a:pPr>
            <a:r>
              <a:rPr lang="en-US" sz="1350">
                <a:solidFill>
                  <a:srgbClr val="F8FAFC"/>
                </a:solidFill>
                <a:latin typeface="Calibri"/>
                <a:ea typeface="Calibri"/>
                <a:cs typeface="Calibri"/>
                <a:sym typeface="Calibri"/>
              </a:rPr>
              <a:t>Drift: pause and escalate to System-2:  D = LLM_audit(⋃ mᵢ, I_system) ∈ {Approve, Quarantine}</a:t>
            </a:r>
            <a:endParaRPr sz="1400">
              <a:solidFill>
                <a:schemeClr val="dk1"/>
              </a:solidFill>
              <a:latin typeface="Calibri"/>
              <a:ea typeface="Calibri"/>
              <a:cs typeface="Calibri"/>
              <a:sym typeface="Calibri"/>
            </a:endParaRPr>
          </a:p>
        </p:txBody>
      </p:sp>
      <p:sp>
        <p:nvSpPr>
          <p:cNvPr id="378" name="Google Shape;378;p24"/>
          <p:cNvSpPr txBox="1"/>
          <p:nvPr/>
        </p:nvSpPr>
        <p:spPr>
          <a:xfrm>
            <a:off x="640080" y="5312664"/>
            <a:ext cx="484632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b="1" lang="en-US" sz="1400">
                <a:solidFill>
                  <a:srgbClr val="EF4444"/>
                </a:solidFill>
                <a:latin typeface="Calibri"/>
                <a:ea typeface="Calibri"/>
                <a:cs typeface="Calibri"/>
                <a:sym typeface="Calibri"/>
              </a:rPr>
              <a:t>Red · P ≥ τ₂</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1350"/>
              <a:buFont typeface="Calibri"/>
              <a:buNone/>
            </a:pPr>
            <a:r>
              <a:rPr lang="en-US" sz="1350">
                <a:solidFill>
                  <a:srgbClr val="F8FAFC"/>
                </a:solidFill>
                <a:latin typeface="Calibri"/>
                <a:ea typeface="Calibri"/>
                <a:cs typeface="Calibri"/>
                <a:sym typeface="Calibri"/>
              </a:rPr>
              <a:t>Drop message, quarantine agent, alert HITL</a:t>
            </a:r>
            <a:endParaRPr sz="1400">
              <a:solidFill>
                <a:schemeClr val="dk1"/>
              </a:solidFill>
              <a:latin typeface="Calibri"/>
              <a:ea typeface="Calibri"/>
              <a:cs typeface="Calibri"/>
              <a:sym typeface="Calibri"/>
            </a:endParaRPr>
          </a:p>
        </p:txBody>
      </p:sp>
      <p:sp>
        <p:nvSpPr>
          <p:cNvPr id="379" name="Google Shape;379;p24"/>
          <p:cNvSpPr txBox="1"/>
          <p:nvPr/>
        </p:nvSpPr>
        <p:spPr>
          <a:xfrm>
            <a:off x="5943600" y="1481328"/>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2. Viral suppression bound</a:t>
            </a:r>
            <a:endParaRPr sz="1600">
              <a:solidFill>
                <a:schemeClr val="dk1"/>
              </a:solidFill>
              <a:latin typeface="Calibri"/>
              <a:ea typeface="Calibri"/>
              <a:cs typeface="Calibri"/>
              <a:sym typeface="Calibri"/>
            </a:endParaRPr>
          </a:p>
        </p:txBody>
      </p:sp>
      <p:sp>
        <p:nvSpPr>
          <p:cNvPr id="380" name="Google Shape;380;p24"/>
          <p:cNvSpPr txBox="1"/>
          <p:nvPr/>
        </p:nvSpPr>
        <p:spPr>
          <a:xfrm>
            <a:off x="5943600" y="1920240"/>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With adjacency matrix A ∈ ℝ^(N×N) and transmission probabilities T:</a:t>
            </a:r>
            <a:endParaRPr sz="1400">
              <a:solidFill>
                <a:schemeClr val="dk1"/>
              </a:solidFill>
              <a:latin typeface="Calibri"/>
              <a:ea typeface="Calibri"/>
              <a:cs typeface="Calibri"/>
              <a:sym typeface="Calibri"/>
            </a:endParaRPr>
          </a:p>
        </p:txBody>
      </p:sp>
      <p:sp>
        <p:nvSpPr>
          <p:cNvPr id="381" name="Google Shape;381;p24"/>
          <p:cNvSpPr/>
          <p:nvPr/>
        </p:nvSpPr>
        <p:spPr>
          <a:xfrm>
            <a:off x="5943600" y="2743200"/>
            <a:ext cx="2834640" cy="1188720"/>
          </a:xfrm>
          <a:prstGeom prst="roundRect">
            <a:avLst>
              <a:gd fmla="val 4615" name="adj"/>
            </a:avLst>
          </a:prstGeom>
          <a:solidFill>
            <a:srgbClr val="0B0F19"/>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4"/>
          <p:cNvSpPr txBox="1"/>
          <p:nvPr/>
        </p:nvSpPr>
        <p:spPr>
          <a:xfrm>
            <a:off x="5943600" y="2743200"/>
            <a:ext cx="2834640" cy="1188720"/>
          </a:xfrm>
          <a:prstGeom prst="rect">
            <a:avLst/>
          </a:prstGeom>
          <a:noFill/>
          <a:ln>
            <a:noFill/>
          </a:ln>
        </p:spPr>
        <p:txBody>
          <a:bodyPr anchorCtr="0" anchor="ctr" bIns="1000" lIns="1000" spcFirstLastPara="1" rIns="1000" wrap="square" tIns="1000">
            <a:noAutofit/>
          </a:bodyPr>
          <a:lstStyle/>
          <a:p>
            <a:pPr indent="0" lvl="0" marL="0" marR="0" rtl="0" algn="ctr">
              <a:spcBef>
                <a:spcPts val="0"/>
              </a:spcBef>
              <a:spcAft>
                <a:spcPts val="0"/>
              </a:spcAft>
              <a:buClr>
                <a:srgbClr val="06B6D4"/>
              </a:buClr>
              <a:buSzPts val="1400"/>
              <a:buFont typeface="Calibri"/>
              <a:buNone/>
            </a:pPr>
            <a:r>
              <a:rPr b="1" lang="en-US" sz="1400">
                <a:solidFill>
                  <a:srgbClr val="06B6D4"/>
                </a:solidFill>
                <a:latin typeface="Calibri"/>
                <a:ea typeface="Calibri"/>
                <a:cs typeface="Calibri"/>
                <a:sym typeface="Calibri"/>
              </a:rPr>
              <a:t>R₀ = ρ(T ∘ A) · (1 − TPR₁ · TPR₂) &lt; 1</a:t>
            </a:r>
            <a:endParaRPr sz="1400">
              <a:solidFill>
                <a:schemeClr val="dk1"/>
              </a:solidFill>
              <a:latin typeface="Calibri"/>
              <a:ea typeface="Calibri"/>
              <a:cs typeface="Calibri"/>
              <a:sym typeface="Calibri"/>
            </a:endParaRPr>
          </a:p>
        </p:txBody>
      </p:sp>
      <p:sp>
        <p:nvSpPr>
          <p:cNvPr id="383" name="Google Shape;383;p24"/>
          <p:cNvSpPr txBox="1"/>
          <p:nvPr/>
        </p:nvSpPr>
        <p:spPr>
          <a:xfrm>
            <a:off x="5943600" y="4114800"/>
            <a:ext cx="28346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350"/>
              <a:buFont typeface="Calibri"/>
              <a:buNone/>
            </a:pPr>
            <a:r>
              <a:rPr lang="en-US" sz="1350">
                <a:solidFill>
                  <a:srgbClr val="94A3B8"/>
                </a:solidFill>
                <a:latin typeface="Calibri"/>
                <a:ea typeface="Calibri"/>
                <a:cs typeface="Calibri"/>
                <a:sym typeface="Calibri"/>
              </a:rPr>
              <a:t>ρ is the spectral radius; TPR₁ and TPR₂ are the System-1 and System-2 true-positive rates.</a:t>
            </a:r>
            <a:endParaRPr sz="1350">
              <a:solidFill>
                <a:schemeClr val="dk1"/>
              </a:solidFill>
              <a:latin typeface="Calibri"/>
              <a:ea typeface="Calibri"/>
              <a:cs typeface="Calibri"/>
              <a:sym typeface="Calibri"/>
            </a:endParaRPr>
          </a:p>
        </p:txBody>
      </p:sp>
      <p:sp>
        <p:nvSpPr>
          <p:cNvPr id="384" name="Google Shape;384;p24"/>
          <p:cNvSpPr txBox="1"/>
          <p:nvPr/>
        </p:nvSpPr>
        <p:spPr>
          <a:xfrm>
            <a:off x="9189720" y="1481328"/>
            <a:ext cx="2423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600"/>
              <a:buFont typeface="Calibri"/>
              <a:buNone/>
            </a:pPr>
            <a:r>
              <a:rPr b="1" lang="en-US" sz="1600">
                <a:solidFill>
                  <a:srgbClr val="10B981"/>
                </a:solidFill>
                <a:latin typeface="Calibri"/>
                <a:ea typeface="Calibri"/>
                <a:cs typeface="Calibri"/>
                <a:sym typeface="Calibri"/>
              </a:rPr>
              <a:t>3. State-drift vector</a:t>
            </a:r>
            <a:endParaRPr sz="1600">
              <a:solidFill>
                <a:schemeClr val="dk1"/>
              </a:solidFill>
              <a:latin typeface="Calibri"/>
              <a:ea typeface="Calibri"/>
              <a:cs typeface="Calibri"/>
              <a:sym typeface="Calibri"/>
            </a:endParaRPr>
          </a:p>
        </p:txBody>
      </p:sp>
      <p:sp>
        <p:nvSpPr>
          <p:cNvPr id="385" name="Google Shape;385;p24"/>
          <p:cNvSpPr txBox="1"/>
          <p:nvPr/>
        </p:nvSpPr>
        <p:spPr>
          <a:xfrm>
            <a:off x="9189720" y="1920240"/>
            <a:ext cx="24231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Calibri"/>
              <a:buNone/>
            </a:pPr>
            <a:r>
              <a:rPr lang="en-US" sz="1400">
                <a:solidFill>
                  <a:srgbClr val="F8FAFC"/>
                </a:solidFill>
                <a:latin typeface="Calibri"/>
                <a:ea typeface="Calibri"/>
                <a:cs typeface="Calibri"/>
                <a:sym typeface="Calibri"/>
              </a:rPr>
              <a:t>Divergence from the invariant system-prompt embedding:</a:t>
            </a:r>
            <a:endParaRPr sz="1400">
              <a:solidFill>
                <a:schemeClr val="dk1"/>
              </a:solidFill>
              <a:latin typeface="Calibri"/>
              <a:ea typeface="Calibri"/>
              <a:cs typeface="Calibri"/>
              <a:sym typeface="Calibri"/>
            </a:endParaRPr>
          </a:p>
        </p:txBody>
      </p:sp>
      <p:sp>
        <p:nvSpPr>
          <p:cNvPr id="386" name="Google Shape;386;p24"/>
          <p:cNvSpPr/>
          <p:nvPr/>
        </p:nvSpPr>
        <p:spPr>
          <a:xfrm>
            <a:off x="9189720" y="2743200"/>
            <a:ext cx="2423160" cy="1188720"/>
          </a:xfrm>
          <a:prstGeom prst="roundRect">
            <a:avLst>
              <a:gd fmla="val 4615" name="adj"/>
            </a:avLst>
          </a:prstGeom>
          <a:solidFill>
            <a:srgbClr val="0B0F19"/>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4"/>
          <p:cNvSpPr txBox="1"/>
          <p:nvPr/>
        </p:nvSpPr>
        <p:spPr>
          <a:xfrm>
            <a:off x="9189720" y="2743200"/>
            <a:ext cx="2423160" cy="1188720"/>
          </a:xfrm>
          <a:prstGeom prst="rect">
            <a:avLst/>
          </a:prstGeom>
          <a:noFill/>
          <a:ln>
            <a:noFill/>
          </a:ln>
        </p:spPr>
        <p:txBody>
          <a:bodyPr anchorCtr="0" anchor="ctr" bIns="1000" lIns="1000" spcFirstLastPara="1" rIns="1000" wrap="square" tIns="1000">
            <a:noAutofit/>
          </a:bodyPr>
          <a:lstStyle/>
          <a:p>
            <a:pPr indent="0" lvl="0" marL="0" marR="0" rtl="0" algn="ctr">
              <a:spcBef>
                <a:spcPts val="0"/>
              </a:spcBef>
              <a:spcAft>
                <a:spcPts val="0"/>
              </a:spcAft>
              <a:buClr>
                <a:srgbClr val="06B6D4"/>
              </a:buClr>
              <a:buSzPts val="1300"/>
              <a:buFont typeface="Calibri"/>
              <a:buNone/>
            </a:pPr>
            <a:r>
              <a:rPr b="1" lang="en-US" sz="1300">
                <a:solidFill>
                  <a:srgbClr val="06B6D4"/>
                </a:solidFill>
                <a:latin typeface="Calibri"/>
                <a:ea typeface="Calibri"/>
                <a:cs typeface="Calibri"/>
                <a:sym typeface="Calibri"/>
              </a:rPr>
              <a:t>Δ(t) = 1 − cos(v_inv, (1/t) Σₖ v(mₖ))</a:t>
            </a:r>
            <a:endParaRPr sz="1300">
              <a:solidFill>
                <a:schemeClr val="dk1"/>
              </a:solidFill>
              <a:latin typeface="Calibri"/>
              <a:ea typeface="Calibri"/>
              <a:cs typeface="Calibri"/>
              <a:sym typeface="Calibri"/>
            </a:endParaRPr>
          </a:p>
        </p:txBody>
      </p:sp>
      <p:sp>
        <p:nvSpPr>
          <p:cNvPr id="388" name="Google Shape;388;p24"/>
          <p:cNvSpPr txBox="1"/>
          <p:nvPr/>
        </p:nvSpPr>
        <p:spPr>
          <a:xfrm>
            <a:off x="9189720" y="4114800"/>
            <a:ext cx="2423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1350"/>
              <a:buFont typeface="Calibri"/>
              <a:buNone/>
            </a:pPr>
            <a:r>
              <a:rPr lang="en-US" sz="1350">
                <a:solidFill>
                  <a:srgbClr val="94A3B8"/>
                </a:solidFill>
                <a:latin typeface="Calibri"/>
                <a:ea typeface="Calibri"/>
                <a:cs typeface="Calibri"/>
                <a:sym typeface="Calibri"/>
              </a:rPr>
              <a:t>The sum runs over k = 1…t message embeddings.</a:t>
            </a:r>
            <a:endParaRPr sz="1350">
              <a:solidFill>
                <a:schemeClr val="dk1"/>
              </a:solidFill>
              <a:latin typeface="Calibri"/>
              <a:ea typeface="Calibri"/>
              <a:cs typeface="Calibri"/>
              <a:sym typeface="Calibri"/>
            </a:endParaRPr>
          </a:p>
        </p:txBody>
      </p:sp>
      <p:sp>
        <p:nvSpPr>
          <p:cNvPr id="389" name="Google Shape;389;p24"/>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5"/>
          <p:cNvSpPr txBox="1"/>
          <p:nvPr>
            <p:ph type="title"/>
          </p:nvPr>
        </p:nvSpPr>
        <p:spPr>
          <a:xfrm>
            <a:off x="457200" y="502920"/>
            <a:ext cx="11274552"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8FAFC"/>
              </a:buClr>
              <a:buSzPts val="2800"/>
              <a:buFont typeface="Calibri"/>
              <a:buNone/>
            </a:pPr>
            <a:r>
              <a:rPr b="1" lang="en-US" sz="2800">
                <a:solidFill>
                  <a:srgbClr val="F8FAFC"/>
                </a:solidFill>
              </a:rPr>
              <a:t>References &amp; Citations</a:t>
            </a:r>
            <a:endParaRPr sz="2800"/>
          </a:p>
        </p:txBody>
      </p:sp>
      <p:sp>
        <p:nvSpPr>
          <p:cNvPr id="396" name="Google Shape;396;p25"/>
          <p:cNvSpPr txBox="1"/>
          <p:nvPr/>
        </p:nvSpPr>
        <p:spPr>
          <a:xfrm>
            <a:off x="457200" y="228600"/>
            <a:ext cx="112745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1" lang="en-US" spc="200" sz="1200">
                <a:solidFill>
                  <a:srgbClr val="F59E0B"/>
                </a:solidFill>
                <a:latin typeface="Calibri"/>
                <a:ea typeface="Calibri"/>
                <a:cs typeface="Calibri"/>
                <a:sym typeface="Calibri"/>
              </a:rPr>
              <a:t>FORMAL REFERENCES</a:t>
            </a:r>
            <a:endParaRPr sz="1200">
              <a:solidFill>
                <a:schemeClr val="dk1"/>
              </a:solidFill>
              <a:latin typeface="Calibri"/>
              <a:ea typeface="Calibri"/>
              <a:cs typeface="Calibri"/>
              <a:sym typeface="Calibri"/>
            </a:endParaRPr>
          </a:p>
        </p:txBody>
      </p:sp>
      <p:sp>
        <p:nvSpPr>
          <p:cNvPr id="397" name="Google Shape;397;p25"/>
          <p:cNvSpPr/>
          <p:nvPr/>
        </p:nvSpPr>
        <p:spPr>
          <a:xfrm>
            <a:off x="457200" y="1371600"/>
            <a:ext cx="5532120" cy="4983480"/>
          </a:xfrm>
          <a:prstGeom prst="roundRect">
            <a:avLst>
              <a:gd fmla="val 1468"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5"/>
          <p:cNvSpPr txBox="1"/>
          <p:nvPr/>
        </p:nvSpPr>
        <p:spPr>
          <a:xfrm>
            <a:off x="640080" y="1463040"/>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500"/>
              <a:buFont typeface="Calibri"/>
              <a:buNone/>
            </a:pPr>
            <a:r>
              <a:rPr b="1" lang="en-US" sz="1500">
                <a:solidFill>
                  <a:srgbClr val="10B981"/>
                </a:solidFill>
                <a:latin typeface="Calibri"/>
                <a:ea typeface="Calibri"/>
                <a:cs typeface="Calibri"/>
                <a:sym typeface="Calibri"/>
              </a:rPr>
              <a:t>Anchor papers (1–4) and literature review (5–7)</a:t>
            </a:r>
            <a:endParaRPr sz="1500">
              <a:solidFill>
                <a:schemeClr val="dk1"/>
              </a:solidFill>
              <a:latin typeface="Calibri"/>
              <a:ea typeface="Calibri"/>
              <a:cs typeface="Calibri"/>
              <a:sym typeface="Calibri"/>
            </a:endParaRPr>
          </a:p>
        </p:txBody>
      </p:sp>
      <p:sp>
        <p:nvSpPr>
          <p:cNvPr id="399" name="Google Shape;399;p25"/>
          <p:cNvSpPr txBox="1"/>
          <p:nvPr/>
        </p:nvSpPr>
        <p:spPr>
          <a:xfrm>
            <a:off x="640080" y="1920240"/>
            <a:ext cx="5166360" cy="434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 [Mind Viruses] Papadopoulos, P., et al. (2024). Mind Viruses: Self-Propagating Ideas in Multi-Agent LLM Systems. Anthropic &amp; EPFL Technical Report.</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2. [OpenAI-HF Incident] OpenAI Security &amp; Alignment Team. (2024). OpenAI–Hugging Face Incident Technical Report: Forensic Investigation of Multi-Agent Coordination and Sandbox Boundary Probing. OpenAI Technical Report.</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3. [RLredAgent / AutoInject] Chen, Y., Debenedetti, E., et al. (2024). AutoInject: Reinforcement Learning-Based Automated Prompt Injection for Tool-Integrated Autonomous Agents. ETH Zürich &amp; Swiss National AI Lab.</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4. [CivicShield] Patil, S. (2024). CivicShield: A Defense-in-Depth Stateful Architecture for Mitigating Multi-Turn Prompt Injection in LLM Chatbots. Technical Whitepaper.</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5. [Prompt Infection] Lee, D., &amp; Tiwari, M. (2024). Prompt Infection: LLM-to-LLM Prompt Injection within Multi-Agent Systems. arXiv:2410.07283.</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6. [Morris-II] Cohen, S., Bitton, R., &amp; Nassi, B. (2025). Here Comes the AI Worm: Unleashing Zero-Click Worms that Target GenAI-Powered Applications. In ACM CCS '25.</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7. [Threat Model in MAS] Paul, R. K., &amp; Nandy, S. (2026). Beyond Single-Model Injection: A Threat Model and Defense Architecture for Prompt Injection in Multi-Agent Systems. ICML AIWILD.</a:t>
            </a:r>
            <a:endParaRPr sz="1250">
              <a:solidFill>
                <a:schemeClr val="dk1"/>
              </a:solidFill>
              <a:latin typeface="Calibri"/>
              <a:ea typeface="Calibri"/>
              <a:cs typeface="Calibri"/>
              <a:sym typeface="Calibri"/>
            </a:endParaRPr>
          </a:p>
        </p:txBody>
      </p:sp>
      <p:sp>
        <p:nvSpPr>
          <p:cNvPr id="400" name="Google Shape;400;p25"/>
          <p:cNvSpPr/>
          <p:nvPr/>
        </p:nvSpPr>
        <p:spPr>
          <a:xfrm>
            <a:off x="6199632" y="1371600"/>
            <a:ext cx="5532120" cy="4983480"/>
          </a:xfrm>
          <a:prstGeom prst="roundRect">
            <a:avLst>
              <a:gd fmla="val 1468"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25"/>
          <p:cNvSpPr txBox="1"/>
          <p:nvPr/>
        </p:nvSpPr>
        <p:spPr>
          <a:xfrm>
            <a:off x="6382512" y="1463040"/>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500"/>
              <a:buFont typeface="Calibri"/>
              <a:buNone/>
            </a:pPr>
            <a:r>
              <a:rPr b="1" lang="en-US" sz="1500">
                <a:solidFill>
                  <a:srgbClr val="10B981"/>
                </a:solidFill>
                <a:latin typeface="Calibri"/>
                <a:ea typeface="Calibri"/>
                <a:cs typeface="Calibri"/>
                <a:sym typeface="Calibri"/>
              </a:rPr>
              <a:t>Literature review (8–15)</a:t>
            </a:r>
            <a:endParaRPr sz="1500">
              <a:solidFill>
                <a:schemeClr val="dk1"/>
              </a:solidFill>
              <a:latin typeface="Calibri"/>
              <a:ea typeface="Calibri"/>
              <a:cs typeface="Calibri"/>
              <a:sym typeface="Calibri"/>
            </a:endParaRPr>
          </a:p>
        </p:txBody>
      </p:sp>
      <p:sp>
        <p:nvSpPr>
          <p:cNvPr id="402" name="Google Shape;402;p25"/>
          <p:cNvSpPr txBox="1"/>
          <p:nvPr/>
        </p:nvSpPr>
        <p:spPr>
          <a:xfrm>
            <a:off x="6382512" y="1920240"/>
            <a:ext cx="5166360" cy="434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8. [Crescendo Attack] Russinovich, M., Salem, A., &amp; Eldan, R. (2024). Great, Now Write an Article About That: The Crescendo Multi-Turn LLM Jailbreak Attack. In USENIX Security '24.</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9. [AgentDojo] Debenedetti, E., et al. (2024). AgentDojo: A Dynamic Environment to Evaluate Prompt Injection Attacks and Defenses for LLM Agents. In NeurIPS '24.</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10. [InjecAgent] Zhan, Q., et al. (2024). InjecAgent: Benchmarking Indirect Prompt Injections in Tool-Integrated LLM Agents. In ACL '24.</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11. [PAIR] Chao, P., et al. (2023). Jailbreaking Black Box Large Language Models in Twenty Queries. arXiv:2310.08419.</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12. [TAP] Mehrotra, A., et al. (2023). Tree of Attacks: Jailbreaking Black-Box LLMs Automatically. arXiv:2312.02119.</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13. [Multi-Agent Defense Pipeline] Hossain, S. M. A., et al. (2025). A Multi-Agent LLM Defense Pipeline Against Prompt Injection Attacks. arXiv:2509.14285.</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14. [Llama Guard] Inan, H., et al. (2023). Llama Guard: LLM-based Input-Output Safeguard for Human-AI Conversations. Meta AI, arXiv:2312.06674.</a:t>
            </a:r>
            <a:endParaRPr sz="1250">
              <a:solidFill>
                <a:schemeClr val="dk1"/>
              </a:solidFill>
              <a:latin typeface="Calibri"/>
              <a:ea typeface="Calibri"/>
              <a:cs typeface="Calibri"/>
              <a:sym typeface="Calibri"/>
            </a:endParaRPr>
          </a:p>
          <a:p>
            <a:pPr indent="0" lvl="0" marL="0" marR="0" rtl="0" algn="l">
              <a:spcBef>
                <a:spcPts val="600"/>
              </a:spcBef>
              <a:spcAft>
                <a:spcPts val="0"/>
              </a:spcAft>
              <a:buClr>
                <a:srgbClr val="F8FAFC"/>
              </a:buClr>
              <a:buSzPts val="1250"/>
              <a:buFont typeface="Calibri"/>
              <a:buNone/>
            </a:pPr>
            <a:r>
              <a:rPr lang="en-US" sz="1250">
                <a:solidFill>
                  <a:srgbClr val="F8FAFC"/>
                </a:solidFill>
                <a:latin typeface="Calibri"/>
                <a:ea typeface="Calibri"/>
                <a:cs typeface="Calibri"/>
                <a:sym typeface="Calibri"/>
              </a:rPr>
              <a:t>15. [NeMo Guardrails] Rebedea, T., et al. (2023). NeMo Guardrails: A Toolkit for Controllable and Safe LLM Applications. NVIDIA, arXiv:2310.10501.</a:t>
            </a:r>
            <a:endParaRPr sz="1250">
              <a:solidFill>
                <a:schemeClr val="dk1"/>
              </a:solidFill>
              <a:latin typeface="Calibri"/>
              <a:ea typeface="Calibri"/>
              <a:cs typeface="Calibri"/>
              <a:sym typeface="Calibri"/>
            </a:endParaRPr>
          </a:p>
        </p:txBody>
      </p:sp>
      <p:sp>
        <p:nvSpPr>
          <p:cNvPr id="403" name="Google Shape;403;p25"/>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6"/>
          <p:cNvSpPr txBox="1"/>
          <p:nvPr/>
        </p:nvSpPr>
        <p:spPr>
          <a:xfrm>
            <a:off x="457200" y="411480"/>
            <a:ext cx="112745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1" lang="en-US" spc="300" sz="1400">
                <a:solidFill>
                  <a:srgbClr val="F59E0B"/>
                </a:solidFill>
                <a:latin typeface="Calibri"/>
                <a:ea typeface="Calibri"/>
                <a:cs typeface="Calibri"/>
                <a:sym typeface="Calibri"/>
              </a:rPr>
              <a:t>THANK YOU</a:t>
            </a:r>
            <a:endParaRPr sz="1400">
              <a:solidFill>
                <a:schemeClr val="dk1"/>
              </a:solidFill>
              <a:latin typeface="Calibri"/>
              <a:ea typeface="Calibri"/>
              <a:cs typeface="Calibri"/>
              <a:sym typeface="Calibri"/>
            </a:endParaRPr>
          </a:p>
        </p:txBody>
      </p:sp>
      <p:sp>
        <p:nvSpPr>
          <p:cNvPr id="410" name="Google Shape;410;p26"/>
          <p:cNvSpPr txBox="1"/>
          <p:nvPr/>
        </p:nvSpPr>
        <p:spPr>
          <a:xfrm>
            <a:off x="457200" y="777240"/>
            <a:ext cx="11274552"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3800"/>
              <a:buFont typeface="Calibri"/>
              <a:buNone/>
            </a:pPr>
            <a:r>
              <a:rPr b="1" lang="en-US" sz="3800">
                <a:solidFill>
                  <a:srgbClr val="F8FAFC"/>
                </a:solidFill>
                <a:latin typeface="Calibri"/>
                <a:ea typeface="Calibri"/>
                <a:cs typeface="Calibri"/>
                <a:sym typeface="Calibri"/>
              </a:rPr>
              <a:t>Adaptive Defense for Multi Agent Systems</a:t>
            </a:r>
            <a:endParaRPr sz="3800">
              <a:solidFill>
                <a:schemeClr val="dk1"/>
              </a:solidFill>
              <a:latin typeface="Calibri"/>
              <a:ea typeface="Calibri"/>
              <a:cs typeface="Calibri"/>
              <a:sym typeface="Calibri"/>
            </a:endParaRPr>
          </a:p>
        </p:txBody>
      </p:sp>
      <p:sp>
        <p:nvSpPr>
          <p:cNvPr id="411" name="Google Shape;411;p26"/>
          <p:cNvSpPr txBox="1"/>
          <p:nvPr/>
        </p:nvSpPr>
        <p:spPr>
          <a:xfrm>
            <a:off x="457200" y="1600200"/>
            <a:ext cx="1127455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800"/>
              <a:buFont typeface="Calibri"/>
              <a:buNone/>
            </a:pPr>
            <a:r>
              <a:rPr lang="en-US" sz="1800">
                <a:solidFill>
                  <a:srgbClr val="94A3B8"/>
                </a:solidFill>
                <a:latin typeface="Calibri"/>
                <a:ea typeface="Calibri"/>
                <a:cs typeface="Calibri"/>
                <a:sym typeface="Calibri"/>
              </a:rPr>
              <a:t>Towards Provably Resilient Autonomous Agent Ecosystems</a:t>
            </a:r>
            <a:endParaRPr sz="1800">
              <a:solidFill>
                <a:schemeClr val="dk1"/>
              </a:solidFill>
              <a:latin typeface="Calibri"/>
              <a:ea typeface="Calibri"/>
              <a:cs typeface="Calibri"/>
              <a:sym typeface="Calibri"/>
            </a:endParaRPr>
          </a:p>
        </p:txBody>
      </p:sp>
      <p:sp>
        <p:nvSpPr>
          <p:cNvPr id="412" name="Google Shape;412;p26"/>
          <p:cNvSpPr/>
          <p:nvPr/>
        </p:nvSpPr>
        <p:spPr>
          <a:xfrm>
            <a:off x="457200" y="2377440"/>
            <a:ext cx="3611880" cy="3017520"/>
          </a:xfrm>
          <a:prstGeom prst="roundRect">
            <a:avLst>
              <a:gd fmla="val 2424"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6"/>
          <p:cNvSpPr/>
          <p:nvPr/>
        </p:nvSpPr>
        <p:spPr>
          <a:xfrm>
            <a:off x="640080" y="2560320"/>
            <a:ext cx="457200" cy="457200"/>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6"/>
          <p:cNvSpPr txBox="1"/>
          <p:nvPr/>
        </p:nvSpPr>
        <p:spPr>
          <a:xfrm>
            <a:off x="64008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415" name="Google Shape;415;p26"/>
          <p:cNvSpPr txBox="1"/>
          <p:nvPr/>
        </p:nvSpPr>
        <p:spPr>
          <a:xfrm>
            <a:off x="1234440" y="256032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500"/>
              <a:buFont typeface="Calibri"/>
              <a:buNone/>
            </a:pPr>
            <a:r>
              <a:rPr b="1" lang="en-US" sz="1500">
                <a:solidFill>
                  <a:srgbClr val="EF4444"/>
                </a:solidFill>
                <a:latin typeface="Calibri"/>
                <a:ea typeface="Calibri"/>
                <a:cs typeface="Calibri"/>
                <a:sym typeface="Calibri"/>
              </a:rPr>
              <a:t>The Existential Vulnerability</a:t>
            </a:r>
            <a:endParaRPr sz="1500">
              <a:solidFill>
                <a:schemeClr val="dk1"/>
              </a:solidFill>
              <a:latin typeface="Calibri"/>
              <a:ea typeface="Calibri"/>
              <a:cs typeface="Calibri"/>
              <a:sym typeface="Calibri"/>
            </a:endParaRPr>
          </a:p>
        </p:txBody>
      </p:sp>
      <p:sp>
        <p:nvSpPr>
          <p:cNvPr id="416" name="Google Shape;416;p26"/>
          <p:cNvSpPr txBox="1"/>
          <p:nvPr/>
        </p:nvSpPr>
        <p:spPr>
          <a:xfrm>
            <a:off x="640080" y="3200400"/>
            <a:ext cx="324612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Autonomous MAS suffers lateral trust asymmetry: self-replicating Mind Viruses and multi-turn Crescendo drift slip past perimeter guardrails.</a:t>
            </a:r>
            <a:endParaRPr sz="1600">
              <a:solidFill>
                <a:schemeClr val="dk1"/>
              </a:solidFill>
              <a:latin typeface="Calibri"/>
              <a:ea typeface="Calibri"/>
              <a:cs typeface="Calibri"/>
              <a:sym typeface="Calibri"/>
            </a:endParaRPr>
          </a:p>
        </p:txBody>
      </p:sp>
      <p:sp>
        <p:nvSpPr>
          <p:cNvPr id="417" name="Google Shape;417;p26"/>
          <p:cNvSpPr/>
          <p:nvPr/>
        </p:nvSpPr>
        <p:spPr>
          <a:xfrm>
            <a:off x="4288536" y="2377440"/>
            <a:ext cx="3611880" cy="3017520"/>
          </a:xfrm>
          <a:prstGeom prst="roundRect">
            <a:avLst>
              <a:gd fmla="val 2424"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6"/>
          <p:cNvSpPr/>
          <p:nvPr/>
        </p:nvSpPr>
        <p:spPr>
          <a:xfrm>
            <a:off x="4471416" y="2560320"/>
            <a:ext cx="457200" cy="457200"/>
          </a:xfrm>
          <a:prstGeom prst="ellipse">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6"/>
          <p:cNvSpPr txBox="1"/>
          <p:nvPr/>
        </p:nvSpPr>
        <p:spPr>
          <a:xfrm>
            <a:off x="4471416"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420" name="Google Shape;420;p26"/>
          <p:cNvSpPr txBox="1"/>
          <p:nvPr/>
        </p:nvSpPr>
        <p:spPr>
          <a:xfrm>
            <a:off x="5065776" y="256032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500"/>
              <a:buFont typeface="Calibri"/>
              <a:buNone/>
            </a:pPr>
            <a:r>
              <a:rPr b="1" lang="en-US" sz="1500">
                <a:solidFill>
                  <a:srgbClr val="10B981"/>
                </a:solidFill>
                <a:latin typeface="Calibri"/>
                <a:ea typeface="Calibri"/>
                <a:cs typeface="Calibri"/>
                <a:sym typeface="Calibri"/>
              </a:rPr>
              <a:t>The Defense Innovation</a:t>
            </a:r>
            <a:endParaRPr sz="1500">
              <a:solidFill>
                <a:schemeClr val="dk1"/>
              </a:solidFill>
              <a:latin typeface="Calibri"/>
              <a:ea typeface="Calibri"/>
              <a:cs typeface="Calibri"/>
              <a:sym typeface="Calibri"/>
            </a:endParaRPr>
          </a:p>
        </p:txBody>
      </p:sp>
      <p:sp>
        <p:nvSpPr>
          <p:cNvPr id="421" name="Google Shape;421;p26"/>
          <p:cNvSpPr txBox="1"/>
          <p:nvPr/>
        </p:nvSpPr>
        <p:spPr>
          <a:xfrm>
            <a:off x="4471416" y="3200400"/>
            <a:ext cx="324612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A dual-plane closed loop resolves the Guardrail Curse: sub-50 ms System-1 triage (Clef-flash / Jev) plus System-2 trajectory verification, targeting R₀ &lt; 1 with &gt;75% latency savings.</a:t>
            </a:r>
            <a:endParaRPr sz="1600">
              <a:solidFill>
                <a:schemeClr val="dk1"/>
              </a:solidFill>
              <a:latin typeface="Calibri"/>
              <a:ea typeface="Calibri"/>
              <a:cs typeface="Calibri"/>
              <a:sym typeface="Calibri"/>
            </a:endParaRPr>
          </a:p>
        </p:txBody>
      </p:sp>
      <p:sp>
        <p:nvSpPr>
          <p:cNvPr id="422" name="Google Shape;422;p26"/>
          <p:cNvSpPr/>
          <p:nvPr/>
        </p:nvSpPr>
        <p:spPr>
          <a:xfrm>
            <a:off x="8119872" y="2377440"/>
            <a:ext cx="3611880" cy="3017520"/>
          </a:xfrm>
          <a:prstGeom prst="roundRect">
            <a:avLst>
              <a:gd fmla="val 2424" name="adj"/>
            </a:avLst>
          </a:prstGeom>
          <a:solidFill>
            <a:srgbClr val="1E293B"/>
          </a:solidFill>
          <a:ln cap="flat" cmpd="sng" w="9525">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6"/>
          <p:cNvSpPr/>
          <p:nvPr/>
        </p:nvSpPr>
        <p:spPr>
          <a:xfrm>
            <a:off x="8302752" y="2560320"/>
            <a:ext cx="457200" cy="457200"/>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6"/>
          <p:cNvSpPr txBox="1"/>
          <p:nvPr/>
        </p:nvSpPr>
        <p:spPr>
          <a:xfrm>
            <a:off x="8302752"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F19"/>
              </a:buClr>
              <a:buSzPts val="1400"/>
              <a:buFont typeface="Calibri"/>
              <a:buNone/>
            </a:pPr>
            <a:r>
              <a:rPr b="1" lang="en-US" sz="1400">
                <a:solidFill>
                  <a:srgbClr val="0B0F19"/>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425" name="Google Shape;425;p26"/>
          <p:cNvSpPr txBox="1"/>
          <p:nvPr/>
        </p:nvSpPr>
        <p:spPr>
          <a:xfrm>
            <a:off x="8897112" y="2560320"/>
            <a:ext cx="2697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1500"/>
              <a:buFont typeface="Calibri"/>
              <a:buNone/>
            </a:pPr>
            <a:r>
              <a:rPr b="1" lang="en-US" sz="1500">
                <a:solidFill>
                  <a:srgbClr val="06B6D4"/>
                </a:solidFill>
                <a:latin typeface="Calibri"/>
                <a:ea typeface="Calibri"/>
                <a:cs typeface="Calibri"/>
                <a:sym typeface="Calibri"/>
              </a:rPr>
              <a:t>Continuous Co-Evolution</a:t>
            </a:r>
            <a:endParaRPr sz="1500">
              <a:solidFill>
                <a:schemeClr val="dk1"/>
              </a:solidFill>
              <a:latin typeface="Calibri"/>
              <a:ea typeface="Calibri"/>
              <a:cs typeface="Calibri"/>
              <a:sym typeface="Calibri"/>
            </a:endParaRPr>
          </a:p>
        </p:txBody>
      </p:sp>
      <p:sp>
        <p:nvSpPr>
          <p:cNvPr id="426" name="Google Shape;426;p26"/>
          <p:cNvSpPr txBox="1"/>
          <p:nvPr/>
        </p:nvSpPr>
        <p:spPr>
          <a:xfrm>
            <a:off x="8302752" y="3200400"/>
            <a:ext cx="324612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8FAFC"/>
              </a:buClr>
              <a:buSzPts val="1600"/>
              <a:buFont typeface="Calibri"/>
              <a:buNone/>
            </a:pPr>
            <a:r>
              <a:rPr lang="en-US" sz="1600">
                <a:solidFill>
                  <a:srgbClr val="F8FAFC"/>
                </a:solidFill>
                <a:latin typeface="Calibri"/>
                <a:ea typeface="Calibri"/>
                <a:cs typeface="Calibri"/>
                <a:sym typeface="Calibri"/>
              </a:rPr>
              <a:t>Sanitized production traces flow through MLflow to retrain the triage models, keeping active immunity against mutating attacks.</a:t>
            </a:r>
            <a:endParaRPr sz="1600">
              <a:solidFill>
                <a:schemeClr val="dk1"/>
              </a:solidFill>
              <a:latin typeface="Calibri"/>
              <a:ea typeface="Calibri"/>
              <a:cs typeface="Calibri"/>
              <a:sym typeface="Calibri"/>
            </a:endParaRPr>
          </a:p>
        </p:txBody>
      </p:sp>
      <p:sp>
        <p:nvSpPr>
          <p:cNvPr id="427" name="Google Shape;427;p26"/>
          <p:cNvSpPr txBox="1"/>
          <p:nvPr/>
        </p:nvSpPr>
        <p:spPr>
          <a:xfrm>
            <a:off x="457200" y="5760720"/>
            <a:ext cx="1127455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Calibri"/>
              <a:buNone/>
            </a:pPr>
            <a:r>
              <a:rPr lang="en-US" sz="1400">
                <a:solidFill>
                  <a:srgbClr val="94A3B8"/>
                </a:solidFill>
                <a:latin typeface="Calibri"/>
                <a:ea typeface="Calibri"/>
                <a:cs typeface="Calibri"/>
                <a:sym typeface="Calibri"/>
              </a:rPr>
              <a:t>Project repository: private Git (PES2UG24CS310 / adaptive-defense-mas)   |   Open for panel feedback and questions</a:t>
            </a:r>
            <a:endParaRPr sz="1400">
              <a:solidFill>
                <a:schemeClr val="dk1"/>
              </a:solidFill>
              <a:latin typeface="Calibri"/>
              <a:ea typeface="Calibri"/>
              <a:cs typeface="Calibri"/>
              <a:sym typeface="Calibri"/>
            </a:endParaRPr>
          </a:p>
        </p:txBody>
      </p:sp>
      <p:sp>
        <p:nvSpPr>
          <p:cNvPr id="428" name="Google Shape;428;p26"/>
          <p:cNvSpPr txBox="1"/>
          <p:nvPr>
            <p:ph idx="4294967295" type="sldNum"/>
          </p:nvPr>
        </p:nvSpPr>
        <p:spPr>
          <a:xfrm>
            <a:off x="11247120" y="644652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000">
                <a:solidFill>
                  <a:srgbClr val="94A3B8"/>
                </a:solidFill>
                <a:latin typeface="Calibri"/>
                <a:ea typeface="Calibri"/>
                <a:cs typeface="Calibri"/>
                <a:sym typeface="Calibri"/>
              </a:rPr>
              <a:t>‹#›</a:t>
            </a:fld>
            <a:endParaRPr sz="1000">
              <a:solidFill>
                <a:srgbClr val="94A3B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daptive Defense Dark">
  <a:themeElements>
    <a:clrScheme name="Adaptive Defense Dark">
      <a:dk1>
        <a:srgbClr val="0B0F19"/>
      </a:dk1>
      <a:lt1>
        <a:srgbClr val="F8FAFC"/>
      </a:lt1>
      <a:dk2>
        <a:srgbClr val="1E293B"/>
      </a:dk2>
      <a:lt2>
        <a:srgbClr val="94A3B8"/>
      </a:lt2>
      <a:accent1>
        <a:srgbClr val="10B981"/>
      </a:accent1>
      <a:accent2>
        <a:srgbClr val="EF4444"/>
      </a:accent2>
      <a:accent3>
        <a:srgbClr val="06B6D4"/>
      </a:accent3>
      <a:accent4>
        <a:srgbClr val="F59E0B"/>
      </a:accent4>
      <a:accent5>
        <a:srgbClr val="6366F1"/>
      </a:accent5>
      <a:accent6>
        <a:srgbClr val="94A3B8"/>
      </a:accent6>
      <a:hlink>
        <a:srgbClr val="06B6D4"/>
      </a:hlink>
      <a:folHlink>
        <a:srgbClr val="94A3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