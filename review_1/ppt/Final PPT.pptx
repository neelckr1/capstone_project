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1"/>
  </p:notesMasterIdLst>
  <p:sldIdLst>
    <p:sldId id="256" r:id="rId2"/>
    <p:sldId id="257" r:id="rId3"/>
    <p:sldId id="258" r:id="rId4"/>
    <p:sldId id="278" r:id="rId5"/>
    <p:sldId id="261" r:id="rId6"/>
    <p:sldId id="262" r:id="rId7"/>
    <p:sldId id="263" r:id="rId8"/>
    <p:sldId id="264" r:id="rId9"/>
    <p:sldId id="265" r:id="rId10"/>
    <p:sldId id="266" r:id="rId11"/>
    <p:sldId id="267" r:id="rId12"/>
    <p:sldId id="269" r:id="rId13"/>
    <p:sldId id="268" r:id="rId14"/>
    <p:sldId id="270" r:id="rId15"/>
    <p:sldId id="271" r:id="rId16"/>
    <p:sldId id="272" r:id="rId17"/>
    <p:sldId id="273" r:id="rId18"/>
    <p:sldId id="277" r:id="rId19"/>
    <p:sldId id="275" r:id="rId20"/>
  </p:sldIdLst>
  <p:sldSz cx="18288000" cy="10287000"/>
  <p:notesSz cx="6858000" cy="9144000"/>
  <p:embeddedFontLst>
    <p:embeddedFont>
      <p:font typeface="DM Sans Bold" panose="020B0604020202020204" charset="0"/>
      <p:regular r:id="rId22"/>
    </p:embeddedFont>
    <p:embeddedFont>
      <p:font typeface="Intro" panose="02000000000000000000" charset="0"/>
      <p:regular r:id="rId23"/>
    </p:embeddedFont>
    <p:embeddedFont>
      <p:font typeface="Open Sauce" panose="020B0604020202020204" charset="0"/>
      <p:regular r:id="rId24"/>
    </p:embeddedFont>
    <p:embeddedFont>
      <p:font typeface="Open Sauce Bold" panose="020B0604020202020204" charset="0"/>
      <p:regular r:id="rId25"/>
    </p:embeddedFont>
    <p:embeddedFont>
      <p:font typeface="Open Sauce Heavy"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00" autoAdjust="0"/>
    <p:restoredTop sz="95549" autoAdjust="0"/>
  </p:normalViewPr>
  <p:slideViewPr>
    <p:cSldViewPr>
      <p:cViewPr varScale="1">
        <p:scale>
          <a:sx n="58" d="100"/>
          <a:sy n="58" d="100"/>
        </p:scale>
        <p:origin x="21" y="2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2E15E6-5B41-446A-9F8D-E71C91269EB0}" type="datetimeFigureOut">
              <a:rPr lang="en-IN" smtClean="0"/>
              <a:t>04-10-2026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F02195-4D95-4992-B644-74835585F12F}" type="slidenum">
              <a:rPr lang="en-IN" smtClean="0"/>
              <a:t>‹#›</a:t>
            </a:fld>
            <a:endParaRPr lang="en-IN"/>
          </a:p>
        </p:txBody>
      </p:sp>
    </p:spTree>
    <p:extLst>
      <p:ext uri="{BB962C8B-B14F-4D97-AF65-F5344CB8AC3E}">
        <p14:creationId xmlns:p14="http://schemas.microsoft.com/office/powerpoint/2010/main" val="6225881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9F02195-4D95-4992-B644-74835585F12F}" type="slidenum">
              <a:rPr lang="en-IN" smtClean="0"/>
              <a:t>1</a:t>
            </a:fld>
            <a:endParaRPr lang="en-IN"/>
          </a:p>
        </p:txBody>
      </p:sp>
    </p:spTree>
    <p:extLst>
      <p:ext uri="{BB962C8B-B14F-4D97-AF65-F5344CB8AC3E}">
        <p14:creationId xmlns:p14="http://schemas.microsoft.com/office/powerpoint/2010/main" val="9407988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ONTENT">
    <p:bg>
      <p:bgPr>
        <a:solidFill>
          <a:schemeClr val="bg2"/>
        </a:solidFill>
        <a:effectLst/>
      </p:bgPr>
    </p:bg>
    <p:spTree>
      <p:nvGrpSpPr>
        <p:cNvPr id="1" name=""/>
        <p:cNvGrpSpPr/>
        <p:nvPr/>
      </p:nvGrpSpPr>
      <p:grpSpPr>
        <a:xfrm>
          <a:off x="0" y="0"/>
          <a:ext cx="0" cy="0"/>
          <a:chOff x="0" y="0"/>
          <a:chExt cx="0" cy="0"/>
        </a:xfrm>
      </p:grpSpPr>
      <p:pic>
        <p:nvPicPr>
          <p:cNvPr id="2" name="Image 0" descr="/home/claude/build/pes_logo.png"/>
          <p:cNvPicPr>
            <a:picLocks noChangeAspect="1"/>
          </p:cNvPicPr>
          <p:nvPr/>
        </p:nvPicPr>
        <p:blipFill>
          <a:blip r:embed="rId2"/>
          <a:stretch>
            <a:fillRect/>
          </a:stretch>
        </p:blipFill>
        <p:spPr>
          <a:xfrm>
            <a:off x="15841980" y="342901"/>
            <a:ext cx="1783080" cy="914858"/>
          </a:xfrm>
          <a:prstGeom prst="rect">
            <a:avLst/>
          </a:prstGeom>
        </p:spPr>
      </p:pic>
      <p:sp>
        <p:nvSpPr>
          <p:cNvPr id="3" name="Text 0"/>
          <p:cNvSpPr>
            <a:spLocks noGrp="1"/>
          </p:cNvSpPr>
          <p:nvPr>
            <p:ph type="title" idx="101" hasCustomPrompt="1"/>
          </p:nvPr>
        </p:nvSpPr>
        <p:spPr>
          <a:xfrm>
            <a:off x="822960" y="480060"/>
            <a:ext cx="14676120" cy="1234440"/>
          </a:xfrm>
          <a:prstGeom prst="rect">
            <a:avLst/>
          </a:prstGeom>
          <a:noFill/>
          <a:ln/>
        </p:spPr>
        <p:txBody>
          <a:bodyPr wrap="square" rtlCol="0"/>
          <a:lstStyle>
            <a:lvl1pPr marL="0" indent="0" algn="l">
              <a:buNone/>
              <a:defRPr lang="en-US" sz="4800" b="1" dirty="0">
                <a:solidFill>
                  <a:schemeClr val="tx1"/>
                </a:solidFill>
              </a:defRPr>
            </a:lvl1pPr>
          </a:lstStyle>
          <a:p>
            <a:pPr marL="0" indent="0" algn="l">
              <a:buNone/>
            </a:pPr>
            <a:endParaRPr lang="en-US" sz="4800" dirty="0"/>
          </a:p>
        </p:txBody>
      </p:sp>
      <p:sp>
        <p:nvSpPr>
          <p:cNvPr id="25" name="Slide Number Placeholder 0"/>
          <p:cNvSpPr>
            <a:spLocks noGrp="1"/>
          </p:cNvSpPr>
          <p:nvPr>
            <p:ph type="sldNum" sz="quarter" idx="4294967295"/>
          </p:nvPr>
        </p:nvSpPr>
        <p:spPr>
          <a:xfrm>
            <a:off x="16870680" y="9601200"/>
            <a:ext cx="822960" cy="411480"/>
          </a:xfrm>
          <a:prstGeom prst="rect">
            <a:avLst/>
          </a:prstGeom>
          <a:extLst>
            <a:ext uri="{C572A759-6A51-4108-AA02-DFA0A04FC94B}">
              <ma14:wrappingTextBoxFlag xmlns:ma14="http://schemas.microsoft.com/office/mac/drawingml/2011/main" xmlns="" val="0"/>
            </a:ext>
          </a:extLst>
        </p:spPr>
        <p:txBody>
          <a:bodyPr/>
          <a:lstStyle>
            <a:lvl1pPr>
              <a:defRPr sz="1650">
                <a:solidFill>
                  <a:schemeClr val="tx2"/>
                </a:solidFill>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25930228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BBBBBB">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11353800" y="0"/>
            <a:ext cx="17035157" cy="10519210"/>
          </a:xfrm>
          <a:custGeom>
            <a:avLst/>
            <a:gdLst/>
            <a:ahLst/>
            <a:cxnLst/>
            <a:rect l="l" t="t" r="r" b="b"/>
            <a:pathLst>
              <a:path w="17035157" h="10519210">
                <a:moveTo>
                  <a:pt x="0" y="0"/>
                </a:moveTo>
                <a:lnTo>
                  <a:pt x="17035157" y="0"/>
                </a:lnTo>
                <a:lnTo>
                  <a:pt x="17035157" y="10519210"/>
                </a:lnTo>
                <a:lnTo>
                  <a:pt x="0" y="10519210"/>
                </a:lnTo>
                <a:lnTo>
                  <a:pt x="0" y="0"/>
                </a:lnTo>
                <a:close/>
              </a:path>
            </a:pathLst>
          </a:custGeom>
          <a:blipFill>
            <a:blip r:embed="rId3"/>
            <a:stretch>
              <a:fillRect/>
            </a:stretch>
          </a:blipFill>
        </p:spPr>
      </p:sp>
      <p:sp>
        <p:nvSpPr>
          <p:cNvPr id="3" name="TextBox 3"/>
          <p:cNvSpPr txBox="1"/>
          <p:nvPr/>
        </p:nvSpPr>
        <p:spPr>
          <a:xfrm>
            <a:off x="722344" y="3006557"/>
            <a:ext cx="12812985" cy="2546350"/>
          </a:xfrm>
          <a:prstGeom prst="rect">
            <a:avLst/>
          </a:prstGeom>
        </p:spPr>
        <p:txBody>
          <a:bodyPr lIns="0" tIns="0" rIns="0" bIns="0" rtlCol="0" anchor="t">
            <a:spAutoFit/>
          </a:bodyPr>
          <a:lstStyle/>
          <a:p>
            <a:pPr algn="l">
              <a:lnSpc>
                <a:spcPts val="3950"/>
              </a:lnSpc>
            </a:pPr>
            <a:r>
              <a:rPr lang="en-US" sz="5000" b="1" spc="-425" dirty="0">
                <a:gradFill>
                  <a:gsLst>
                    <a:gs pos="0">
                      <a:srgbClr val="0057FF">
                        <a:alpha val="100000"/>
                      </a:srgbClr>
                    </a:gs>
                    <a:gs pos="100000">
                      <a:srgbClr val="001C42">
                        <a:alpha val="100000"/>
                      </a:srgbClr>
                    </a:gs>
                  </a:gsLst>
                  <a:lin ang="2700000"/>
                </a:gradFill>
                <a:latin typeface="DM Sans Bold"/>
                <a:ea typeface="DM Sans Bold"/>
                <a:cs typeface="DM Sans Bold"/>
                <a:sym typeface="DM Sans Bold"/>
              </a:rPr>
              <a:t>A lightweight framework for securing ML-Based</a:t>
            </a:r>
          </a:p>
          <a:p>
            <a:pPr algn="l">
              <a:lnSpc>
                <a:spcPts val="3950"/>
              </a:lnSpc>
            </a:pPr>
            <a:endParaRPr lang="en-US" sz="5000" b="1" spc="-425" dirty="0">
              <a:gradFill>
                <a:gsLst>
                  <a:gs pos="0">
                    <a:srgbClr val="0057FF">
                      <a:alpha val="100000"/>
                    </a:srgbClr>
                  </a:gs>
                  <a:gs pos="100000">
                    <a:srgbClr val="001C42">
                      <a:alpha val="100000"/>
                    </a:srgbClr>
                  </a:gs>
                </a:gsLst>
                <a:lin ang="2700000"/>
              </a:gradFill>
              <a:latin typeface="DM Sans Bold"/>
              <a:ea typeface="DM Sans Bold"/>
              <a:cs typeface="DM Sans Bold"/>
              <a:sym typeface="DM Sans Bold"/>
            </a:endParaRPr>
          </a:p>
          <a:p>
            <a:pPr algn="l">
              <a:lnSpc>
                <a:spcPts val="3950"/>
              </a:lnSpc>
            </a:pPr>
            <a:r>
              <a:rPr lang="en-US" sz="5000" b="1" spc="-425" dirty="0">
                <a:gradFill>
                  <a:gsLst>
                    <a:gs pos="0">
                      <a:srgbClr val="0057FF">
                        <a:alpha val="100000"/>
                      </a:srgbClr>
                    </a:gs>
                    <a:gs pos="100000">
                      <a:srgbClr val="001C42">
                        <a:alpha val="100000"/>
                      </a:srgbClr>
                    </a:gs>
                  </a:gsLst>
                  <a:lin ang="2700000"/>
                </a:gradFill>
                <a:latin typeface="DM Sans Bold"/>
                <a:ea typeface="DM Sans Bold"/>
                <a:cs typeface="DM Sans Bold"/>
                <a:sym typeface="DM Sans Bold"/>
              </a:rPr>
              <a:t>Intrusion Detection in Constrained IoT Edge </a:t>
            </a:r>
          </a:p>
          <a:p>
            <a:pPr algn="l">
              <a:lnSpc>
                <a:spcPts val="3950"/>
              </a:lnSpc>
            </a:pPr>
            <a:endParaRPr lang="en-US" sz="5000" b="1" spc="-425" dirty="0">
              <a:gradFill>
                <a:gsLst>
                  <a:gs pos="0">
                    <a:srgbClr val="0057FF">
                      <a:alpha val="100000"/>
                    </a:srgbClr>
                  </a:gs>
                  <a:gs pos="100000">
                    <a:srgbClr val="001C42">
                      <a:alpha val="100000"/>
                    </a:srgbClr>
                  </a:gs>
                </a:gsLst>
                <a:lin ang="2700000"/>
              </a:gradFill>
              <a:latin typeface="DM Sans Bold"/>
              <a:ea typeface="DM Sans Bold"/>
              <a:cs typeface="DM Sans Bold"/>
              <a:sym typeface="DM Sans Bold"/>
            </a:endParaRPr>
          </a:p>
          <a:p>
            <a:pPr algn="l">
              <a:lnSpc>
                <a:spcPts val="3950"/>
              </a:lnSpc>
            </a:pPr>
            <a:r>
              <a:rPr lang="en-US" sz="5000" b="1" spc="-425" dirty="0">
                <a:gradFill>
                  <a:gsLst>
                    <a:gs pos="0">
                      <a:srgbClr val="0057FF">
                        <a:alpha val="100000"/>
                      </a:srgbClr>
                    </a:gs>
                    <a:gs pos="100000">
                      <a:srgbClr val="001C42">
                        <a:alpha val="100000"/>
                      </a:srgbClr>
                    </a:gs>
                  </a:gsLst>
                  <a:lin ang="2700000"/>
                </a:gradFill>
                <a:latin typeface="DM Sans Bold"/>
                <a:ea typeface="DM Sans Bold"/>
                <a:cs typeface="DM Sans Bold"/>
                <a:sym typeface="DM Sans Bold"/>
              </a:rPr>
              <a:t>Environments</a:t>
            </a:r>
          </a:p>
        </p:txBody>
      </p:sp>
      <p:sp>
        <p:nvSpPr>
          <p:cNvPr id="4" name="Freeform 4"/>
          <p:cNvSpPr/>
          <p:nvPr/>
        </p:nvSpPr>
        <p:spPr>
          <a:xfrm rot="6417525" flipH="1">
            <a:off x="10997803" y="2858735"/>
            <a:ext cx="10730729" cy="6418927"/>
          </a:xfrm>
          <a:custGeom>
            <a:avLst/>
            <a:gdLst/>
            <a:ahLst/>
            <a:cxnLst/>
            <a:rect l="l" t="t" r="r" b="b"/>
            <a:pathLst>
              <a:path w="10730729" h="6418927">
                <a:moveTo>
                  <a:pt x="10730729" y="0"/>
                </a:moveTo>
                <a:lnTo>
                  <a:pt x="0" y="0"/>
                </a:lnTo>
                <a:lnTo>
                  <a:pt x="0" y="6418927"/>
                </a:lnTo>
                <a:lnTo>
                  <a:pt x="10730729" y="6418927"/>
                </a:lnTo>
                <a:lnTo>
                  <a:pt x="10730729"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16343296" y="177703"/>
            <a:ext cx="1832007" cy="850997"/>
          </a:xfrm>
          <a:custGeom>
            <a:avLst/>
            <a:gdLst/>
            <a:ahLst/>
            <a:cxnLst/>
            <a:rect l="l" t="t" r="r" b="b"/>
            <a:pathLst>
              <a:path w="1832007" h="850997">
                <a:moveTo>
                  <a:pt x="0" y="0"/>
                </a:moveTo>
                <a:lnTo>
                  <a:pt x="1832008" y="0"/>
                </a:lnTo>
                <a:lnTo>
                  <a:pt x="1832008" y="850997"/>
                </a:lnTo>
                <a:lnTo>
                  <a:pt x="0" y="850997"/>
                </a:lnTo>
                <a:lnTo>
                  <a:pt x="0" y="0"/>
                </a:lnTo>
                <a:close/>
              </a:path>
            </a:pathLst>
          </a:custGeom>
          <a:blipFill>
            <a:blip r:embed="rId5"/>
            <a:stretch>
              <a:fillRect/>
            </a:stretch>
          </a:blipFill>
        </p:spPr>
      </p:sp>
      <p:grpSp>
        <p:nvGrpSpPr>
          <p:cNvPr id="6" name="Group 6"/>
          <p:cNvGrpSpPr/>
          <p:nvPr/>
        </p:nvGrpSpPr>
        <p:grpSpPr>
          <a:xfrm>
            <a:off x="722345" y="470401"/>
            <a:ext cx="8040656" cy="854439"/>
            <a:chOff x="0" y="0"/>
            <a:chExt cx="2302729" cy="225038"/>
          </a:xfrm>
        </p:grpSpPr>
        <p:sp>
          <p:nvSpPr>
            <p:cNvPr id="7" name="Freeform 7"/>
            <p:cNvSpPr/>
            <p:nvPr/>
          </p:nvSpPr>
          <p:spPr>
            <a:xfrm>
              <a:off x="0" y="0"/>
              <a:ext cx="2302729" cy="225038"/>
            </a:xfrm>
            <a:custGeom>
              <a:avLst/>
              <a:gdLst/>
              <a:ahLst/>
              <a:cxnLst/>
              <a:rect l="l" t="t" r="r" b="b"/>
              <a:pathLst>
                <a:path w="2302729" h="225038">
                  <a:moveTo>
                    <a:pt x="45160" y="0"/>
                  </a:moveTo>
                  <a:lnTo>
                    <a:pt x="2257569" y="0"/>
                  </a:lnTo>
                  <a:cubicBezTo>
                    <a:pt x="2269546" y="0"/>
                    <a:pt x="2281033" y="4758"/>
                    <a:pt x="2289502" y="13227"/>
                  </a:cubicBezTo>
                  <a:cubicBezTo>
                    <a:pt x="2297971" y="21696"/>
                    <a:pt x="2302729" y="33183"/>
                    <a:pt x="2302729" y="45160"/>
                  </a:cubicBezTo>
                  <a:lnTo>
                    <a:pt x="2302729" y="179878"/>
                  </a:lnTo>
                  <a:cubicBezTo>
                    <a:pt x="2302729" y="191855"/>
                    <a:pt x="2297971" y="203342"/>
                    <a:pt x="2289502" y="211811"/>
                  </a:cubicBezTo>
                  <a:cubicBezTo>
                    <a:pt x="2281033" y="220280"/>
                    <a:pt x="2269546" y="225038"/>
                    <a:pt x="2257569" y="225038"/>
                  </a:cubicBezTo>
                  <a:lnTo>
                    <a:pt x="45160" y="225038"/>
                  </a:lnTo>
                  <a:cubicBezTo>
                    <a:pt x="33183" y="225038"/>
                    <a:pt x="21696" y="220280"/>
                    <a:pt x="13227" y="211811"/>
                  </a:cubicBezTo>
                  <a:cubicBezTo>
                    <a:pt x="4758" y="203342"/>
                    <a:pt x="0" y="191855"/>
                    <a:pt x="0" y="179878"/>
                  </a:cubicBezTo>
                  <a:lnTo>
                    <a:pt x="0" y="45160"/>
                  </a:lnTo>
                  <a:cubicBezTo>
                    <a:pt x="0" y="33183"/>
                    <a:pt x="4758" y="21696"/>
                    <a:pt x="13227" y="13227"/>
                  </a:cubicBezTo>
                  <a:cubicBezTo>
                    <a:pt x="21696" y="4758"/>
                    <a:pt x="33183" y="0"/>
                    <a:pt x="45160" y="0"/>
                  </a:cubicBezTo>
                  <a:close/>
                </a:path>
              </a:pathLst>
            </a:custGeom>
            <a:solidFill>
              <a:srgbClr val="D9D9D9"/>
            </a:solidFill>
          </p:spPr>
        </p:sp>
        <p:sp>
          <p:nvSpPr>
            <p:cNvPr id="8" name="TextBox 8"/>
            <p:cNvSpPr txBox="1"/>
            <p:nvPr/>
          </p:nvSpPr>
          <p:spPr>
            <a:xfrm>
              <a:off x="0" y="209550"/>
              <a:ext cx="2302729" cy="15488"/>
            </a:xfrm>
            <a:prstGeom prst="rect">
              <a:avLst/>
            </a:prstGeom>
          </p:spPr>
          <p:txBody>
            <a:bodyPr lIns="114300" tIns="114300" rIns="114300" bIns="114300" rtlCol="0" anchor="b"/>
            <a:lstStyle/>
            <a:p>
              <a:pPr algn="ctr">
                <a:lnSpc>
                  <a:spcPts val="1561"/>
                </a:lnSpc>
              </a:pPr>
              <a:r>
                <a:rPr lang="en-US" sz="2800" b="1" spc="-9" dirty="0">
                  <a:solidFill>
                    <a:srgbClr val="000000"/>
                  </a:solidFill>
                  <a:latin typeface="Open Sauce Heavy"/>
                  <a:ea typeface="Open Sauce Heavy"/>
                  <a:cs typeface="Open Sauce Heavy"/>
                  <a:sym typeface="Open Sauce Heavy"/>
                </a:rPr>
                <a:t>UE24CS320A – Capstone Project Approval</a:t>
              </a:r>
            </a:p>
            <a:p>
              <a:pPr algn="ctr">
                <a:lnSpc>
                  <a:spcPts val="1676"/>
                </a:lnSpc>
              </a:pPr>
              <a:endParaRPr lang="en-US" sz="3122" b="1" spc="-9" dirty="0">
                <a:solidFill>
                  <a:srgbClr val="000000"/>
                </a:solidFill>
                <a:latin typeface="Open Sauce Heavy"/>
                <a:ea typeface="Open Sauce Heavy"/>
                <a:cs typeface="Open Sauce Heavy"/>
                <a:sym typeface="Open Sauce Heavy"/>
              </a:endParaRPr>
            </a:p>
          </p:txBody>
        </p:sp>
      </p:grpSp>
      <p:grpSp>
        <p:nvGrpSpPr>
          <p:cNvPr id="9" name="Group 9"/>
          <p:cNvGrpSpPr/>
          <p:nvPr/>
        </p:nvGrpSpPr>
        <p:grpSpPr>
          <a:xfrm>
            <a:off x="9309068" y="467810"/>
            <a:ext cx="4056591" cy="868897"/>
            <a:chOff x="-239394" y="-8727"/>
            <a:chExt cx="1068403" cy="228846"/>
          </a:xfrm>
        </p:grpSpPr>
        <p:sp>
          <p:nvSpPr>
            <p:cNvPr id="10" name="Freeform 10"/>
            <p:cNvSpPr/>
            <p:nvPr/>
          </p:nvSpPr>
          <p:spPr>
            <a:xfrm>
              <a:off x="-225654" y="-8727"/>
              <a:ext cx="1054663" cy="208949"/>
            </a:xfrm>
            <a:custGeom>
              <a:avLst/>
              <a:gdLst/>
              <a:ahLst/>
              <a:cxnLst/>
              <a:rect l="l" t="t" r="r" b="b"/>
              <a:pathLst>
                <a:path w="1054663" h="208949">
                  <a:moveTo>
                    <a:pt x="98600" y="0"/>
                  </a:moveTo>
                  <a:lnTo>
                    <a:pt x="956062" y="0"/>
                  </a:lnTo>
                  <a:cubicBezTo>
                    <a:pt x="1010518" y="0"/>
                    <a:pt x="1054663" y="44145"/>
                    <a:pt x="1054663" y="98600"/>
                  </a:cubicBezTo>
                  <a:lnTo>
                    <a:pt x="1054663" y="110348"/>
                  </a:lnTo>
                  <a:cubicBezTo>
                    <a:pt x="1054663" y="164804"/>
                    <a:pt x="1010518" y="208949"/>
                    <a:pt x="956062" y="208949"/>
                  </a:cubicBezTo>
                  <a:lnTo>
                    <a:pt x="98600" y="208949"/>
                  </a:lnTo>
                  <a:cubicBezTo>
                    <a:pt x="72450" y="208949"/>
                    <a:pt x="47371" y="198560"/>
                    <a:pt x="28879" y="180069"/>
                  </a:cubicBezTo>
                  <a:cubicBezTo>
                    <a:pt x="10388" y="161578"/>
                    <a:pt x="0" y="136499"/>
                    <a:pt x="0" y="110348"/>
                  </a:cubicBezTo>
                  <a:lnTo>
                    <a:pt x="0" y="98600"/>
                  </a:lnTo>
                  <a:cubicBezTo>
                    <a:pt x="0" y="44145"/>
                    <a:pt x="44145" y="0"/>
                    <a:pt x="98600" y="0"/>
                  </a:cubicBezTo>
                  <a:close/>
                </a:path>
              </a:pathLst>
            </a:custGeom>
            <a:gradFill rotWithShape="1">
              <a:gsLst>
                <a:gs pos="0">
                  <a:srgbClr val="FFFFFF">
                    <a:alpha val="100000"/>
                  </a:srgbClr>
                </a:gs>
                <a:gs pos="100000">
                  <a:srgbClr val="BBBBBB">
                    <a:alpha val="100000"/>
                  </a:srgbClr>
                </a:gs>
              </a:gsLst>
              <a:lin ang="2700000"/>
            </a:gradFill>
          </p:spPr>
          <p:txBody>
            <a:bodyPr/>
            <a:lstStyle/>
            <a:p>
              <a:endParaRPr lang="en-IN" dirty="0"/>
            </a:p>
          </p:txBody>
        </p:sp>
        <p:sp>
          <p:nvSpPr>
            <p:cNvPr id="11" name="TextBox 11"/>
            <p:cNvSpPr txBox="1"/>
            <p:nvPr/>
          </p:nvSpPr>
          <p:spPr>
            <a:xfrm>
              <a:off x="-239394" y="11170"/>
              <a:ext cx="1054663" cy="208949"/>
            </a:xfrm>
            <a:prstGeom prst="rect">
              <a:avLst/>
            </a:prstGeom>
          </p:spPr>
          <p:txBody>
            <a:bodyPr lIns="114300" tIns="114300" rIns="114300" bIns="114300" rtlCol="0" anchor="ctr"/>
            <a:lstStyle/>
            <a:p>
              <a:pPr algn="ctr">
                <a:lnSpc>
                  <a:spcPts val="1561"/>
                </a:lnSpc>
              </a:pPr>
              <a:r>
                <a:rPr lang="en-US" sz="3122" b="1" spc="-9" dirty="0">
                  <a:solidFill>
                    <a:srgbClr val="000000"/>
                  </a:solidFill>
                  <a:latin typeface="Open Sauce Heavy"/>
                  <a:ea typeface="Open Sauce Heavy"/>
                  <a:cs typeface="Open Sauce Heavy"/>
                  <a:sym typeface="Open Sauce Heavy"/>
                </a:rPr>
                <a:t>Team - 32</a:t>
              </a:r>
            </a:p>
          </p:txBody>
        </p:sp>
      </p:grpSp>
      <p:grpSp>
        <p:nvGrpSpPr>
          <p:cNvPr id="12" name="Group 12"/>
          <p:cNvGrpSpPr/>
          <p:nvPr/>
        </p:nvGrpSpPr>
        <p:grpSpPr>
          <a:xfrm>
            <a:off x="722344" y="7143582"/>
            <a:ext cx="6048320" cy="855461"/>
            <a:chOff x="0" y="0"/>
            <a:chExt cx="1592973" cy="225307"/>
          </a:xfrm>
        </p:grpSpPr>
        <p:sp>
          <p:nvSpPr>
            <p:cNvPr id="13" name="Freeform 13"/>
            <p:cNvSpPr/>
            <p:nvPr/>
          </p:nvSpPr>
          <p:spPr>
            <a:xfrm>
              <a:off x="0" y="0"/>
              <a:ext cx="1592973" cy="225307"/>
            </a:xfrm>
            <a:custGeom>
              <a:avLst/>
              <a:gdLst/>
              <a:ahLst/>
              <a:cxnLst/>
              <a:rect l="l" t="t" r="r" b="b"/>
              <a:pathLst>
                <a:path w="1592973" h="225307">
                  <a:moveTo>
                    <a:pt x="0" y="0"/>
                  </a:moveTo>
                  <a:lnTo>
                    <a:pt x="1592973" y="0"/>
                  </a:lnTo>
                  <a:lnTo>
                    <a:pt x="1592973" y="225307"/>
                  </a:lnTo>
                  <a:lnTo>
                    <a:pt x="0" y="225307"/>
                  </a:lnTo>
                  <a:close/>
                </a:path>
              </a:pathLst>
            </a:custGeom>
            <a:gradFill rotWithShape="1">
              <a:gsLst>
                <a:gs pos="0">
                  <a:srgbClr val="FFFFFF">
                    <a:alpha val="100000"/>
                  </a:srgbClr>
                </a:gs>
                <a:gs pos="100000">
                  <a:srgbClr val="BBBBBB">
                    <a:alpha val="100000"/>
                  </a:srgbClr>
                </a:gs>
              </a:gsLst>
              <a:lin ang="2700000"/>
            </a:gradFill>
          </p:spPr>
        </p:sp>
        <p:sp>
          <p:nvSpPr>
            <p:cNvPr id="14" name="TextBox 14"/>
            <p:cNvSpPr txBox="1"/>
            <p:nvPr/>
          </p:nvSpPr>
          <p:spPr>
            <a:xfrm>
              <a:off x="0" y="95250"/>
              <a:ext cx="1592973" cy="130057"/>
            </a:xfrm>
            <a:prstGeom prst="rect">
              <a:avLst/>
            </a:prstGeom>
          </p:spPr>
          <p:txBody>
            <a:bodyPr lIns="0" tIns="0" rIns="0" bIns="0" rtlCol="0" anchor="b"/>
            <a:lstStyle/>
            <a:p>
              <a:pPr algn="ctr">
                <a:lnSpc>
                  <a:spcPts val="1834"/>
                </a:lnSpc>
              </a:pPr>
              <a:r>
                <a:rPr lang="en-US" sz="2322" spc="-60">
                  <a:solidFill>
                    <a:srgbClr val="000000"/>
                  </a:solidFill>
                  <a:latin typeface="Open Sauce"/>
                  <a:ea typeface="Open Sauce"/>
                  <a:cs typeface="Open Sauce"/>
                  <a:sym typeface="Open Sauce"/>
                </a:rPr>
                <a:t>Project Guide</a:t>
              </a:r>
              <a:r>
                <a:rPr lang="en-US" sz="2322" b="1" spc="-60">
                  <a:solidFill>
                    <a:srgbClr val="000000"/>
                  </a:solidFill>
                  <a:latin typeface="Open Sauce Bold"/>
                  <a:ea typeface="Open Sauce Bold"/>
                  <a:cs typeface="Open Sauce Bold"/>
                  <a:sym typeface="Open Sauce Bold"/>
                </a:rPr>
                <a:t> - Dr. Gauri Sameer Rapate</a:t>
              </a:r>
            </a:p>
            <a:p>
              <a:pPr algn="ctr">
                <a:lnSpc>
                  <a:spcPts val="1834"/>
                </a:lnSpc>
              </a:pPr>
              <a:endParaRPr lang="en-US" sz="2322" b="1" spc="-60">
                <a:solidFill>
                  <a:srgbClr val="000000"/>
                </a:solidFill>
                <a:latin typeface="Open Sauce Bold"/>
                <a:ea typeface="Open Sauce Bold"/>
                <a:cs typeface="Open Sauce Bold"/>
                <a:sym typeface="Open Sauce Bold"/>
              </a:endParaRPr>
            </a:p>
          </p:txBody>
        </p:sp>
      </p:grpSp>
      <p:grpSp>
        <p:nvGrpSpPr>
          <p:cNvPr id="15" name="Group 15"/>
          <p:cNvGrpSpPr/>
          <p:nvPr/>
        </p:nvGrpSpPr>
        <p:grpSpPr>
          <a:xfrm>
            <a:off x="11136339" y="5552907"/>
            <a:ext cx="3086100" cy="2121749"/>
            <a:chOff x="0" y="0"/>
            <a:chExt cx="812800" cy="558815"/>
          </a:xfrm>
        </p:grpSpPr>
        <p:sp>
          <p:nvSpPr>
            <p:cNvPr id="16" name="Freeform 16"/>
            <p:cNvSpPr/>
            <p:nvPr/>
          </p:nvSpPr>
          <p:spPr>
            <a:xfrm>
              <a:off x="0" y="0"/>
              <a:ext cx="812800" cy="558815"/>
            </a:xfrm>
            <a:custGeom>
              <a:avLst/>
              <a:gdLst/>
              <a:ahLst/>
              <a:cxnLst/>
              <a:rect l="l" t="t" r="r" b="b"/>
              <a:pathLst>
                <a:path w="812800" h="558815">
                  <a:moveTo>
                    <a:pt x="127941" y="0"/>
                  </a:moveTo>
                  <a:lnTo>
                    <a:pt x="684859" y="0"/>
                  </a:lnTo>
                  <a:cubicBezTo>
                    <a:pt x="718791" y="0"/>
                    <a:pt x="751333" y="13479"/>
                    <a:pt x="775327" y="37473"/>
                  </a:cubicBezTo>
                  <a:cubicBezTo>
                    <a:pt x="799321" y="61467"/>
                    <a:pt x="812800" y="94009"/>
                    <a:pt x="812800" y="127941"/>
                  </a:cubicBezTo>
                  <a:lnTo>
                    <a:pt x="812800" y="430874"/>
                  </a:lnTo>
                  <a:cubicBezTo>
                    <a:pt x="812800" y="464806"/>
                    <a:pt x="799321" y="497348"/>
                    <a:pt x="775327" y="521342"/>
                  </a:cubicBezTo>
                  <a:cubicBezTo>
                    <a:pt x="751333" y="545335"/>
                    <a:pt x="718791" y="558815"/>
                    <a:pt x="684859" y="558815"/>
                  </a:cubicBezTo>
                  <a:lnTo>
                    <a:pt x="127941" y="558815"/>
                  </a:lnTo>
                  <a:cubicBezTo>
                    <a:pt x="94009" y="558815"/>
                    <a:pt x="61467" y="545335"/>
                    <a:pt x="37473" y="521342"/>
                  </a:cubicBezTo>
                  <a:cubicBezTo>
                    <a:pt x="13479" y="497348"/>
                    <a:pt x="0" y="464806"/>
                    <a:pt x="0" y="430874"/>
                  </a:cubicBezTo>
                  <a:lnTo>
                    <a:pt x="0" y="127941"/>
                  </a:lnTo>
                  <a:cubicBezTo>
                    <a:pt x="0" y="94009"/>
                    <a:pt x="13479" y="61467"/>
                    <a:pt x="37473" y="37473"/>
                  </a:cubicBezTo>
                  <a:cubicBezTo>
                    <a:pt x="61467" y="13479"/>
                    <a:pt x="94009" y="0"/>
                    <a:pt x="127941" y="0"/>
                  </a:cubicBezTo>
                  <a:close/>
                </a:path>
              </a:pathLst>
            </a:custGeom>
            <a:gradFill rotWithShape="1">
              <a:gsLst>
                <a:gs pos="0">
                  <a:srgbClr val="A6A6A6">
                    <a:alpha val="100000"/>
                  </a:srgbClr>
                </a:gs>
                <a:gs pos="100000">
                  <a:srgbClr val="FFFFFF">
                    <a:alpha val="100000"/>
                  </a:srgbClr>
                </a:gs>
              </a:gsLst>
              <a:lin ang="0"/>
            </a:gradFill>
          </p:spPr>
        </p:sp>
        <p:sp>
          <p:nvSpPr>
            <p:cNvPr id="17" name="TextBox 17"/>
            <p:cNvSpPr txBox="1"/>
            <p:nvPr/>
          </p:nvSpPr>
          <p:spPr>
            <a:xfrm>
              <a:off x="0" y="104775"/>
              <a:ext cx="812800" cy="454040"/>
            </a:xfrm>
            <a:prstGeom prst="rect">
              <a:avLst/>
            </a:prstGeom>
          </p:spPr>
          <p:txBody>
            <a:bodyPr lIns="50800" tIns="50800" rIns="50800" bIns="50800" rtlCol="0" anchor="ctr"/>
            <a:lstStyle/>
            <a:p>
              <a:pPr algn="ctr">
                <a:lnSpc>
                  <a:spcPts val="2308"/>
                </a:lnSpc>
              </a:pPr>
              <a:r>
                <a:rPr lang="en-US" sz="2922" b="1" spc="-84">
                  <a:solidFill>
                    <a:srgbClr val="000000"/>
                  </a:solidFill>
                  <a:latin typeface="Open Sauce Heavy"/>
                  <a:ea typeface="Open Sauce Heavy"/>
                  <a:cs typeface="Open Sauce Heavy"/>
                  <a:sym typeface="Open Sauce Heavy"/>
                </a:rPr>
                <a:t>Mayukh Vinay</a:t>
              </a:r>
            </a:p>
            <a:p>
              <a:pPr algn="ctr">
                <a:lnSpc>
                  <a:spcPts val="2150"/>
                </a:lnSpc>
              </a:pPr>
              <a:endParaRPr lang="en-US" sz="2922" b="1" spc="-84">
                <a:solidFill>
                  <a:srgbClr val="000000"/>
                </a:solidFill>
                <a:latin typeface="Open Sauce Heavy"/>
                <a:ea typeface="Open Sauce Heavy"/>
                <a:cs typeface="Open Sauce Heavy"/>
                <a:sym typeface="Open Sauce Heavy"/>
              </a:endParaRPr>
            </a:p>
            <a:p>
              <a:pPr algn="ctr">
                <a:lnSpc>
                  <a:spcPts val="1597"/>
                </a:lnSpc>
              </a:pPr>
              <a:r>
                <a:rPr lang="en-US" sz="2022" b="1" spc="-58">
                  <a:solidFill>
                    <a:srgbClr val="000000"/>
                  </a:solidFill>
                  <a:latin typeface="Open Sauce Heavy"/>
                  <a:ea typeface="Open Sauce Heavy"/>
                  <a:cs typeface="Open Sauce Heavy"/>
                  <a:sym typeface="Open Sauce Heavy"/>
                </a:rPr>
                <a:t>PES2UG24CS272</a:t>
              </a:r>
            </a:p>
          </p:txBody>
        </p:sp>
      </p:grpSp>
      <p:grpSp>
        <p:nvGrpSpPr>
          <p:cNvPr id="18" name="Group 18"/>
          <p:cNvGrpSpPr/>
          <p:nvPr/>
        </p:nvGrpSpPr>
        <p:grpSpPr>
          <a:xfrm>
            <a:off x="15089204" y="5552907"/>
            <a:ext cx="3086100" cy="2121749"/>
            <a:chOff x="0" y="0"/>
            <a:chExt cx="812800" cy="558815"/>
          </a:xfrm>
        </p:grpSpPr>
        <p:sp>
          <p:nvSpPr>
            <p:cNvPr id="19" name="Freeform 19"/>
            <p:cNvSpPr/>
            <p:nvPr/>
          </p:nvSpPr>
          <p:spPr>
            <a:xfrm>
              <a:off x="0" y="0"/>
              <a:ext cx="812800" cy="558815"/>
            </a:xfrm>
            <a:custGeom>
              <a:avLst/>
              <a:gdLst/>
              <a:ahLst/>
              <a:cxnLst/>
              <a:rect l="l" t="t" r="r" b="b"/>
              <a:pathLst>
                <a:path w="812800" h="558815">
                  <a:moveTo>
                    <a:pt x="127941" y="0"/>
                  </a:moveTo>
                  <a:lnTo>
                    <a:pt x="684859" y="0"/>
                  </a:lnTo>
                  <a:cubicBezTo>
                    <a:pt x="718791" y="0"/>
                    <a:pt x="751333" y="13479"/>
                    <a:pt x="775327" y="37473"/>
                  </a:cubicBezTo>
                  <a:cubicBezTo>
                    <a:pt x="799321" y="61467"/>
                    <a:pt x="812800" y="94009"/>
                    <a:pt x="812800" y="127941"/>
                  </a:cubicBezTo>
                  <a:lnTo>
                    <a:pt x="812800" y="430874"/>
                  </a:lnTo>
                  <a:cubicBezTo>
                    <a:pt x="812800" y="464806"/>
                    <a:pt x="799321" y="497348"/>
                    <a:pt x="775327" y="521342"/>
                  </a:cubicBezTo>
                  <a:cubicBezTo>
                    <a:pt x="751333" y="545335"/>
                    <a:pt x="718791" y="558815"/>
                    <a:pt x="684859" y="558815"/>
                  </a:cubicBezTo>
                  <a:lnTo>
                    <a:pt x="127941" y="558815"/>
                  </a:lnTo>
                  <a:cubicBezTo>
                    <a:pt x="94009" y="558815"/>
                    <a:pt x="61467" y="545335"/>
                    <a:pt x="37473" y="521342"/>
                  </a:cubicBezTo>
                  <a:cubicBezTo>
                    <a:pt x="13479" y="497348"/>
                    <a:pt x="0" y="464806"/>
                    <a:pt x="0" y="430874"/>
                  </a:cubicBezTo>
                  <a:lnTo>
                    <a:pt x="0" y="127941"/>
                  </a:lnTo>
                  <a:cubicBezTo>
                    <a:pt x="0" y="94009"/>
                    <a:pt x="13479" y="61467"/>
                    <a:pt x="37473" y="37473"/>
                  </a:cubicBezTo>
                  <a:cubicBezTo>
                    <a:pt x="61467" y="13479"/>
                    <a:pt x="94009" y="0"/>
                    <a:pt x="127941" y="0"/>
                  </a:cubicBezTo>
                  <a:close/>
                </a:path>
              </a:pathLst>
            </a:custGeom>
            <a:gradFill rotWithShape="1">
              <a:gsLst>
                <a:gs pos="0">
                  <a:srgbClr val="A6A6A6">
                    <a:alpha val="100000"/>
                  </a:srgbClr>
                </a:gs>
                <a:gs pos="100000">
                  <a:srgbClr val="FFFFFF">
                    <a:alpha val="100000"/>
                  </a:srgbClr>
                </a:gs>
              </a:gsLst>
              <a:lin ang="0"/>
            </a:gradFill>
          </p:spPr>
        </p:sp>
        <p:sp>
          <p:nvSpPr>
            <p:cNvPr id="20" name="TextBox 20"/>
            <p:cNvSpPr txBox="1"/>
            <p:nvPr/>
          </p:nvSpPr>
          <p:spPr>
            <a:xfrm>
              <a:off x="0" y="104775"/>
              <a:ext cx="812800" cy="454040"/>
            </a:xfrm>
            <a:prstGeom prst="rect">
              <a:avLst/>
            </a:prstGeom>
          </p:spPr>
          <p:txBody>
            <a:bodyPr lIns="50800" tIns="50800" rIns="50800" bIns="50800" rtlCol="0" anchor="ctr"/>
            <a:lstStyle/>
            <a:p>
              <a:pPr algn="ctr">
                <a:lnSpc>
                  <a:spcPts val="2308"/>
                </a:lnSpc>
              </a:pPr>
              <a:r>
                <a:rPr lang="en-US" sz="2922" b="1" spc="-84">
                  <a:solidFill>
                    <a:srgbClr val="000000"/>
                  </a:solidFill>
                  <a:latin typeface="Open Sauce Heavy"/>
                  <a:ea typeface="Open Sauce Heavy"/>
                  <a:cs typeface="Open Sauce Heavy"/>
                  <a:sym typeface="Open Sauce Heavy"/>
                </a:rPr>
                <a:t>V Vyas</a:t>
              </a:r>
            </a:p>
            <a:p>
              <a:pPr algn="ctr">
                <a:lnSpc>
                  <a:spcPts val="2308"/>
                </a:lnSpc>
              </a:pPr>
              <a:endParaRPr lang="en-US" sz="2922" b="1" spc="-84">
                <a:solidFill>
                  <a:srgbClr val="000000"/>
                </a:solidFill>
                <a:latin typeface="Open Sauce Heavy"/>
                <a:ea typeface="Open Sauce Heavy"/>
                <a:cs typeface="Open Sauce Heavy"/>
                <a:sym typeface="Open Sauce Heavy"/>
              </a:endParaRPr>
            </a:p>
            <a:p>
              <a:pPr algn="ctr">
                <a:lnSpc>
                  <a:spcPts val="1597"/>
                </a:lnSpc>
              </a:pPr>
              <a:r>
                <a:rPr lang="en-US" sz="2022" b="1" spc="-58">
                  <a:solidFill>
                    <a:srgbClr val="000000"/>
                  </a:solidFill>
                  <a:latin typeface="Open Sauce Heavy"/>
                  <a:ea typeface="Open Sauce Heavy"/>
                  <a:cs typeface="Open Sauce Heavy"/>
                  <a:sym typeface="Open Sauce Heavy"/>
                </a:rPr>
                <a:t>PES2UG24CS569</a:t>
              </a:r>
            </a:p>
          </p:txBody>
        </p:sp>
      </p:grpSp>
      <p:grpSp>
        <p:nvGrpSpPr>
          <p:cNvPr id="21" name="Group 21"/>
          <p:cNvGrpSpPr/>
          <p:nvPr/>
        </p:nvGrpSpPr>
        <p:grpSpPr>
          <a:xfrm>
            <a:off x="11136339" y="7999043"/>
            <a:ext cx="3086100" cy="2121749"/>
            <a:chOff x="0" y="0"/>
            <a:chExt cx="812800" cy="558815"/>
          </a:xfrm>
        </p:grpSpPr>
        <p:sp>
          <p:nvSpPr>
            <p:cNvPr id="22" name="Freeform 22"/>
            <p:cNvSpPr/>
            <p:nvPr/>
          </p:nvSpPr>
          <p:spPr>
            <a:xfrm>
              <a:off x="0" y="0"/>
              <a:ext cx="812800" cy="558815"/>
            </a:xfrm>
            <a:custGeom>
              <a:avLst/>
              <a:gdLst/>
              <a:ahLst/>
              <a:cxnLst/>
              <a:rect l="l" t="t" r="r" b="b"/>
              <a:pathLst>
                <a:path w="812800" h="558815">
                  <a:moveTo>
                    <a:pt x="127941" y="0"/>
                  </a:moveTo>
                  <a:lnTo>
                    <a:pt x="684859" y="0"/>
                  </a:lnTo>
                  <a:cubicBezTo>
                    <a:pt x="718791" y="0"/>
                    <a:pt x="751333" y="13479"/>
                    <a:pt x="775327" y="37473"/>
                  </a:cubicBezTo>
                  <a:cubicBezTo>
                    <a:pt x="799321" y="61467"/>
                    <a:pt x="812800" y="94009"/>
                    <a:pt x="812800" y="127941"/>
                  </a:cubicBezTo>
                  <a:lnTo>
                    <a:pt x="812800" y="430874"/>
                  </a:lnTo>
                  <a:cubicBezTo>
                    <a:pt x="812800" y="464806"/>
                    <a:pt x="799321" y="497348"/>
                    <a:pt x="775327" y="521342"/>
                  </a:cubicBezTo>
                  <a:cubicBezTo>
                    <a:pt x="751333" y="545335"/>
                    <a:pt x="718791" y="558815"/>
                    <a:pt x="684859" y="558815"/>
                  </a:cubicBezTo>
                  <a:lnTo>
                    <a:pt x="127941" y="558815"/>
                  </a:lnTo>
                  <a:cubicBezTo>
                    <a:pt x="94009" y="558815"/>
                    <a:pt x="61467" y="545335"/>
                    <a:pt x="37473" y="521342"/>
                  </a:cubicBezTo>
                  <a:cubicBezTo>
                    <a:pt x="13479" y="497348"/>
                    <a:pt x="0" y="464806"/>
                    <a:pt x="0" y="430874"/>
                  </a:cubicBezTo>
                  <a:lnTo>
                    <a:pt x="0" y="127941"/>
                  </a:lnTo>
                  <a:cubicBezTo>
                    <a:pt x="0" y="94009"/>
                    <a:pt x="13479" y="61467"/>
                    <a:pt x="37473" y="37473"/>
                  </a:cubicBezTo>
                  <a:cubicBezTo>
                    <a:pt x="61467" y="13479"/>
                    <a:pt x="94009" y="0"/>
                    <a:pt x="127941" y="0"/>
                  </a:cubicBezTo>
                  <a:close/>
                </a:path>
              </a:pathLst>
            </a:custGeom>
            <a:gradFill rotWithShape="1">
              <a:gsLst>
                <a:gs pos="0">
                  <a:srgbClr val="A6A6A6">
                    <a:alpha val="100000"/>
                  </a:srgbClr>
                </a:gs>
                <a:gs pos="100000">
                  <a:srgbClr val="FFFFFF">
                    <a:alpha val="100000"/>
                  </a:srgbClr>
                </a:gs>
              </a:gsLst>
              <a:lin ang="0"/>
            </a:gradFill>
          </p:spPr>
        </p:sp>
        <p:sp>
          <p:nvSpPr>
            <p:cNvPr id="23" name="TextBox 23"/>
            <p:cNvSpPr txBox="1"/>
            <p:nvPr/>
          </p:nvSpPr>
          <p:spPr>
            <a:xfrm>
              <a:off x="0" y="104775"/>
              <a:ext cx="812800" cy="454040"/>
            </a:xfrm>
            <a:prstGeom prst="rect">
              <a:avLst/>
            </a:prstGeom>
          </p:spPr>
          <p:txBody>
            <a:bodyPr lIns="50800" tIns="50800" rIns="50800" bIns="50800" rtlCol="0" anchor="ctr"/>
            <a:lstStyle/>
            <a:p>
              <a:pPr algn="ctr">
                <a:lnSpc>
                  <a:spcPts val="2308"/>
                </a:lnSpc>
              </a:pPr>
              <a:r>
                <a:rPr lang="en-US" sz="2922" b="1" spc="-84">
                  <a:solidFill>
                    <a:srgbClr val="000000"/>
                  </a:solidFill>
                  <a:latin typeface="Open Sauce Heavy"/>
                  <a:ea typeface="Open Sauce Heavy"/>
                  <a:cs typeface="Open Sauce Heavy"/>
                  <a:sym typeface="Open Sauce Heavy"/>
                </a:rPr>
                <a:t>Vedant Sharma</a:t>
              </a:r>
            </a:p>
            <a:p>
              <a:pPr algn="ctr">
                <a:lnSpc>
                  <a:spcPts val="2308"/>
                </a:lnSpc>
              </a:pPr>
              <a:endParaRPr lang="en-US" sz="2922" b="1" spc="-84">
                <a:solidFill>
                  <a:srgbClr val="000000"/>
                </a:solidFill>
                <a:latin typeface="Open Sauce Heavy"/>
                <a:ea typeface="Open Sauce Heavy"/>
                <a:cs typeface="Open Sauce Heavy"/>
                <a:sym typeface="Open Sauce Heavy"/>
              </a:endParaRPr>
            </a:p>
            <a:p>
              <a:pPr algn="ctr">
                <a:lnSpc>
                  <a:spcPts val="1597"/>
                </a:lnSpc>
              </a:pPr>
              <a:r>
                <a:rPr lang="en-US" sz="2022" b="1" spc="-58">
                  <a:solidFill>
                    <a:srgbClr val="000000"/>
                  </a:solidFill>
                  <a:latin typeface="Open Sauce Heavy"/>
                  <a:ea typeface="Open Sauce Heavy"/>
                  <a:cs typeface="Open Sauce Heavy"/>
                  <a:sym typeface="Open Sauce Heavy"/>
                </a:rPr>
                <a:t>PES2UG24CS577</a:t>
              </a:r>
            </a:p>
          </p:txBody>
        </p:sp>
      </p:grpSp>
      <p:grpSp>
        <p:nvGrpSpPr>
          <p:cNvPr id="24" name="Group 24"/>
          <p:cNvGrpSpPr/>
          <p:nvPr/>
        </p:nvGrpSpPr>
        <p:grpSpPr>
          <a:xfrm>
            <a:off x="15089204" y="7999043"/>
            <a:ext cx="3086100" cy="2121749"/>
            <a:chOff x="0" y="0"/>
            <a:chExt cx="812800" cy="558815"/>
          </a:xfrm>
        </p:grpSpPr>
        <p:sp>
          <p:nvSpPr>
            <p:cNvPr id="25" name="Freeform 25"/>
            <p:cNvSpPr/>
            <p:nvPr/>
          </p:nvSpPr>
          <p:spPr>
            <a:xfrm>
              <a:off x="0" y="0"/>
              <a:ext cx="812800" cy="558815"/>
            </a:xfrm>
            <a:custGeom>
              <a:avLst/>
              <a:gdLst/>
              <a:ahLst/>
              <a:cxnLst/>
              <a:rect l="l" t="t" r="r" b="b"/>
              <a:pathLst>
                <a:path w="812800" h="558815">
                  <a:moveTo>
                    <a:pt x="127941" y="0"/>
                  </a:moveTo>
                  <a:lnTo>
                    <a:pt x="684859" y="0"/>
                  </a:lnTo>
                  <a:cubicBezTo>
                    <a:pt x="718791" y="0"/>
                    <a:pt x="751333" y="13479"/>
                    <a:pt x="775327" y="37473"/>
                  </a:cubicBezTo>
                  <a:cubicBezTo>
                    <a:pt x="799321" y="61467"/>
                    <a:pt x="812800" y="94009"/>
                    <a:pt x="812800" y="127941"/>
                  </a:cubicBezTo>
                  <a:lnTo>
                    <a:pt x="812800" y="430874"/>
                  </a:lnTo>
                  <a:cubicBezTo>
                    <a:pt x="812800" y="464806"/>
                    <a:pt x="799321" y="497348"/>
                    <a:pt x="775327" y="521342"/>
                  </a:cubicBezTo>
                  <a:cubicBezTo>
                    <a:pt x="751333" y="545335"/>
                    <a:pt x="718791" y="558815"/>
                    <a:pt x="684859" y="558815"/>
                  </a:cubicBezTo>
                  <a:lnTo>
                    <a:pt x="127941" y="558815"/>
                  </a:lnTo>
                  <a:cubicBezTo>
                    <a:pt x="94009" y="558815"/>
                    <a:pt x="61467" y="545335"/>
                    <a:pt x="37473" y="521342"/>
                  </a:cubicBezTo>
                  <a:cubicBezTo>
                    <a:pt x="13479" y="497348"/>
                    <a:pt x="0" y="464806"/>
                    <a:pt x="0" y="430874"/>
                  </a:cubicBezTo>
                  <a:lnTo>
                    <a:pt x="0" y="127941"/>
                  </a:lnTo>
                  <a:cubicBezTo>
                    <a:pt x="0" y="94009"/>
                    <a:pt x="13479" y="61467"/>
                    <a:pt x="37473" y="37473"/>
                  </a:cubicBezTo>
                  <a:cubicBezTo>
                    <a:pt x="61467" y="13479"/>
                    <a:pt x="94009" y="0"/>
                    <a:pt x="127941" y="0"/>
                  </a:cubicBezTo>
                  <a:close/>
                </a:path>
              </a:pathLst>
            </a:custGeom>
            <a:gradFill rotWithShape="1">
              <a:gsLst>
                <a:gs pos="0">
                  <a:srgbClr val="A6A6A6">
                    <a:alpha val="100000"/>
                  </a:srgbClr>
                </a:gs>
                <a:gs pos="100000">
                  <a:srgbClr val="FFFFFF">
                    <a:alpha val="100000"/>
                  </a:srgbClr>
                </a:gs>
              </a:gsLst>
              <a:lin ang="0"/>
            </a:gradFill>
          </p:spPr>
        </p:sp>
        <p:sp>
          <p:nvSpPr>
            <p:cNvPr id="26" name="TextBox 26"/>
            <p:cNvSpPr txBox="1"/>
            <p:nvPr/>
          </p:nvSpPr>
          <p:spPr>
            <a:xfrm>
              <a:off x="0" y="104775"/>
              <a:ext cx="812800" cy="454040"/>
            </a:xfrm>
            <a:prstGeom prst="rect">
              <a:avLst/>
            </a:prstGeom>
          </p:spPr>
          <p:txBody>
            <a:bodyPr lIns="50800" tIns="50800" rIns="50800" bIns="50800" rtlCol="0" anchor="ctr"/>
            <a:lstStyle/>
            <a:p>
              <a:pPr algn="ctr">
                <a:lnSpc>
                  <a:spcPts val="2308"/>
                </a:lnSpc>
              </a:pPr>
              <a:r>
                <a:rPr lang="en-US" sz="2922" b="1" spc="-84">
                  <a:solidFill>
                    <a:srgbClr val="000000"/>
                  </a:solidFill>
                  <a:latin typeface="Open Sauce Heavy"/>
                  <a:ea typeface="Open Sauce Heavy"/>
                  <a:cs typeface="Open Sauce Heavy"/>
                  <a:sym typeface="Open Sauce Heavy"/>
                </a:rPr>
                <a:t>Hariom N Kini</a:t>
              </a:r>
            </a:p>
            <a:p>
              <a:pPr algn="ctr">
                <a:lnSpc>
                  <a:spcPts val="2308"/>
                </a:lnSpc>
              </a:pPr>
              <a:endParaRPr lang="en-US" sz="2922" b="1" spc="-84">
                <a:solidFill>
                  <a:srgbClr val="000000"/>
                </a:solidFill>
                <a:latin typeface="Open Sauce Heavy"/>
                <a:ea typeface="Open Sauce Heavy"/>
                <a:cs typeface="Open Sauce Heavy"/>
                <a:sym typeface="Open Sauce Heavy"/>
              </a:endParaRPr>
            </a:p>
            <a:p>
              <a:pPr algn="ctr">
                <a:lnSpc>
                  <a:spcPts val="1597"/>
                </a:lnSpc>
              </a:pPr>
              <a:r>
                <a:rPr lang="en-US" sz="2022" b="1" spc="-58">
                  <a:solidFill>
                    <a:srgbClr val="000000"/>
                  </a:solidFill>
                  <a:latin typeface="Open Sauce Heavy"/>
                  <a:ea typeface="Open Sauce Heavy"/>
                  <a:cs typeface="Open Sauce Heavy"/>
                  <a:sym typeface="Open Sauce Heavy"/>
                </a:rPr>
                <a:t>PES2UG24CS672</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gs>
            <a:gs pos="100000">
              <a:schemeClr val="bg1">
                <a:lumMod val="75000"/>
              </a:scheme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4093938" y="1833970"/>
            <a:ext cx="10100124" cy="892933"/>
            <a:chOff x="0" y="0"/>
            <a:chExt cx="2660115" cy="235176"/>
          </a:xfrm>
          <a:gradFill>
            <a:gsLst>
              <a:gs pos="0">
                <a:schemeClr val="bg1">
                  <a:lumMod val="85000"/>
                </a:schemeClr>
              </a:gs>
              <a:gs pos="100000">
                <a:srgbClr val="001C42">
                  <a:alpha val="100000"/>
                </a:srgbClr>
              </a:gs>
            </a:gsLst>
            <a:lin ang="2700000" scaled="0"/>
          </a:gradFill>
        </p:grpSpPr>
        <p:sp>
          <p:nvSpPr>
            <p:cNvPr id="3" name="Freeform 3"/>
            <p:cNvSpPr/>
            <p:nvPr/>
          </p:nvSpPr>
          <p:spPr>
            <a:xfrm>
              <a:off x="0" y="0"/>
              <a:ext cx="2660115" cy="235176"/>
            </a:xfrm>
            <a:custGeom>
              <a:avLst/>
              <a:gdLst/>
              <a:ahLst/>
              <a:cxnLst/>
              <a:rect l="l" t="t" r="r" b="b"/>
              <a:pathLst>
                <a:path w="2660115" h="235176">
                  <a:moveTo>
                    <a:pt x="39092" y="0"/>
                  </a:moveTo>
                  <a:lnTo>
                    <a:pt x="2621023" y="0"/>
                  </a:lnTo>
                  <a:cubicBezTo>
                    <a:pt x="2631391" y="0"/>
                    <a:pt x="2641334" y="4119"/>
                    <a:pt x="2648665" y="11450"/>
                  </a:cubicBezTo>
                  <a:cubicBezTo>
                    <a:pt x="2655996" y="18781"/>
                    <a:pt x="2660115" y="28724"/>
                    <a:pt x="2660115" y="39092"/>
                  </a:cubicBezTo>
                  <a:lnTo>
                    <a:pt x="2660115" y="196084"/>
                  </a:lnTo>
                  <a:cubicBezTo>
                    <a:pt x="2660115" y="206451"/>
                    <a:pt x="2655996" y="216395"/>
                    <a:pt x="2648665" y="223726"/>
                  </a:cubicBezTo>
                  <a:cubicBezTo>
                    <a:pt x="2641334" y="231057"/>
                    <a:pt x="2631391" y="235176"/>
                    <a:pt x="2621023" y="235176"/>
                  </a:cubicBezTo>
                  <a:lnTo>
                    <a:pt x="39092" y="235176"/>
                  </a:lnTo>
                  <a:cubicBezTo>
                    <a:pt x="28724" y="235176"/>
                    <a:pt x="18781" y="231057"/>
                    <a:pt x="11450" y="223726"/>
                  </a:cubicBezTo>
                  <a:cubicBezTo>
                    <a:pt x="4119" y="216395"/>
                    <a:pt x="0" y="206451"/>
                    <a:pt x="0" y="196084"/>
                  </a:cubicBezTo>
                  <a:lnTo>
                    <a:pt x="0" y="39092"/>
                  </a:lnTo>
                  <a:cubicBezTo>
                    <a:pt x="0" y="28724"/>
                    <a:pt x="4119" y="18781"/>
                    <a:pt x="11450" y="11450"/>
                  </a:cubicBezTo>
                  <a:cubicBezTo>
                    <a:pt x="18781" y="4119"/>
                    <a:pt x="28724" y="0"/>
                    <a:pt x="39092" y="0"/>
                  </a:cubicBezTo>
                  <a:close/>
                </a:path>
              </a:pathLst>
            </a:custGeom>
            <a:grpFill/>
            <a:ln w="19050" cap="rnd">
              <a:gradFill>
                <a:gsLst>
                  <a:gs pos="0">
                    <a:srgbClr val="FFFFFF">
                      <a:alpha val="100000"/>
                    </a:srgbClr>
                  </a:gs>
                  <a:gs pos="100000">
                    <a:srgbClr val="BBBBBB">
                      <a:alpha val="100000"/>
                    </a:srgbClr>
                  </a:gs>
                </a:gsLst>
                <a:lin ang="2700000"/>
              </a:gradFill>
              <a:prstDash val="solid"/>
              <a:round/>
            </a:ln>
          </p:spPr>
        </p:sp>
        <p:sp>
          <p:nvSpPr>
            <p:cNvPr id="4" name="TextBox 4"/>
            <p:cNvSpPr txBox="1"/>
            <p:nvPr/>
          </p:nvSpPr>
          <p:spPr>
            <a:xfrm>
              <a:off x="0" y="72779"/>
              <a:ext cx="2660115" cy="120876"/>
            </a:xfrm>
            <a:prstGeom prst="rect">
              <a:avLst/>
            </a:prstGeom>
            <a:grpFill/>
          </p:spPr>
          <p:txBody>
            <a:bodyPr lIns="50800" tIns="50800" rIns="50800" bIns="50800" rtlCol="0" anchor="ctr"/>
            <a:lstStyle/>
            <a:p>
              <a:pPr algn="ctr">
                <a:lnSpc>
                  <a:spcPts val="2387"/>
                </a:lnSpc>
              </a:pPr>
              <a:r>
                <a:rPr lang="en-US" sz="3022" b="1" dirty="0">
                  <a:solidFill>
                    <a:schemeClr val="tx1">
                      <a:lumMod val="95000"/>
                      <a:lumOff val="5000"/>
                    </a:schemeClr>
                  </a:solidFill>
                  <a:latin typeface="DM Sans Bold"/>
                  <a:ea typeface="DM Sans Bold"/>
                  <a:cs typeface="DM Sans Bold"/>
                  <a:sym typeface="DM Sans Bold"/>
                </a:rPr>
                <a:t>Problem Statement</a:t>
              </a:r>
            </a:p>
          </p:txBody>
        </p:sp>
      </p:grpSp>
      <p:sp>
        <p:nvSpPr>
          <p:cNvPr id="5" name="Freeform 5"/>
          <p:cNvSpPr/>
          <p:nvPr/>
        </p:nvSpPr>
        <p:spPr>
          <a:xfrm rot="9919385" flipH="1">
            <a:off x="3584470" y="7406080"/>
            <a:ext cx="13923297" cy="8328663"/>
          </a:xfrm>
          <a:custGeom>
            <a:avLst/>
            <a:gdLst/>
            <a:ahLst/>
            <a:cxnLst/>
            <a:rect l="l" t="t" r="r" b="b"/>
            <a:pathLst>
              <a:path w="13923297" h="8328663">
                <a:moveTo>
                  <a:pt x="13923297" y="0"/>
                </a:moveTo>
                <a:lnTo>
                  <a:pt x="0" y="0"/>
                </a:lnTo>
                <a:lnTo>
                  <a:pt x="0" y="8328663"/>
                </a:lnTo>
                <a:lnTo>
                  <a:pt x="13923297" y="8328663"/>
                </a:lnTo>
                <a:lnTo>
                  <a:pt x="13923297"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dirty="0"/>
          </a:p>
        </p:txBody>
      </p:sp>
      <p:sp>
        <p:nvSpPr>
          <p:cNvPr id="7" name="Freeform 7"/>
          <p:cNvSpPr/>
          <p:nvPr/>
        </p:nvSpPr>
        <p:spPr>
          <a:xfrm rot="-5952431">
            <a:off x="11380152" y="-5540060"/>
            <a:ext cx="11011936" cy="6799870"/>
          </a:xfrm>
          <a:custGeom>
            <a:avLst/>
            <a:gdLst/>
            <a:ahLst/>
            <a:cxnLst/>
            <a:rect l="l" t="t" r="r" b="b"/>
            <a:pathLst>
              <a:path w="11011936" h="6799870">
                <a:moveTo>
                  <a:pt x="0" y="0"/>
                </a:moveTo>
                <a:lnTo>
                  <a:pt x="11011935" y="0"/>
                </a:lnTo>
                <a:lnTo>
                  <a:pt x="11011935" y="6799870"/>
                </a:lnTo>
                <a:lnTo>
                  <a:pt x="0" y="6799870"/>
                </a:lnTo>
                <a:lnTo>
                  <a:pt x="0" y="0"/>
                </a:lnTo>
                <a:close/>
              </a:path>
            </a:pathLst>
          </a:custGeom>
          <a:blipFill>
            <a:blip r:embed="rId3"/>
            <a:stretch>
              <a:fillRect/>
            </a:stretch>
          </a:blipFill>
        </p:spPr>
      </p:sp>
      <p:sp>
        <p:nvSpPr>
          <p:cNvPr id="8" name="Freeform 8"/>
          <p:cNvSpPr/>
          <p:nvPr/>
        </p:nvSpPr>
        <p:spPr>
          <a:xfrm>
            <a:off x="16343296" y="177703"/>
            <a:ext cx="1832007" cy="850997"/>
          </a:xfrm>
          <a:custGeom>
            <a:avLst/>
            <a:gdLst/>
            <a:ahLst/>
            <a:cxnLst/>
            <a:rect l="l" t="t" r="r" b="b"/>
            <a:pathLst>
              <a:path w="1832007" h="850997">
                <a:moveTo>
                  <a:pt x="0" y="0"/>
                </a:moveTo>
                <a:lnTo>
                  <a:pt x="1832008" y="0"/>
                </a:lnTo>
                <a:lnTo>
                  <a:pt x="1832008" y="850997"/>
                </a:lnTo>
                <a:lnTo>
                  <a:pt x="0" y="850997"/>
                </a:lnTo>
                <a:lnTo>
                  <a:pt x="0" y="0"/>
                </a:lnTo>
                <a:close/>
              </a:path>
            </a:pathLst>
          </a:custGeom>
          <a:blipFill>
            <a:blip r:embed="rId4"/>
            <a:stretch>
              <a:fillRect/>
            </a:stretch>
          </a:blipFill>
        </p:spPr>
      </p:sp>
      <p:grpSp>
        <p:nvGrpSpPr>
          <p:cNvPr id="9" name="Group 9"/>
          <p:cNvGrpSpPr/>
          <p:nvPr/>
        </p:nvGrpSpPr>
        <p:grpSpPr>
          <a:xfrm>
            <a:off x="4093938" y="2945979"/>
            <a:ext cx="10100124" cy="892933"/>
            <a:chOff x="0" y="0"/>
            <a:chExt cx="2660115" cy="235176"/>
          </a:xfrm>
          <a:gradFill>
            <a:gsLst>
              <a:gs pos="0">
                <a:schemeClr val="bg1">
                  <a:lumMod val="85000"/>
                </a:schemeClr>
              </a:gs>
              <a:gs pos="100000">
                <a:srgbClr val="001C42">
                  <a:alpha val="100000"/>
                </a:srgbClr>
              </a:gs>
            </a:gsLst>
            <a:lin ang="2700000" scaled="0"/>
          </a:gradFill>
        </p:grpSpPr>
        <p:sp>
          <p:nvSpPr>
            <p:cNvPr id="10" name="Freeform 10"/>
            <p:cNvSpPr/>
            <p:nvPr/>
          </p:nvSpPr>
          <p:spPr>
            <a:xfrm>
              <a:off x="0" y="0"/>
              <a:ext cx="2660115" cy="235176"/>
            </a:xfrm>
            <a:custGeom>
              <a:avLst/>
              <a:gdLst/>
              <a:ahLst/>
              <a:cxnLst/>
              <a:rect l="l" t="t" r="r" b="b"/>
              <a:pathLst>
                <a:path w="2660115" h="235176">
                  <a:moveTo>
                    <a:pt x="39092" y="0"/>
                  </a:moveTo>
                  <a:lnTo>
                    <a:pt x="2621023" y="0"/>
                  </a:lnTo>
                  <a:cubicBezTo>
                    <a:pt x="2631391" y="0"/>
                    <a:pt x="2641334" y="4119"/>
                    <a:pt x="2648665" y="11450"/>
                  </a:cubicBezTo>
                  <a:cubicBezTo>
                    <a:pt x="2655996" y="18781"/>
                    <a:pt x="2660115" y="28724"/>
                    <a:pt x="2660115" y="39092"/>
                  </a:cubicBezTo>
                  <a:lnTo>
                    <a:pt x="2660115" y="196084"/>
                  </a:lnTo>
                  <a:cubicBezTo>
                    <a:pt x="2660115" y="206451"/>
                    <a:pt x="2655996" y="216395"/>
                    <a:pt x="2648665" y="223726"/>
                  </a:cubicBezTo>
                  <a:cubicBezTo>
                    <a:pt x="2641334" y="231057"/>
                    <a:pt x="2631391" y="235176"/>
                    <a:pt x="2621023" y="235176"/>
                  </a:cubicBezTo>
                  <a:lnTo>
                    <a:pt x="39092" y="235176"/>
                  </a:lnTo>
                  <a:cubicBezTo>
                    <a:pt x="28724" y="235176"/>
                    <a:pt x="18781" y="231057"/>
                    <a:pt x="11450" y="223726"/>
                  </a:cubicBezTo>
                  <a:cubicBezTo>
                    <a:pt x="4119" y="216395"/>
                    <a:pt x="0" y="206451"/>
                    <a:pt x="0" y="196084"/>
                  </a:cubicBezTo>
                  <a:lnTo>
                    <a:pt x="0" y="39092"/>
                  </a:lnTo>
                  <a:cubicBezTo>
                    <a:pt x="0" y="28724"/>
                    <a:pt x="4119" y="18781"/>
                    <a:pt x="11450" y="11450"/>
                  </a:cubicBezTo>
                  <a:cubicBezTo>
                    <a:pt x="18781" y="4119"/>
                    <a:pt x="28724" y="0"/>
                    <a:pt x="39092" y="0"/>
                  </a:cubicBezTo>
                  <a:close/>
                </a:path>
              </a:pathLst>
            </a:custGeom>
            <a:grpFill/>
            <a:ln w="19050" cap="rnd">
              <a:gradFill>
                <a:gsLst>
                  <a:gs pos="0">
                    <a:srgbClr val="FFFFFF">
                      <a:alpha val="100000"/>
                    </a:srgbClr>
                  </a:gs>
                  <a:gs pos="100000">
                    <a:srgbClr val="BBBBBB">
                      <a:alpha val="100000"/>
                    </a:srgbClr>
                  </a:gs>
                </a:gsLst>
                <a:lin ang="2700000"/>
              </a:gradFill>
              <a:prstDash val="solid"/>
              <a:round/>
            </a:ln>
          </p:spPr>
        </p:sp>
        <p:sp>
          <p:nvSpPr>
            <p:cNvPr id="11" name="TextBox 11"/>
            <p:cNvSpPr txBox="1"/>
            <p:nvPr/>
          </p:nvSpPr>
          <p:spPr>
            <a:xfrm>
              <a:off x="3702" y="73041"/>
              <a:ext cx="2590711" cy="120876"/>
            </a:xfrm>
            <a:prstGeom prst="rect">
              <a:avLst/>
            </a:prstGeom>
            <a:grpFill/>
          </p:spPr>
          <p:txBody>
            <a:bodyPr lIns="50800" tIns="50800" rIns="50800" bIns="50800" rtlCol="0" anchor="ctr"/>
            <a:lstStyle/>
            <a:p>
              <a:pPr algn="ctr">
                <a:lnSpc>
                  <a:spcPts val="2387"/>
                </a:lnSpc>
              </a:pPr>
              <a:r>
                <a:rPr lang="en-US" sz="3022" b="1" dirty="0">
                  <a:solidFill>
                    <a:schemeClr val="tx1">
                      <a:lumMod val="95000"/>
                      <a:lumOff val="5000"/>
                    </a:schemeClr>
                  </a:solidFill>
                  <a:latin typeface="DM Sans Bold"/>
                  <a:ea typeface="DM Sans Bold"/>
                  <a:cs typeface="DM Sans Bold"/>
                  <a:sym typeface="DM Sans Bold"/>
                </a:rPr>
                <a:t>Scope and Feasibility Study</a:t>
              </a:r>
            </a:p>
          </p:txBody>
        </p:sp>
      </p:grpSp>
      <p:grpSp>
        <p:nvGrpSpPr>
          <p:cNvPr id="12" name="Group 12"/>
          <p:cNvGrpSpPr/>
          <p:nvPr/>
        </p:nvGrpSpPr>
        <p:grpSpPr>
          <a:xfrm>
            <a:off x="4091880" y="4057987"/>
            <a:ext cx="10102182" cy="892933"/>
            <a:chOff x="-542" y="0"/>
            <a:chExt cx="2660657" cy="235176"/>
          </a:xfrm>
          <a:gradFill>
            <a:gsLst>
              <a:gs pos="0">
                <a:schemeClr val="bg1">
                  <a:lumMod val="85000"/>
                </a:schemeClr>
              </a:gs>
              <a:gs pos="100000">
                <a:srgbClr val="001C42">
                  <a:alpha val="100000"/>
                </a:srgbClr>
              </a:gs>
            </a:gsLst>
            <a:lin ang="2700000" scaled="0"/>
          </a:gradFill>
        </p:grpSpPr>
        <p:sp>
          <p:nvSpPr>
            <p:cNvPr id="13" name="Freeform 13"/>
            <p:cNvSpPr/>
            <p:nvPr/>
          </p:nvSpPr>
          <p:spPr>
            <a:xfrm>
              <a:off x="0" y="0"/>
              <a:ext cx="2660115" cy="235176"/>
            </a:xfrm>
            <a:custGeom>
              <a:avLst/>
              <a:gdLst/>
              <a:ahLst/>
              <a:cxnLst/>
              <a:rect l="l" t="t" r="r" b="b"/>
              <a:pathLst>
                <a:path w="2660115" h="235176">
                  <a:moveTo>
                    <a:pt x="39092" y="0"/>
                  </a:moveTo>
                  <a:lnTo>
                    <a:pt x="2621023" y="0"/>
                  </a:lnTo>
                  <a:cubicBezTo>
                    <a:pt x="2631391" y="0"/>
                    <a:pt x="2641334" y="4119"/>
                    <a:pt x="2648665" y="11450"/>
                  </a:cubicBezTo>
                  <a:cubicBezTo>
                    <a:pt x="2655996" y="18781"/>
                    <a:pt x="2660115" y="28724"/>
                    <a:pt x="2660115" y="39092"/>
                  </a:cubicBezTo>
                  <a:lnTo>
                    <a:pt x="2660115" y="196084"/>
                  </a:lnTo>
                  <a:cubicBezTo>
                    <a:pt x="2660115" y="206451"/>
                    <a:pt x="2655996" y="216395"/>
                    <a:pt x="2648665" y="223726"/>
                  </a:cubicBezTo>
                  <a:cubicBezTo>
                    <a:pt x="2641334" y="231057"/>
                    <a:pt x="2631391" y="235176"/>
                    <a:pt x="2621023" y="235176"/>
                  </a:cubicBezTo>
                  <a:lnTo>
                    <a:pt x="39092" y="235176"/>
                  </a:lnTo>
                  <a:cubicBezTo>
                    <a:pt x="28724" y="235176"/>
                    <a:pt x="18781" y="231057"/>
                    <a:pt x="11450" y="223726"/>
                  </a:cubicBezTo>
                  <a:cubicBezTo>
                    <a:pt x="4119" y="216395"/>
                    <a:pt x="0" y="206451"/>
                    <a:pt x="0" y="196084"/>
                  </a:cubicBezTo>
                  <a:lnTo>
                    <a:pt x="0" y="39092"/>
                  </a:lnTo>
                  <a:cubicBezTo>
                    <a:pt x="0" y="28724"/>
                    <a:pt x="4119" y="18781"/>
                    <a:pt x="11450" y="11450"/>
                  </a:cubicBezTo>
                  <a:cubicBezTo>
                    <a:pt x="18781" y="4119"/>
                    <a:pt x="28724" y="0"/>
                    <a:pt x="39092" y="0"/>
                  </a:cubicBezTo>
                  <a:close/>
                </a:path>
              </a:pathLst>
            </a:custGeom>
            <a:grpFill/>
            <a:ln w="19050" cap="rnd">
              <a:gradFill>
                <a:gsLst>
                  <a:gs pos="0">
                    <a:srgbClr val="FFFFFF">
                      <a:alpha val="100000"/>
                    </a:srgbClr>
                  </a:gs>
                  <a:gs pos="100000">
                    <a:srgbClr val="BBBBBB">
                      <a:alpha val="100000"/>
                    </a:srgbClr>
                  </a:gs>
                </a:gsLst>
                <a:lin ang="2700000"/>
              </a:gradFill>
              <a:prstDash val="solid"/>
              <a:round/>
            </a:ln>
          </p:spPr>
        </p:sp>
        <p:sp>
          <p:nvSpPr>
            <p:cNvPr id="14" name="TextBox 14"/>
            <p:cNvSpPr txBox="1"/>
            <p:nvPr/>
          </p:nvSpPr>
          <p:spPr>
            <a:xfrm>
              <a:off x="-542" y="74965"/>
              <a:ext cx="2660115" cy="120876"/>
            </a:xfrm>
            <a:prstGeom prst="rect">
              <a:avLst/>
            </a:prstGeom>
            <a:grpFill/>
          </p:spPr>
          <p:txBody>
            <a:bodyPr lIns="50800" tIns="50800" rIns="50800" bIns="50800" rtlCol="0" anchor="ctr"/>
            <a:lstStyle/>
            <a:p>
              <a:pPr algn="ctr">
                <a:lnSpc>
                  <a:spcPts val="2387"/>
                </a:lnSpc>
              </a:pPr>
              <a:r>
                <a:rPr lang="en-US" sz="3022" b="1" dirty="0">
                  <a:solidFill>
                    <a:schemeClr val="tx1">
                      <a:lumMod val="95000"/>
                      <a:lumOff val="5000"/>
                    </a:schemeClr>
                  </a:solidFill>
                  <a:latin typeface="DM Sans Bold"/>
                  <a:ea typeface="DM Sans Bold"/>
                  <a:cs typeface="DM Sans Bold"/>
                  <a:sym typeface="DM Sans Bold"/>
                </a:rPr>
                <a:t>Background Work</a:t>
              </a:r>
            </a:p>
          </p:txBody>
        </p:sp>
      </p:grpSp>
      <p:grpSp>
        <p:nvGrpSpPr>
          <p:cNvPr id="15" name="Group 15"/>
          <p:cNvGrpSpPr/>
          <p:nvPr/>
        </p:nvGrpSpPr>
        <p:grpSpPr>
          <a:xfrm>
            <a:off x="4093938" y="5169996"/>
            <a:ext cx="10100124" cy="892933"/>
            <a:chOff x="0" y="0"/>
            <a:chExt cx="2660115" cy="235176"/>
          </a:xfrm>
          <a:gradFill>
            <a:gsLst>
              <a:gs pos="0">
                <a:schemeClr val="bg1">
                  <a:lumMod val="85000"/>
                </a:schemeClr>
              </a:gs>
              <a:gs pos="100000">
                <a:srgbClr val="001C42">
                  <a:alpha val="100000"/>
                </a:srgbClr>
              </a:gs>
            </a:gsLst>
            <a:lin ang="2700000" scaled="0"/>
          </a:gradFill>
        </p:grpSpPr>
        <p:sp>
          <p:nvSpPr>
            <p:cNvPr id="16" name="Freeform 16"/>
            <p:cNvSpPr/>
            <p:nvPr/>
          </p:nvSpPr>
          <p:spPr>
            <a:xfrm>
              <a:off x="0" y="0"/>
              <a:ext cx="2660115" cy="235176"/>
            </a:xfrm>
            <a:custGeom>
              <a:avLst/>
              <a:gdLst/>
              <a:ahLst/>
              <a:cxnLst/>
              <a:rect l="l" t="t" r="r" b="b"/>
              <a:pathLst>
                <a:path w="2660115" h="235176">
                  <a:moveTo>
                    <a:pt x="39092" y="0"/>
                  </a:moveTo>
                  <a:lnTo>
                    <a:pt x="2621023" y="0"/>
                  </a:lnTo>
                  <a:cubicBezTo>
                    <a:pt x="2631391" y="0"/>
                    <a:pt x="2641334" y="4119"/>
                    <a:pt x="2648665" y="11450"/>
                  </a:cubicBezTo>
                  <a:cubicBezTo>
                    <a:pt x="2655996" y="18781"/>
                    <a:pt x="2660115" y="28724"/>
                    <a:pt x="2660115" y="39092"/>
                  </a:cubicBezTo>
                  <a:lnTo>
                    <a:pt x="2660115" y="196084"/>
                  </a:lnTo>
                  <a:cubicBezTo>
                    <a:pt x="2660115" y="206451"/>
                    <a:pt x="2655996" y="216395"/>
                    <a:pt x="2648665" y="223726"/>
                  </a:cubicBezTo>
                  <a:cubicBezTo>
                    <a:pt x="2641334" y="231057"/>
                    <a:pt x="2631391" y="235176"/>
                    <a:pt x="2621023" y="235176"/>
                  </a:cubicBezTo>
                  <a:lnTo>
                    <a:pt x="39092" y="235176"/>
                  </a:lnTo>
                  <a:cubicBezTo>
                    <a:pt x="28724" y="235176"/>
                    <a:pt x="18781" y="231057"/>
                    <a:pt x="11450" y="223726"/>
                  </a:cubicBezTo>
                  <a:cubicBezTo>
                    <a:pt x="4119" y="216395"/>
                    <a:pt x="0" y="206451"/>
                    <a:pt x="0" y="196084"/>
                  </a:cubicBezTo>
                  <a:lnTo>
                    <a:pt x="0" y="39092"/>
                  </a:lnTo>
                  <a:cubicBezTo>
                    <a:pt x="0" y="28724"/>
                    <a:pt x="4119" y="18781"/>
                    <a:pt x="11450" y="11450"/>
                  </a:cubicBezTo>
                  <a:cubicBezTo>
                    <a:pt x="18781" y="4119"/>
                    <a:pt x="28724" y="0"/>
                    <a:pt x="39092" y="0"/>
                  </a:cubicBezTo>
                  <a:close/>
                </a:path>
              </a:pathLst>
            </a:custGeom>
            <a:grpFill/>
            <a:ln w="19050" cap="rnd">
              <a:gradFill>
                <a:gsLst>
                  <a:gs pos="0">
                    <a:srgbClr val="FFFFFF">
                      <a:alpha val="100000"/>
                    </a:srgbClr>
                  </a:gs>
                  <a:gs pos="100000">
                    <a:srgbClr val="BBBBBB">
                      <a:alpha val="100000"/>
                    </a:srgbClr>
                  </a:gs>
                </a:gsLst>
                <a:lin ang="2700000"/>
              </a:gradFill>
              <a:prstDash val="solid"/>
              <a:round/>
            </a:ln>
          </p:spPr>
        </p:sp>
        <p:sp>
          <p:nvSpPr>
            <p:cNvPr id="17" name="TextBox 17"/>
            <p:cNvSpPr txBox="1"/>
            <p:nvPr/>
          </p:nvSpPr>
          <p:spPr>
            <a:xfrm>
              <a:off x="5329" y="72779"/>
              <a:ext cx="2589084" cy="120876"/>
            </a:xfrm>
            <a:prstGeom prst="rect">
              <a:avLst/>
            </a:prstGeom>
            <a:grpFill/>
          </p:spPr>
          <p:txBody>
            <a:bodyPr lIns="50800" tIns="50800" rIns="50800" bIns="50800" rtlCol="0" anchor="ctr"/>
            <a:lstStyle/>
            <a:p>
              <a:pPr algn="ctr">
                <a:lnSpc>
                  <a:spcPts val="2387"/>
                </a:lnSpc>
              </a:pPr>
              <a:r>
                <a:rPr lang="en-US" sz="3022" b="1" dirty="0">
                  <a:solidFill>
                    <a:schemeClr val="tx1">
                      <a:lumMod val="95000"/>
                      <a:lumOff val="5000"/>
                    </a:schemeClr>
                  </a:solidFill>
                  <a:latin typeface="DM Sans Bold"/>
                  <a:ea typeface="DM Sans Bold"/>
                  <a:cs typeface="DM Sans Bold"/>
                  <a:sym typeface="DM Sans Bold"/>
                </a:rPr>
                <a:t>Applications / Use Cases</a:t>
              </a:r>
            </a:p>
          </p:txBody>
        </p:sp>
      </p:grpSp>
      <p:grpSp>
        <p:nvGrpSpPr>
          <p:cNvPr id="18" name="Group 18"/>
          <p:cNvGrpSpPr/>
          <p:nvPr/>
        </p:nvGrpSpPr>
        <p:grpSpPr>
          <a:xfrm>
            <a:off x="4093938" y="6282004"/>
            <a:ext cx="10100124" cy="892933"/>
            <a:chOff x="0" y="0"/>
            <a:chExt cx="2660115" cy="235176"/>
          </a:xfrm>
          <a:gradFill>
            <a:gsLst>
              <a:gs pos="0">
                <a:schemeClr val="bg1">
                  <a:lumMod val="85000"/>
                </a:schemeClr>
              </a:gs>
              <a:gs pos="100000">
                <a:srgbClr val="001C42">
                  <a:alpha val="100000"/>
                </a:srgbClr>
              </a:gs>
            </a:gsLst>
            <a:lin ang="2700000" scaled="0"/>
          </a:gradFill>
        </p:grpSpPr>
        <p:sp>
          <p:nvSpPr>
            <p:cNvPr id="19" name="Freeform 19"/>
            <p:cNvSpPr/>
            <p:nvPr/>
          </p:nvSpPr>
          <p:spPr>
            <a:xfrm>
              <a:off x="0" y="0"/>
              <a:ext cx="2660115" cy="235176"/>
            </a:xfrm>
            <a:custGeom>
              <a:avLst/>
              <a:gdLst/>
              <a:ahLst/>
              <a:cxnLst/>
              <a:rect l="l" t="t" r="r" b="b"/>
              <a:pathLst>
                <a:path w="2660115" h="235176">
                  <a:moveTo>
                    <a:pt x="39092" y="0"/>
                  </a:moveTo>
                  <a:lnTo>
                    <a:pt x="2621023" y="0"/>
                  </a:lnTo>
                  <a:cubicBezTo>
                    <a:pt x="2631391" y="0"/>
                    <a:pt x="2641334" y="4119"/>
                    <a:pt x="2648665" y="11450"/>
                  </a:cubicBezTo>
                  <a:cubicBezTo>
                    <a:pt x="2655996" y="18781"/>
                    <a:pt x="2660115" y="28724"/>
                    <a:pt x="2660115" y="39092"/>
                  </a:cubicBezTo>
                  <a:lnTo>
                    <a:pt x="2660115" y="196084"/>
                  </a:lnTo>
                  <a:cubicBezTo>
                    <a:pt x="2660115" y="206451"/>
                    <a:pt x="2655996" y="216395"/>
                    <a:pt x="2648665" y="223726"/>
                  </a:cubicBezTo>
                  <a:cubicBezTo>
                    <a:pt x="2641334" y="231057"/>
                    <a:pt x="2631391" y="235176"/>
                    <a:pt x="2621023" y="235176"/>
                  </a:cubicBezTo>
                  <a:lnTo>
                    <a:pt x="39092" y="235176"/>
                  </a:lnTo>
                  <a:cubicBezTo>
                    <a:pt x="28724" y="235176"/>
                    <a:pt x="18781" y="231057"/>
                    <a:pt x="11450" y="223726"/>
                  </a:cubicBezTo>
                  <a:cubicBezTo>
                    <a:pt x="4119" y="216395"/>
                    <a:pt x="0" y="206451"/>
                    <a:pt x="0" y="196084"/>
                  </a:cubicBezTo>
                  <a:lnTo>
                    <a:pt x="0" y="39092"/>
                  </a:lnTo>
                  <a:cubicBezTo>
                    <a:pt x="0" y="28724"/>
                    <a:pt x="4119" y="18781"/>
                    <a:pt x="11450" y="11450"/>
                  </a:cubicBezTo>
                  <a:cubicBezTo>
                    <a:pt x="18781" y="4119"/>
                    <a:pt x="28724" y="0"/>
                    <a:pt x="39092" y="0"/>
                  </a:cubicBezTo>
                  <a:close/>
                </a:path>
              </a:pathLst>
            </a:custGeom>
            <a:grpFill/>
            <a:ln w="19050" cap="rnd">
              <a:gradFill>
                <a:gsLst>
                  <a:gs pos="0">
                    <a:srgbClr val="FFFFFF">
                      <a:alpha val="100000"/>
                    </a:srgbClr>
                  </a:gs>
                  <a:gs pos="100000">
                    <a:srgbClr val="BBBBBB">
                      <a:alpha val="100000"/>
                    </a:srgbClr>
                  </a:gs>
                </a:gsLst>
                <a:lin ang="2700000"/>
              </a:gradFill>
              <a:prstDash val="solid"/>
              <a:round/>
            </a:ln>
          </p:spPr>
        </p:sp>
        <p:sp>
          <p:nvSpPr>
            <p:cNvPr id="20" name="TextBox 20"/>
            <p:cNvSpPr txBox="1"/>
            <p:nvPr/>
          </p:nvSpPr>
          <p:spPr>
            <a:xfrm>
              <a:off x="25563" y="79450"/>
              <a:ext cx="2616714" cy="120876"/>
            </a:xfrm>
            <a:prstGeom prst="rect">
              <a:avLst/>
            </a:prstGeom>
            <a:grpFill/>
          </p:spPr>
          <p:txBody>
            <a:bodyPr lIns="50800" tIns="50800" rIns="50800" bIns="50800" rtlCol="0" anchor="ctr"/>
            <a:lstStyle/>
            <a:p>
              <a:pPr algn="ctr">
                <a:lnSpc>
                  <a:spcPts val="2387"/>
                </a:lnSpc>
              </a:pPr>
              <a:r>
                <a:rPr lang="en-US" sz="3022" b="1" dirty="0">
                  <a:solidFill>
                    <a:schemeClr val="tx1">
                      <a:lumMod val="95000"/>
                      <a:lumOff val="5000"/>
                    </a:schemeClr>
                  </a:solidFill>
                  <a:latin typeface="DM Sans Bold"/>
                  <a:ea typeface="DM Sans Bold"/>
                  <a:cs typeface="DM Sans Bold"/>
                  <a:sym typeface="DM Sans Bold"/>
                </a:rPr>
                <a:t>Expected Deliverables</a:t>
              </a:r>
            </a:p>
          </p:txBody>
        </p:sp>
      </p:grpSp>
      <p:grpSp>
        <p:nvGrpSpPr>
          <p:cNvPr id="21" name="Group 21"/>
          <p:cNvGrpSpPr/>
          <p:nvPr/>
        </p:nvGrpSpPr>
        <p:grpSpPr>
          <a:xfrm>
            <a:off x="4091880" y="7394012"/>
            <a:ext cx="10102182" cy="892933"/>
            <a:chOff x="-542" y="0"/>
            <a:chExt cx="2660657" cy="235176"/>
          </a:xfrm>
          <a:gradFill>
            <a:gsLst>
              <a:gs pos="0">
                <a:schemeClr val="bg1">
                  <a:lumMod val="85000"/>
                </a:schemeClr>
              </a:gs>
              <a:gs pos="100000">
                <a:srgbClr val="001C42">
                  <a:alpha val="100000"/>
                </a:srgbClr>
              </a:gs>
            </a:gsLst>
            <a:lin ang="2700000" scaled="0"/>
          </a:gradFill>
        </p:grpSpPr>
        <p:sp>
          <p:nvSpPr>
            <p:cNvPr id="22" name="Freeform 22"/>
            <p:cNvSpPr/>
            <p:nvPr/>
          </p:nvSpPr>
          <p:spPr>
            <a:xfrm>
              <a:off x="0" y="0"/>
              <a:ext cx="2660115" cy="235176"/>
            </a:xfrm>
            <a:custGeom>
              <a:avLst/>
              <a:gdLst/>
              <a:ahLst/>
              <a:cxnLst/>
              <a:rect l="l" t="t" r="r" b="b"/>
              <a:pathLst>
                <a:path w="2660115" h="235176">
                  <a:moveTo>
                    <a:pt x="39092" y="0"/>
                  </a:moveTo>
                  <a:lnTo>
                    <a:pt x="2621023" y="0"/>
                  </a:lnTo>
                  <a:cubicBezTo>
                    <a:pt x="2631391" y="0"/>
                    <a:pt x="2641334" y="4119"/>
                    <a:pt x="2648665" y="11450"/>
                  </a:cubicBezTo>
                  <a:cubicBezTo>
                    <a:pt x="2655996" y="18781"/>
                    <a:pt x="2660115" y="28724"/>
                    <a:pt x="2660115" y="39092"/>
                  </a:cubicBezTo>
                  <a:lnTo>
                    <a:pt x="2660115" y="196084"/>
                  </a:lnTo>
                  <a:cubicBezTo>
                    <a:pt x="2660115" y="206451"/>
                    <a:pt x="2655996" y="216395"/>
                    <a:pt x="2648665" y="223726"/>
                  </a:cubicBezTo>
                  <a:cubicBezTo>
                    <a:pt x="2641334" y="231057"/>
                    <a:pt x="2631391" y="235176"/>
                    <a:pt x="2621023" y="235176"/>
                  </a:cubicBezTo>
                  <a:lnTo>
                    <a:pt x="39092" y="235176"/>
                  </a:lnTo>
                  <a:cubicBezTo>
                    <a:pt x="28724" y="235176"/>
                    <a:pt x="18781" y="231057"/>
                    <a:pt x="11450" y="223726"/>
                  </a:cubicBezTo>
                  <a:cubicBezTo>
                    <a:pt x="4119" y="216395"/>
                    <a:pt x="0" y="206451"/>
                    <a:pt x="0" y="196084"/>
                  </a:cubicBezTo>
                  <a:lnTo>
                    <a:pt x="0" y="39092"/>
                  </a:lnTo>
                  <a:cubicBezTo>
                    <a:pt x="0" y="28724"/>
                    <a:pt x="4119" y="18781"/>
                    <a:pt x="11450" y="11450"/>
                  </a:cubicBezTo>
                  <a:cubicBezTo>
                    <a:pt x="18781" y="4119"/>
                    <a:pt x="28724" y="0"/>
                    <a:pt x="39092" y="0"/>
                  </a:cubicBezTo>
                  <a:close/>
                </a:path>
              </a:pathLst>
            </a:custGeom>
            <a:grpFill/>
            <a:ln w="19050" cap="rnd">
              <a:gradFill>
                <a:gsLst>
                  <a:gs pos="0">
                    <a:srgbClr val="FFFFFF">
                      <a:alpha val="100000"/>
                    </a:srgbClr>
                  </a:gs>
                  <a:gs pos="100000">
                    <a:srgbClr val="BBBBBB">
                      <a:alpha val="100000"/>
                    </a:srgbClr>
                  </a:gs>
                </a:gsLst>
                <a:lin ang="2700000"/>
              </a:gradFill>
              <a:prstDash val="solid"/>
              <a:round/>
            </a:ln>
          </p:spPr>
        </p:sp>
        <p:sp>
          <p:nvSpPr>
            <p:cNvPr id="23" name="TextBox 23"/>
            <p:cNvSpPr txBox="1"/>
            <p:nvPr/>
          </p:nvSpPr>
          <p:spPr>
            <a:xfrm>
              <a:off x="-542" y="72603"/>
              <a:ext cx="2660115" cy="120876"/>
            </a:xfrm>
            <a:prstGeom prst="rect">
              <a:avLst/>
            </a:prstGeom>
            <a:grpFill/>
          </p:spPr>
          <p:txBody>
            <a:bodyPr lIns="50800" tIns="50800" rIns="50800" bIns="50800" rtlCol="0" anchor="ctr"/>
            <a:lstStyle/>
            <a:p>
              <a:pPr algn="ctr">
                <a:lnSpc>
                  <a:spcPts val="2387"/>
                </a:lnSpc>
              </a:pPr>
              <a:r>
                <a:rPr lang="en-US" sz="3022" b="1" dirty="0">
                  <a:solidFill>
                    <a:schemeClr val="tx1">
                      <a:lumMod val="95000"/>
                      <a:lumOff val="5000"/>
                    </a:schemeClr>
                  </a:solidFill>
                  <a:latin typeface="DM Sans Bold"/>
                  <a:ea typeface="DM Sans Bold"/>
                  <a:cs typeface="DM Sans Bold"/>
                  <a:sym typeface="DM Sans Bold"/>
                </a:rPr>
                <a:t>Capstone Project Timeline (Phases I–III)</a:t>
              </a:r>
            </a:p>
          </p:txBody>
        </p:sp>
      </p:grpSp>
      <p:grpSp>
        <p:nvGrpSpPr>
          <p:cNvPr id="24" name="Group 24"/>
          <p:cNvGrpSpPr/>
          <p:nvPr/>
        </p:nvGrpSpPr>
        <p:grpSpPr>
          <a:xfrm>
            <a:off x="2640490" y="1833970"/>
            <a:ext cx="942089" cy="942089"/>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68000">
                  <a:srgbClr val="0057FF">
                    <a:alpha val="100000"/>
                  </a:srgbClr>
                </a:gs>
                <a:gs pos="100000">
                  <a:srgbClr val="001C42">
                    <a:alpha val="100000"/>
                  </a:srgbClr>
                </a:gs>
              </a:gsLst>
              <a:lin ang="2700000" scaled="0"/>
            </a:gradFill>
          </p:spPr>
          <p:txBody>
            <a:bodyPr/>
            <a:lstStyle/>
            <a:p>
              <a:endParaRPr lang="en-IN" dirty="0"/>
            </a:p>
          </p:txBody>
        </p:sp>
        <p:sp>
          <p:nvSpPr>
            <p:cNvPr id="26" name="TextBox 26"/>
            <p:cNvSpPr txBox="1"/>
            <p:nvPr/>
          </p:nvSpPr>
          <p:spPr>
            <a:xfrm>
              <a:off x="76200" y="171450"/>
              <a:ext cx="660400" cy="565150"/>
            </a:xfrm>
            <a:prstGeom prst="rect">
              <a:avLst/>
            </a:prstGeom>
          </p:spPr>
          <p:txBody>
            <a:bodyPr lIns="50800" tIns="50800" rIns="50800" bIns="50800" rtlCol="0" anchor="ctr"/>
            <a:lstStyle/>
            <a:p>
              <a:pPr algn="ctr">
                <a:lnSpc>
                  <a:spcPts val="1676"/>
                </a:lnSpc>
              </a:pPr>
              <a:r>
                <a:rPr lang="en-US" sz="2122" b="1" spc="-241" dirty="0">
                  <a:solidFill>
                    <a:srgbClr val="CC9900"/>
                  </a:solidFill>
                  <a:latin typeface="Open Sauce Heavy"/>
                  <a:ea typeface="Open Sauce Heavy"/>
                  <a:cs typeface="Open Sauce Heavy"/>
                  <a:sym typeface="Open Sauce Heavy"/>
                </a:rPr>
                <a:t>1</a:t>
              </a:r>
            </a:p>
          </p:txBody>
        </p:sp>
      </p:grpSp>
      <p:grpSp>
        <p:nvGrpSpPr>
          <p:cNvPr id="28" name="Group 28"/>
          <p:cNvGrpSpPr/>
          <p:nvPr/>
        </p:nvGrpSpPr>
        <p:grpSpPr>
          <a:xfrm>
            <a:off x="2640490" y="2958268"/>
            <a:ext cx="942089" cy="942089"/>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68000">
                  <a:srgbClr val="0057FF">
                    <a:alpha val="100000"/>
                  </a:srgbClr>
                </a:gs>
                <a:gs pos="100000">
                  <a:srgbClr val="001C42">
                    <a:alpha val="100000"/>
                  </a:srgbClr>
                </a:gs>
              </a:gsLst>
              <a:lin ang="2700000"/>
            </a:gradFill>
          </p:spPr>
          <p:txBody>
            <a:bodyPr/>
            <a:lstStyle/>
            <a:p>
              <a:endParaRPr lang="en-IN" dirty="0"/>
            </a:p>
          </p:txBody>
        </p:sp>
        <p:sp>
          <p:nvSpPr>
            <p:cNvPr id="30" name="TextBox 30"/>
            <p:cNvSpPr txBox="1"/>
            <p:nvPr/>
          </p:nvSpPr>
          <p:spPr>
            <a:xfrm>
              <a:off x="76200" y="171450"/>
              <a:ext cx="660400" cy="565150"/>
            </a:xfrm>
            <a:prstGeom prst="rect">
              <a:avLst/>
            </a:prstGeom>
          </p:spPr>
          <p:txBody>
            <a:bodyPr lIns="50800" tIns="50800" rIns="50800" bIns="50800" rtlCol="0" anchor="ctr"/>
            <a:lstStyle/>
            <a:p>
              <a:pPr algn="ctr">
                <a:lnSpc>
                  <a:spcPts val="1676"/>
                </a:lnSpc>
              </a:pPr>
              <a:r>
                <a:rPr lang="en-US" sz="2122" b="1" spc="-241" dirty="0">
                  <a:solidFill>
                    <a:srgbClr val="CC9900"/>
                  </a:solidFill>
                  <a:latin typeface="Open Sauce Heavy"/>
                  <a:ea typeface="Open Sauce Heavy"/>
                  <a:cs typeface="Open Sauce Heavy"/>
                  <a:sym typeface="Open Sauce Heavy"/>
                </a:rPr>
                <a:t>2</a:t>
              </a:r>
            </a:p>
          </p:txBody>
        </p:sp>
      </p:grpSp>
      <p:grpSp>
        <p:nvGrpSpPr>
          <p:cNvPr id="31" name="Group 31"/>
          <p:cNvGrpSpPr/>
          <p:nvPr/>
        </p:nvGrpSpPr>
        <p:grpSpPr>
          <a:xfrm>
            <a:off x="2640490" y="4082565"/>
            <a:ext cx="942089" cy="942089"/>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66000">
                  <a:srgbClr val="0057FF">
                    <a:alpha val="100000"/>
                  </a:srgbClr>
                </a:gs>
                <a:gs pos="100000">
                  <a:srgbClr val="001C42">
                    <a:alpha val="100000"/>
                  </a:srgbClr>
                </a:gs>
              </a:gsLst>
              <a:lin ang="2700000"/>
            </a:gradFill>
          </p:spPr>
          <p:txBody>
            <a:bodyPr/>
            <a:lstStyle/>
            <a:p>
              <a:endParaRPr lang="en-IN" dirty="0"/>
            </a:p>
          </p:txBody>
        </p:sp>
        <p:sp>
          <p:nvSpPr>
            <p:cNvPr id="33" name="TextBox 33"/>
            <p:cNvSpPr txBox="1"/>
            <p:nvPr/>
          </p:nvSpPr>
          <p:spPr>
            <a:xfrm>
              <a:off x="76200" y="171450"/>
              <a:ext cx="660400" cy="565150"/>
            </a:xfrm>
            <a:prstGeom prst="rect">
              <a:avLst/>
            </a:prstGeom>
          </p:spPr>
          <p:txBody>
            <a:bodyPr lIns="50800" tIns="50800" rIns="50800" bIns="50800" rtlCol="0" anchor="ctr"/>
            <a:lstStyle/>
            <a:p>
              <a:pPr algn="ctr">
                <a:lnSpc>
                  <a:spcPts val="1676"/>
                </a:lnSpc>
              </a:pPr>
              <a:r>
                <a:rPr lang="en-US" sz="2122" b="1" spc="-241" dirty="0">
                  <a:solidFill>
                    <a:srgbClr val="CC9900"/>
                  </a:solidFill>
                  <a:latin typeface="Open Sauce Heavy"/>
                  <a:ea typeface="Open Sauce Heavy"/>
                  <a:cs typeface="Open Sauce Heavy"/>
                  <a:sym typeface="Open Sauce Heavy"/>
                </a:rPr>
                <a:t>3</a:t>
              </a:r>
            </a:p>
          </p:txBody>
        </p:sp>
      </p:grpSp>
      <p:grpSp>
        <p:nvGrpSpPr>
          <p:cNvPr id="34" name="Group 34"/>
          <p:cNvGrpSpPr/>
          <p:nvPr/>
        </p:nvGrpSpPr>
        <p:grpSpPr>
          <a:xfrm>
            <a:off x="2640490" y="5169996"/>
            <a:ext cx="942089" cy="942089"/>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65000">
                  <a:srgbClr val="0057FF">
                    <a:alpha val="100000"/>
                  </a:srgbClr>
                </a:gs>
                <a:gs pos="100000">
                  <a:srgbClr val="001C42">
                    <a:alpha val="100000"/>
                  </a:srgbClr>
                </a:gs>
              </a:gsLst>
              <a:lin ang="2700000"/>
            </a:gradFill>
          </p:spPr>
          <p:txBody>
            <a:bodyPr/>
            <a:lstStyle/>
            <a:p>
              <a:endParaRPr lang="en-IN" dirty="0"/>
            </a:p>
          </p:txBody>
        </p:sp>
        <p:sp>
          <p:nvSpPr>
            <p:cNvPr id="36" name="TextBox 36"/>
            <p:cNvSpPr txBox="1"/>
            <p:nvPr/>
          </p:nvSpPr>
          <p:spPr>
            <a:xfrm>
              <a:off x="76200" y="171450"/>
              <a:ext cx="660400" cy="565150"/>
            </a:xfrm>
            <a:prstGeom prst="rect">
              <a:avLst/>
            </a:prstGeom>
          </p:spPr>
          <p:txBody>
            <a:bodyPr lIns="50800" tIns="50800" rIns="50800" bIns="50800" rtlCol="0" anchor="ctr"/>
            <a:lstStyle/>
            <a:p>
              <a:pPr algn="ctr">
                <a:lnSpc>
                  <a:spcPts val="1676"/>
                </a:lnSpc>
              </a:pPr>
              <a:r>
                <a:rPr lang="en-US" sz="2122" b="1" spc="-241" dirty="0">
                  <a:solidFill>
                    <a:srgbClr val="CC9900"/>
                  </a:solidFill>
                  <a:latin typeface="Open Sauce Heavy"/>
                  <a:ea typeface="Open Sauce Heavy"/>
                  <a:cs typeface="Open Sauce Heavy"/>
                  <a:sym typeface="Open Sauce Heavy"/>
                </a:rPr>
                <a:t>4</a:t>
              </a:r>
            </a:p>
          </p:txBody>
        </p:sp>
      </p:grpSp>
      <p:grpSp>
        <p:nvGrpSpPr>
          <p:cNvPr id="37" name="Group 37"/>
          <p:cNvGrpSpPr/>
          <p:nvPr/>
        </p:nvGrpSpPr>
        <p:grpSpPr>
          <a:xfrm>
            <a:off x="2640490" y="6331159"/>
            <a:ext cx="942089" cy="942089"/>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68000">
                  <a:srgbClr val="0057FF">
                    <a:alpha val="100000"/>
                  </a:srgbClr>
                </a:gs>
                <a:gs pos="100000">
                  <a:srgbClr val="001C42">
                    <a:alpha val="100000"/>
                  </a:srgbClr>
                </a:gs>
              </a:gsLst>
              <a:lin ang="2700000"/>
            </a:gradFill>
          </p:spPr>
        </p:sp>
        <p:sp>
          <p:nvSpPr>
            <p:cNvPr id="39" name="TextBox 39"/>
            <p:cNvSpPr txBox="1"/>
            <p:nvPr/>
          </p:nvSpPr>
          <p:spPr>
            <a:xfrm>
              <a:off x="76200" y="171450"/>
              <a:ext cx="660400" cy="565150"/>
            </a:xfrm>
            <a:prstGeom prst="rect">
              <a:avLst/>
            </a:prstGeom>
          </p:spPr>
          <p:txBody>
            <a:bodyPr lIns="50800" tIns="50800" rIns="50800" bIns="50800" rtlCol="0" anchor="ctr"/>
            <a:lstStyle/>
            <a:p>
              <a:pPr algn="ctr">
                <a:lnSpc>
                  <a:spcPts val="1676"/>
                </a:lnSpc>
              </a:pPr>
              <a:r>
                <a:rPr lang="en-US" sz="2122" b="1" spc="-241" dirty="0">
                  <a:solidFill>
                    <a:srgbClr val="CC9900"/>
                  </a:solidFill>
                  <a:latin typeface="Open Sauce Heavy"/>
                  <a:ea typeface="Open Sauce Heavy"/>
                  <a:cs typeface="Open Sauce Heavy"/>
                  <a:sym typeface="Open Sauce Heavy"/>
                </a:rPr>
                <a:t>5</a:t>
              </a:r>
            </a:p>
          </p:txBody>
        </p:sp>
      </p:grpSp>
      <p:grpSp>
        <p:nvGrpSpPr>
          <p:cNvPr id="40" name="Group 40"/>
          <p:cNvGrpSpPr/>
          <p:nvPr/>
        </p:nvGrpSpPr>
        <p:grpSpPr>
          <a:xfrm>
            <a:off x="2640490" y="7394012"/>
            <a:ext cx="942089" cy="942089"/>
            <a:chOff x="0" y="0"/>
            <a:chExt cx="812800" cy="812800"/>
          </a:xfrm>
        </p:grpSpPr>
        <p:sp>
          <p:nvSpPr>
            <p:cNvPr id="41" name="Freeform 4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59000">
                  <a:srgbClr val="0057FF">
                    <a:alpha val="100000"/>
                  </a:srgbClr>
                </a:gs>
                <a:gs pos="100000">
                  <a:srgbClr val="001C42">
                    <a:alpha val="100000"/>
                  </a:srgbClr>
                </a:gs>
              </a:gsLst>
              <a:lin ang="2700000"/>
            </a:gradFill>
          </p:spPr>
          <p:txBody>
            <a:bodyPr/>
            <a:lstStyle/>
            <a:p>
              <a:endParaRPr lang="en-IN" dirty="0"/>
            </a:p>
          </p:txBody>
        </p:sp>
        <p:sp>
          <p:nvSpPr>
            <p:cNvPr id="42" name="TextBox 42"/>
            <p:cNvSpPr txBox="1"/>
            <p:nvPr/>
          </p:nvSpPr>
          <p:spPr>
            <a:xfrm>
              <a:off x="76200" y="171450"/>
              <a:ext cx="660400" cy="565150"/>
            </a:xfrm>
            <a:prstGeom prst="rect">
              <a:avLst/>
            </a:prstGeom>
          </p:spPr>
          <p:txBody>
            <a:bodyPr lIns="50800" tIns="50800" rIns="50800" bIns="50800" rtlCol="0" anchor="ctr"/>
            <a:lstStyle/>
            <a:p>
              <a:pPr algn="ctr">
                <a:lnSpc>
                  <a:spcPts val="1676"/>
                </a:lnSpc>
              </a:pPr>
              <a:r>
                <a:rPr lang="en-US" sz="2122" b="1" spc="-241" dirty="0">
                  <a:solidFill>
                    <a:srgbClr val="CC9900"/>
                  </a:solidFill>
                  <a:latin typeface="Open Sauce Heavy"/>
                  <a:ea typeface="Open Sauce Heavy"/>
                  <a:cs typeface="Open Sauce Heavy"/>
                  <a:sym typeface="Open Sauce Heavy"/>
                </a:rPr>
                <a:t>6</a:t>
              </a:r>
            </a:p>
          </p:txBody>
        </p:sp>
      </p:grpSp>
      <p:sp>
        <p:nvSpPr>
          <p:cNvPr id="44" name="Title 101">
            <a:extLst>
              <a:ext uri="{FF2B5EF4-FFF2-40B4-BE49-F238E27FC236}">
                <a16:creationId xmlns:a16="http://schemas.microsoft.com/office/drawing/2014/main" id="{3EA525F7-4251-AF39-2B6C-0B10B82C787F}"/>
              </a:ext>
            </a:extLst>
          </p:cNvPr>
          <p:cNvSpPr txBox="1"/>
          <p:nvPr/>
        </p:nvSpPr>
        <p:spPr>
          <a:xfrm>
            <a:off x="1005840" y="365760"/>
            <a:ext cx="14538960" cy="1280160"/>
          </a:xfrm>
          <a:prstGeom prst="rect">
            <a:avLst/>
          </a:prstGeom>
          <a:noFill/>
          <a:ln>
            <a:noFill/>
          </a:ln>
        </p:spPr>
        <p:txBody>
          <a:bodyPr wrap="square" lIns="0" tIns="0" rIns="0" bIns="0" rtlCol="0" anchor="ctr">
            <a:noAutofit/>
          </a:bodyPr>
          <a:lstStyle/>
          <a:p>
            <a:pPr algn="l">
              <a:spcAft>
                <a:spcPts val="0"/>
              </a:spcAft>
              <a:buNone/>
            </a:pPr>
            <a:r>
              <a:rPr lang="en-US" sz="7700" b="0" i="0" dirty="0">
                <a:gradFill>
                  <a:gsLst>
                    <a:gs pos="0">
                      <a:srgbClr val="0057FF"/>
                    </a:gs>
                    <a:gs pos="100000">
                      <a:srgbClr val="001C42"/>
                    </a:gs>
                  </a:gsLst>
                  <a:lin ang="2700000" scaled="0"/>
                </a:gradFill>
                <a:latin typeface="Intro"/>
                <a:ea typeface="Intro"/>
                <a:cs typeface="Intro"/>
              </a:rPr>
              <a:t>OUTLINE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gs>
            <a:gs pos="100000">
              <a:schemeClr val="bg1">
                <a:lumMod val="75000"/>
              </a:scheme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rot="2346973" flipH="1">
            <a:off x="-4161554" y="2469548"/>
            <a:ext cx="12920274" cy="7728673"/>
          </a:xfrm>
          <a:custGeom>
            <a:avLst/>
            <a:gdLst/>
            <a:ahLst/>
            <a:cxnLst/>
            <a:rect l="l" t="t" r="r" b="b"/>
            <a:pathLst>
              <a:path w="12920274" h="7728673">
                <a:moveTo>
                  <a:pt x="12920274" y="0"/>
                </a:moveTo>
                <a:lnTo>
                  <a:pt x="0" y="0"/>
                </a:lnTo>
                <a:lnTo>
                  <a:pt x="0" y="7728673"/>
                </a:lnTo>
                <a:lnTo>
                  <a:pt x="12920274" y="7728673"/>
                </a:lnTo>
                <a:lnTo>
                  <a:pt x="12920274"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p:cNvSpPr/>
          <p:nvPr/>
        </p:nvSpPr>
        <p:spPr>
          <a:xfrm rot="-6925212">
            <a:off x="-4640545" y="4311866"/>
            <a:ext cx="11011936" cy="6799870"/>
          </a:xfrm>
          <a:custGeom>
            <a:avLst/>
            <a:gdLst/>
            <a:ahLst/>
            <a:cxnLst/>
            <a:rect l="l" t="t" r="r" b="b"/>
            <a:pathLst>
              <a:path w="11011936" h="6799870">
                <a:moveTo>
                  <a:pt x="0" y="0"/>
                </a:moveTo>
                <a:lnTo>
                  <a:pt x="11011935" y="0"/>
                </a:lnTo>
                <a:lnTo>
                  <a:pt x="11011935" y="6799870"/>
                </a:lnTo>
                <a:lnTo>
                  <a:pt x="0" y="6799870"/>
                </a:lnTo>
                <a:lnTo>
                  <a:pt x="0" y="0"/>
                </a:lnTo>
                <a:close/>
              </a:path>
            </a:pathLst>
          </a:custGeom>
          <a:blipFill>
            <a:blip r:embed="rId3"/>
            <a:stretch>
              <a:fillRect/>
            </a:stretch>
          </a:blipFill>
        </p:spPr>
      </p:sp>
      <p:sp>
        <p:nvSpPr>
          <p:cNvPr id="7" name="Freeform 7"/>
          <p:cNvSpPr/>
          <p:nvPr/>
        </p:nvSpPr>
        <p:spPr>
          <a:xfrm rot="-5952431">
            <a:off x="10724792" y="-6092583"/>
            <a:ext cx="11940692" cy="7373377"/>
          </a:xfrm>
          <a:custGeom>
            <a:avLst/>
            <a:gdLst/>
            <a:ahLst/>
            <a:cxnLst/>
            <a:rect l="l" t="t" r="r" b="b"/>
            <a:pathLst>
              <a:path w="11940692" h="7373377">
                <a:moveTo>
                  <a:pt x="0" y="0"/>
                </a:moveTo>
                <a:lnTo>
                  <a:pt x="11940692" y="0"/>
                </a:lnTo>
                <a:lnTo>
                  <a:pt x="11940692" y="7373377"/>
                </a:lnTo>
                <a:lnTo>
                  <a:pt x="0" y="7373377"/>
                </a:lnTo>
                <a:lnTo>
                  <a:pt x="0" y="0"/>
                </a:lnTo>
                <a:close/>
              </a:path>
            </a:pathLst>
          </a:custGeom>
          <a:blipFill>
            <a:blip r:embed="rId3"/>
            <a:stretch>
              <a:fillRect/>
            </a:stretch>
          </a:blipFill>
        </p:spPr>
      </p:sp>
      <p:sp>
        <p:nvSpPr>
          <p:cNvPr id="8" name="Freeform 8"/>
          <p:cNvSpPr/>
          <p:nvPr/>
        </p:nvSpPr>
        <p:spPr>
          <a:xfrm>
            <a:off x="16343296" y="177703"/>
            <a:ext cx="1832007" cy="850997"/>
          </a:xfrm>
          <a:custGeom>
            <a:avLst/>
            <a:gdLst/>
            <a:ahLst/>
            <a:cxnLst/>
            <a:rect l="l" t="t" r="r" b="b"/>
            <a:pathLst>
              <a:path w="1832007" h="850997">
                <a:moveTo>
                  <a:pt x="0" y="0"/>
                </a:moveTo>
                <a:lnTo>
                  <a:pt x="1832008" y="0"/>
                </a:lnTo>
                <a:lnTo>
                  <a:pt x="1832008" y="850997"/>
                </a:lnTo>
                <a:lnTo>
                  <a:pt x="0" y="850997"/>
                </a:lnTo>
                <a:lnTo>
                  <a:pt x="0" y="0"/>
                </a:lnTo>
                <a:close/>
              </a:path>
            </a:pathLst>
          </a:custGeom>
          <a:blipFill>
            <a:blip r:embed="rId4"/>
            <a:stretch>
              <a:fillRect/>
            </a:stretch>
          </a:blipFill>
        </p:spPr>
      </p:sp>
      <p:sp>
        <p:nvSpPr>
          <p:cNvPr id="101" name="Title 101"/>
          <p:cNvSpPr txBox="1"/>
          <p:nvPr/>
        </p:nvSpPr>
        <p:spPr>
          <a:xfrm>
            <a:off x="1005840" y="365760"/>
            <a:ext cx="14538960" cy="1280160"/>
          </a:xfrm>
          <a:prstGeom prst="rect">
            <a:avLst/>
          </a:prstGeom>
          <a:noFill/>
          <a:ln>
            <a:noFill/>
          </a:ln>
        </p:spPr>
        <p:txBody>
          <a:bodyPr wrap="square" lIns="0" tIns="0" rIns="0" bIns="0" rtlCol="0" anchor="ctr">
            <a:noAutofit/>
          </a:bodyPr>
          <a:lstStyle/>
          <a:p>
            <a:pPr algn="l">
              <a:spcAft>
                <a:spcPts val="0"/>
              </a:spcAft>
              <a:buNone/>
            </a:pPr>
            <a:r>
              <a:rPr lang="en-US" sz="5600" b="0" i="0" dirty="0">
                <a:gradFill>
                  <a:gsLst>
                    <a:gs pos="0">
                      <a:srgbClr val="0057FF"/>
                    </a:gs>
                    <a:gs pos="100000">
                      <a:srgbClr val="001C42"/>
                    </a:gs>
                  </a:gsLst>
                  <a:lin ang="2700000" scaled="0"/>
                </a:gradFill>
                <a:latin typeface="Intro"/>
                <a:ea typeface="Intro"/>
                <a:cs typeface="Intro"/>
              </a:rPr>
              <a:t>Problem Statement</a:t>
            </a:r>
          </a:p>
        </p:txBody>
      </p:sp>
      <p:sp>
        <p:nvSpPr>
          <p:cNvPr id="103" name="Context 103"/>
          <p:cNvSpPr/>
          <p:nvPr/>
        </p:nvSpPr>
        <p:spPr>
          <a:xfrm>
            <a:off x="1005840" y="3474720"/>
            <a:ext cx="7955280" cy="4754880"/>
          </a:xfrm>
          <a:prstGeom prst="roundRect">
            <a:avLst>
              <a:gd name="adj" fmla="val 9000"/>
            </a:avLst>
          </a:prstGeom>
          <a:solidFill>
            <a:srgbClr val="FFFFFF"/>
          </a:solidFill>
          <a:ln w="19050">
            <a:solidFill>
              <a:srgbClr val="FFFFFF"/>
            </a:solidFill>
          </a:ln>
          <a:effectLst>
            <a:outerShdw blurRad="50800" dist="38100" dir="13500000" algn="br" rotWithShape="0">
              <a:prstClr val="black">
                <a:alpha val="40000"/>
              </a:prstClr>
            </a:outerShdw>
          </a:effectLst>
        </p:spPr>
        <p:txBody>
          <a:bodyPr wrap="square" lIns="320040" tIns="228600" rIns="320040" bIns="182880" rtlCol="0" anchor="t">
            <a:noAutofit/>
          </a:bodyPr>
          <a:lstStyle/>
          <a:p>
            <a:pPr algn="l">
              <a:spcAft>
                <a:spcPts val="1200"/>
              </a:spcAft>
              <a:buNone/>
            </a:pPr>
            <a:r>
              <a:rPr lang="en-US" sz="2000" b="0" i="0" dirty="0">
                <a:latin typeface="Open Sauce"/>
                <a:ea typeface="Open Sauce"/>
                <a:cs typeface="Open Sauce"/>
              </a:rPr>
              <a:t>Edge-based machine learning intrusion detection systems (ML-IDS) are increasingly deployed in Industrial IoT networks to enable real-time, low-latency threat detection while reducing dependence on cloud infrastructure and network bandwidth.</a:t>
            </a:r>
          </a:p>
          <a:p>
            <a:pPr algn="l">
              <a:spcAft>
                <a:spcPts val="1200"/>
              </a:spcAft>
              <a:buNone/>
            </a:pPr>
            <a:r>
              <a:rPr lang="en-US" sz="2000" b="0" i="0" dirty="0">
                <a:latin typeface="Open Sauce"/>
                <a:ea typeface="Open Sauce"/>
                <a:cs typeface="Open Sauce"/>
              </a:rPr>
              <a:t>Adversarial robustness and model-artifact protection have been studied largely in isolation and typically on resource-rich platforms. Their combined, practical treatment under edge constraints remains insufficiently investigated. Moreover, defensive mechanisms themselves incur computational, memory, storage, and latency costs that may be prohibitive on constrained hardware.</a:t>
            </a:r>
          </a:p>
        </p:txBody>
      </p:sp>
      <p:sp>
        <p:nvSpPr>
          <p:cNvPr id="104" name="Text 104"/>
          <p:cNvSpPr txBox="1"/>
          <p:nvPr/>
        </p:nvSpPr>
        <p:spPr>
          <a:xfrm>
            <a:off x="9326880" y="3474720"/>
            <a:ext cx="7955280" cy="914400"/>
          </a:xfrm>
          <a:prstGeom prst="rect">
            <a:avLst/>
          </a:prstGeom>
          <a:noFill/>
          <a:ln>
            <a:noFill/>
          </a:ln>
        </p:spPr>
        <p:txBody>
          <a:bodyPr wrap="square" lIns="0" tIns="0" rIns="0" bIns="0" rtlCol="0" anchor="t">
            <a:noAutofit/>
          </a:bodyPr>
          <a:lstStyle/>
          <a:p>
            <a:pPr algn="l">
              <a:spcAft>
                <a:spcPts val="0"/>
              </a:spcAft>
              <a:buNone/>
            </a:pPr>
            <a:r>
              <a:rPr lang="en-US" sz="2100" b="1" i="0" dirty="0">
                <a:solidFill>
                  <a:schemeClr val="tx1">
                    <a:lumMod val="95000"/>
                    <a:lumOff val="5000"/>
                  </a:schemeClr>
                </a:solidFill>
                <a:latin typeface="Open Sauce"/>
                <a:ea typeface="Open Sauce"/>
                <a:cs typeface="Open Sauce"/>
              </a:rPr>
              <a:t>Deploying an ML-IDS at the edge introduces the model as an additional attack surface across two pipelines:</a:t>
            </a:r>
          </a:p>
        </p:txBody>
      </p:sp>
      <p:sp>
        <p:nvSpPr>
          <p:cNvPr id="105" name="Pipeline 105"/>
          <p:cNvSpPr/>
          <p:nvPr/>
        </p:nvSpPr>
        <p:spPr>
          <a:xfrm>
            <a:off x="9326880" y="4480560"/>
            <a:ext cx="7955280" cy="1737360"/>
          </a:xfrm>
          <a:prstGeom prst="roundRect">
            <a:avLst>
              <a:gd name="adj" fmla="val 14000"/>
            </a:avLst>
          </a:prstGeom>
          <a:gradFill>
            <a:gsLst>
              <a:gs pos="0">
                <a:schemeClr val="tx2">
                  <a:lumMod val="60000"/>
                  <a:lumOff val="40000"/>
                </a:schemeClr>
              </a:gs>
              <a:gs pos="67000">
                <a:srgbClr val="002060"/>
              </a:gs>
            </a:gsLst>
            <a:lin ang="2700000" scaled="0"/>
          </a:gradFill>
          <a:ln w="19050">
            <a:solidFill>
              <a:srgbClr val="FFFFFF"/>
            </a:solidFill>
          </a:ln>
        </p:spPr>
        <p:txBody>
          <a:bodyPr wrap="square" lIns="320040" tIns="228600" rIns="320040" bIns="182880" rtlCol="0" anchor="t">
            <a:noAutofit/>
          </a:bodyPr>
          <a:lstStyle/>
          <a:p>
            <a:endParaRPr lang="en-US" dirty="0"/>
          </a:p>
        </p:txBody>
      </p:sp>
      <p:sp>
        <p:nvSpPr>
          <p:cNvPr id="106" name="Badge 106"/>
          <p:cNvSpPr/>
          <p:nvPr/>
        </p:nvSpPr>
        <p:spPr>
          <a:xfrm>
            <a:off x="9601200" y="4709160"/>
            <a:ext cx="640080" cy="640080"/>
          </a:xfrm>
          <a:prstGeom prst="ellipse">
            <a:avLst/>
          </a:prstGeom>
          <a:solidFill>
            <a:srgbClr val="FFFFFF"/>
          </a:solidFill>
          <a:ln>
            <a:noFill/>
          </a:ln>
        </p:spPr>
        <p:txBody>
          <a:bodyPr wrap="square" lIns="0" tIns="0" rIns="0" bIns="0" rtlCol="0" anchor="ctr">
            <a:noAutofit/>
          </a:bodyPr>
          <a:lstStyle/>
          <a:p>
            <a:pPr algn="ctr">
              <a:spcAft>
                <a:spcPts val="0"/>
              </a:spcAft>
              <a:buNone/>
            </a:pPr>
            <a:r>
              <a:rPr lang="en-US" sz="2200" b="1" i="0" dirty="0">
                <a:solidFill>
                  <a:srgbClr val="0057FF"/>
                </a:solidFill>
                <a:latin typeface="Open Sauce"/>
                <a:ea typeface="Open Sauce"/>
                <a:cs typeface="Open Sauce"/>
              </a:rPr>
              <a:t>1</a:t>
            </a:r>
          </a:p>
        </p:txBody>
      </p:sp>
      <p:sp>
        <p:nvSpPr>
          <p:cNvPr id="107" name="Text 107"/>
          <p:cNvSpPr txBox="1"/>
          <p:nvPr/>
        </p:nvSpPr>
        <p:spPr>
          <a:xfrm>
            <a:off x="10469880" y="4681728"/>
            <a:ext cx="6583680" cy="548640"/>
          </a:xfrm>
          <a:prstGeom prst="rect">
            <a:avLst/>
          </a:prstGeom>
          <a:noFill/>
          <a:ln>
            <a:noFill/>
          </a:ln>
        </p:spPr>
        <p:txBody>
          <a:bodyPr wrap="square" lIns="0" tIns="0" rIns="0" bIns="0" rtlCol="0" anchor="ctr">
            <a:noAutofit/>
          </a:bodyPr>
          <a:lstStyle/>
          <a:p>
            <a:pPr algn="l">
              <a:spcAft>
                <a:spcPts val="0"/>
              </a:spcAft>
              <a:buNone/>
            </a:pPr>
            <a:r>
              <a:rPr lang="en-US" sz="2400" b="1" i="0" dirty="0">
                <a:solidFill>
                  <a:srgbClr val="FFFFFF"/>
                </a:solidFill>
                <a:latin typeface="Open Sauce"/>
                <a:ea typeface="Open Sauce"/>
                <a:cs typeface="Open Sauce"/>
              </a:rPr>
              <a:t>Input pipeline (evasion)</a:t>
            </a:r>
          </a:p>
        </p:txBody>
      </p:sp>
      <p:sp>
        <p:nvSpPr>
          <p:cNvPr id="108" name="Text 108"/>
          <p:cNvSpPr txBox="1"/>
          <p:nvPr/>
        </p:nvSpPr>
        <p:spPr>
          <a:xfrm>
            <a:off x="10469880" y="5257800"/>
            <a:ext cx="6583680" cy="914400"/>
          </a:xfrm>
          <a:prstGeom prst="rect">
            <a:avLst/>
          </a:prstGeom>
          <a:noFill/>
          <a:ln>
            <a:noFill/>
          </a:ln>
        </p:spPr>
        <p:txBody>
          <a:bodyPr wrap="square" lIns="0" tIns="0" rIns="0" bIns="0" rtlCol="0" anchor="t">
            <a:noAutofit/>
          </a:bodyPr>
          <a:lstStyle/>
          <a:p>
            <a:pPr algn="l">
              <a:spcAft>
                <a:spcPts val="0"/>
              </a:spcAft>
              <a:buNone/>
            </a:pPr>
            <a:r>
              <a:rPr lang="en-US" sz="1900" b="0" i="0" dirty="0">
                <a:solidFill>
                  <a:srgbClr val="FFFFFF"/>
                </a:solidFill>
                <a:latin typeface="Open Sauce"/>
                <a:ea typeface="Open Sauce"/>
                <a:cs typeface="Open Sauce"/>
              </a:rPr>
              <a:t>Adversarially crafted perturbations to network traffic features can cause malicious flows to be misclassified as benign at inference time.</a:t>
            </a:r>
          </a:p>
        </p:txBody>
      </p:sp>
      <p:sp>
        <p:nvSpPr>
          <p:cNvPr id="109" name="Pipeline 109"/>
          <p:cNvSpPr/>
          <p:nvPr/>
        </p:nvSpPr>
        <p:spPr>
          <a:xfrm>
            <a:off x="9326880" y="6400800"/>
            <a:ext cx="7955280" cy="1737360"/>
          </a:xfrm>
          <a:prstGeom prst="roundRect">
            <a:avLst>
              <a:gd name="adj" fmla="val 14000"/>
            </a:avLst>
          </a:prstGeom>
          <a:gradFill>
            <a:gsLst>
              <a:gs pos="0">
                <a:schemeClr val="tx2">
                  <a:lumMod val="60000"/>
                  <a:lumOff val="40000"/>
                </a:schemeClr>
              </a:gs>
              <a:gs pos="67000">
                <a:srgbClr val="002060"/>
              </a:gs>
            </a:gsLst>
            <a:lin ang="2700000" scaled="0"/>
          </a:gradFill>
          <a:ln w="19050">
            <a:solidFill>
              <a:srgbClr val="FFFFFF"/>
            </a:solidFill>
          </a:ln>
        </p:spPr>
        <p:txBody>
          <a:bodyPr wrap="square" lIns="320040" tIns="228600" rIns="320040" bIns="182880" rtlCol="0" anchor="t">
            <a:noAutofit/>
          </a:bodyPr>
          <a:lstStyle/>
          <a:p>
            <a:endParaRPr lang="en-US"/>
          </a:p>
        </p:txBody>
      </p:sp>
      <p:sp>
        <p:nvSpPr>
          <p:cNvPr id="110" name="Badge 110"/>
          <p:cNvSpPr/>
          <p:nvPr/>
        </p:nvSpPr>
        <p:spPr>
          <a:xfrm>
            <a:off x="9601200" y="6629400"/>
            <a:ext cx="640080" cy="640080"/>
          </a:xfrm>
          <a:prstGeom prst="ellipse">
            <a:avLst/>
          </a:prstGeom>
          <a:solidFill>
            <a:srgbClr val="FFFFFF"/>
          </a:solidFill>
          <a:ln>
            <a:noFill/>
          </a:ln>
        </p:spPr>
        <p:txBody>
          <a:bodyPr wrap="square" lIns="0" tIns="0" rIns="0" bIns="0" rtlCol="0" anchor="ctr">
            <a:noAutofit/>
          </a:bodyPr>
          <a:lstStyle/>
          <a:p>
            <a:pPr algn="ctr">
              <a:spcAft>
                <a:spcPts val="0"/>
              </a:spcAft>
              <a:buNone/>
            </a:pPr>
            <a:r>
              <a:rPr lang="en-US" sz="2200" b="1" i="0" dirty="0">
                <a:solidFill>
                  <a:srgbClr val="0057FF"/>
                </a:solidFill>
                <a:latin typeface="Open Sauce"/>
                <a:ea typeface="Open Sauce"/>
                <a:cs typeface="Open Sauce"/>
              </a:rPr>
              <a:t>2</a:t>
            </a:r>
          </a:p>
        </p:txBody>
      </p:sp>
      <p:sp>
        <p:nvSpPr>
          <p:cNvPr id="111" name="Text 111"/>
          <p:cNvSpPr txBox="1"/>
          <p:nvPr/>
        </p:nvSpPr>
        <p:spPr>
          <a:xfrm>
            <a:off x="10469880" y="6601968"/>
            <a:ext cx="6583680" cy="548640"/>
          </a:xfrm>
          <a:prstGeom prst="rect">
            <a:avLst/>
          </a:prstGeom>
          <a:noFill/>
          <a:ln>
            <a:noFill/>
          </a:ln>
        </p:spPr>
        <p:txBody>
          <a:bodyPr wrap="square" lIns="0" tIns="0" rIns="0" bIns="0" rtlCol="0" anchor="ctr">
            <a:noAutofit/>
          </a:bodyPr>
          <a:lstStyle/>
          <a:p>
            <a:pPr algn="l">
              <a:spcAft>
                <a:spcPts val="0"/>
              </a:spcAft>
              <a:buNone/>
            </a:pPr>
            <a:r>
              <a:rPr lang="en-US" sz="2400" b="1" i="0" dirty="0">
                <a:solidFill>
                  <a:srgbClr val="FFFFFF"/>
                </a:solidFill>
                <a:latin typeface="Open Sauce"/>
                <a:ea typeface="Open Sauce"/>
                <a:cs typeface="Open Sauce"/>
              </a:rPr>
              <a:t>Deployment pipeline (integrity)</a:t>
            </a:r>
          </a:p>
        </p:txBody>
      </p:sp>
      <p:sp>
        <p:nvSpPr>
          <p:cNvPr id="112" name="Text 112"/>
          <p:cNvSpPr txBox="1"/>
          <p:nvPr/>
        </p:nvSpPr>
        <p:spPr>
          <a:xfrm>
            <a:off x="10469880" y="7178040"/>
            <a:ext cx="6583680" cy="914400"/>
          </a:xfrm>
          <a:prstGeom prst="rect">
            <a:avLst/>
          </a:prstGeom>
          <a:noFill/>
          <a:ln>
            <a:noFill/>
          </a:ln>
        </p:spPr>
        <p:txBody>
          <a:bodyPr wrap="square" lIns="0" tIns="0" rIns="0" bIns="0" rtlCol="0" anchor="t">
            <a:noAutofit/>
          </a:bodyPr>
          <a:lstStyle/>
          <a:p>
            <a:pPr algn="l">
              <a:spcAft>
                <a:spcPts val="0"/>
              </a:spcAft>
              <a:buNone/>
            </a:pPr>
            <a:r>
              <a:rPr lang="en-US" sz="1900" b="0" i="0" dirty="0">
                <a:solidFill>
                  <a:srgbClr val="FFFFFF"/>
                </a:solidFill>
                <a:latin typeface="Open Sauce"/>
                <a:ea typeface="Open Sauce"/>
                <a:cs typeface="Open Sauce"/>
              </a:rPr>
              <a:t>Unauthorized modification or replacement of the model artifact, including via an insecure update mechanism, can compromise detection reliability.</a:t>
            </a:r>
          </a:p>
        </p:txBody>
      </p:sp>
      <p:sp>
        <p:nvSpPr>
          <p:cNvPr id="113" name="Aim 113"/>
          <p:cNvSpPr/>
          <p:nvPr/>
        </p:nvSpPr>
        <p:spPr>
          <a:xfrm>
            <a:off x="1005840" y="8458200"/>
            <a:ext cx="16276320" cy="1325880"/>
          </a:xfrm>
          <a:prstGeom prst="roundRect">
            <a:avLst>
              <a:gd name="adj" fmla="val 22000"/>
            </a:avLst>
          </a:prstGeom>
          <a:solidFill>
            <a:srgbClr val="FFFFFF">
              <a:alpha val="92000"/>
            </a:srgbClr>
          </a:solidFill>
          <a:ln>
            <a:noFill/>
          </a:ln>
        </p:spPr>
        <p:txBody>
          <a:bodyPr wrap="square" lIns="365760" tIns="91440" rIns="365760" bIns="91440" rtlCol="0" anchor="ctr">
            <a:noAutofit/>
          </a:bodyPr>
          <a:lstStyle/>
          <a:p>
            <a:r>
              <a:rPr lang="en-US" sz="2200" b="1" dirty="0">
                <a:solidFill>
                  <a:srgbClr val="0057FF"/>
                </a:solidFill>
                <a:latin typeface="Open Sauce"/>
                <a:ea typeface="Open Sauce"/>
                <a:cs typeface="Open Sauce"/>
              </a:rPr>
              <a:t>Goal : </a:t>
            </a:r>
            <a:r>
              <a:rPr lang="en-US" sz="2200" b="1" i="0" dirty="0">
                <a:solidFill>
                  <a:srgbClr val="0057FF"/>
                </a:solidFill>
                <a:latin typeface="Open Sauce"/>
                <a:ea typeface="Open Sauce"/>
                <a:cs typeface="Open Sauce"/>
              </a:rPr>
              <a:t> </a:t>
            </a:r>
            <a:r>
              <a:rPr lang="en-US" sz="2000" b="1" dirty="0">
                <a:gradFill>
                  <a:gsLst>
                    <a:gs pos="0">
                      <a:srgbClr val="0057FF"/>
                    </a:gs>
                    <a:gs pos="100000">
                      <a:srgbClr val="001C42"/>
                    </a:gs>
                  </a:gsLst>
                  <a:lin ang="2700000"/>
                </a:gradFill>
                <a:latin typeface="Open Sauce"/>
                <a:ea typeface="Open Sauce"/>
                <a:cs typeface="Open Sauce"/>
              </a:rPr>
              <a:t>The objective is not to develop a new intrusion detector, but to investigate practical methods for protecting an existing detector while operating under the resource constraints of tiny edge devices.</a:t>
            </a:r>
          </a:p>
        </p:txBody>
      </p:sp>
      <p:sp>
        <p:nvSpPr>
          <p:cNvPr id="102" name="Title card 102"/>
          <p:cNvSpPr/>
          <p:nvPr/>
        </p:nvSpPr>
        <p:spPr>
          <a:xfrm>
            <a:off x="1005840" y="1847490"/>
            <a:ext cx="16276320" cy="1371600"/>
          </a:xfrm>
          <a:prstGeom prst="roundRect">
            <a:avLst>
              <a:gd name="adj" fmla="val 22000"/>
            </a:avLst>
          </a:prstGeom>
          <a:gradFill>
            <a:gsLst>
              <a:gs pos="0">
                <a:schemeClr val="tx2">
                  <a:lumMod val="60000"/>
                  <a:lumOff val="40000"/>
                </a:schemeClr>
              </a:gs>
              <a:gs pos="10000">
                <a:srgbClr val="001C42">
                  <a:alpha val="100000"/>
                </a:srgbClr>
              </a:gs>
            </a:gsLst>
            <a:lin ang="2700000" scaled="0"/>
          </a:gradFill>
          <a:ln w="19050">
            <a:solidFill>
              <a:srgbClr val="FFFFFF"/>
            </a:solidFill>
          </a:ln>
        </p:spPr>
        <p:txBody>
          <a:bodyPr wrap="square" lIns="320040" tIns="228600" rIns="320040" bIns="182880" rtlCol="0" anchor="ctr">
            <a:noAutofit/>
          </a:bodyPr>
          <a:lstStyle/>
          <a:p>
            <a:pPr algn="l">
              <a:spcAft>
                <a:spcPts val="0"/>
              </a:spcAft>
              <a:buNone/>
            </a:pPr>
            <a:r>
              <a:rPr lang="en-US" sz="2100" b="0" i="0" dirty="0">
                <a:solidFill>
                  <a:srgbClr val="FFFFFF"/>
                </a:solidFill>
                <a:latin typeface="Open Sauce Heavy" panose="020B0604020202020204" charset="0"/>
                <a:ea typeface="Open Sauce"/>
                <a:cs typeface="Open Sauce"/>
              </a:rPr>
              <a:t>Aim : To evaluate the security of a lightweight ML-IDS and to investigate lightweight defenses that mitigate both threat classes while remaining feasible for constrained edge environments.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Freeform 18"/>
          <p:cNvSpPr/>
          <p:nvPr/>
        </p:nvSpPr>
        <p:spPr>
          <a:xfrm rot="4278348" flipH="1">
            <a:off x="9820102" y="-77655"/>
            <a:ext cx="13285086" cy="8203541"/>
          </a:xfrm>
          <a:custGeom>
            <a:avLst/>
            <a:gdLst/>
            <a:ahLst/>
            <a:cxnLst/>
            <a:rect l="l" t="t" r="r" b="b"/>
            <a:pathLst>
              <a:path w="13285086" h="8203541">
                <a:moveTo>
                  <a:pt x="13285087" y="0"/>
                </a:moveTo>
                <a:lnTo>
                  <a:pt x="0" y="0"/>
                </a:lnTo>
                <a:lnTo>
                  <a:pt x="0" y="8203541"/>
                </a:lnTo>
                <a:lnTo>
                  <a:pt x="13285087" y="8203541"/>
                </a:lnTo>
                <a:lnTo>
                  <a:pt x="13285087" y="0"/>
                </a:lnTo>
                <a:close/>
              </a:path>
            </a:pathLst>
          </a:custGeom>
          <a:blipFill>
            <a:blip r:embed="rId2"/>
            <a:stretch>
              <a:fillRect/>
            </a:stretch>
          </a:blipFill>
        </p:spPr>
      </p:sp>
      <p:sp>
        <p:nvSpPr>
          <p:cNvPr id="19" name="Freeform 19"/>
          <p:cNvSpPr/>
          <p:nvPr/>
        </p:nvSpPr>
        <p:spPr>
          <a:xfrm rot="-2429207">
            <a:off x="10047236" y="2855960"/>
            <a:ext cx="12128950" cy="7255317"/>
          </a:xfrm>
          <a:custGeom>
            <a:avLst/>
            <a:gdLst/>
            <a:ahLst/>
            <a:cxnLst/>
            <a:rect l="l" t="t" r="r" b="b"/>
            <a:pathLst>
              <a:path w="12128950" h="7255317">
                <a:moveTo>
                  <a:pt x="0" y="0"/>
                </a:moveTo>
                <a:lnTo>
                  <a:pt x="12128950" y="0"/>
                </a:lnTo>
                <a:lnTo>
                  <a:pt x="12128950" y="7255318"/>
                </a:lnTo>
                <a:lnTo>
                  <a:pt x="0" y="7255318"/>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20" name="Freeform 20"/>
          <p:cNvSpPr/>
          <p:nvPr/>
        </p:nvSpPr>
        <p:spPr>
          <a:xfrm>
            <a:off x="16343296" y="177703"/>
            <a:ext cx="1832007" cy="850997"/>
          </a:xfrm>
          <a:custGeom>
            <a:avLst/>
            <a:gdLst/>
            <a:ahLst/>
            <a:cxnLst/>
            <a:rect l="l" t="t" r="r" b="b"/>
            <a:pathLst>
              <a:path w="1832007" h="850997">
                <a:moveTo>
                  <a:pt x="0" y="0"/>
                </a:moveTo>
                <a:lnTo>
                  <a:pt x="1832008" y="0"/>
                </a:lnTo>
                <a:lnTo>
                  <a:pt x="1832008" y="850997"/>
                </a:lnTo>
                <a:lnTo>
                  <a:pt x="0" y="850997"/>
                </a:lnTo>
                <a:lnTo>
                  <a:pt x="0" y="0"/>
                </a:lnTo>
                <a:close/>
              </a:path>
            </a:pathLst>
          </a:custGeom>
          <a:blipFill>
            <a:blip r:embed="rId4"/>
            <a:stretch>
              <a:fillRect/>
            </a:stretch>
          </a:blipFill>
        </p:spPr>
      </p:sp>
      <p:sp>
        <p:nvSpPr>
          <p:cNvPr id="134" name="Title 134"/>
          <p:cNvSpPr txBox="1"/>
          <p:nvPr/>
        </p:nvSpPr>
        <p:spPr>
          <a:xfrm>
            <a:off x="1005840" y="365760"/>
            <a:ext cx="14538960" cy="1280160"/>
          </a:xfrm>
          <a:prstGeom prst="rect">
            <a:avLst/>
          </a:prstGeom>
          <a:noFill/>
          <a:ln>
            <a:noFill/>
          </a:ln>
        </p:spPr>
        <p:txBody>
          <a:bodyPr wrap="square" lIns="0" tIns="0" rIns="0" bIns="0" rtlCol="0" anchor="ctr">
            <a:noAutofit/>
          </a:bodyPr>
          <a:lstStyle/>
          <a:p>
            <a:pPr algn="l">
              <a:spcAft>
                <a:spcPts val="0"/>
              </a:spcAft>
              <a:buNone/>
            </a:pPr>
            <a:r>
              <a:rPr lang="en-US" sz="5600" b="0" i="0" dirty="0">
                <a:gradFill>
                  <a:gsLst>
                    <a:gs pos="0">
                      <a:srgbClr val="0057FF"/>
                    </a:gs>
                    <a:gs pos="100000">
                      <a:srgbClr val="001C42"/>
                    </a:gs>
                  </a:gsLst>
                  <a:lin ang="2700000"/>
                </a:gradFill>
                <a:latin typeface="Intro"/>
                <a:ea typeface="Intro"/>
                <a:cs typeface="Intro"/>
              </a:rPr>
              <a:t>Scope</a:t>
            </a:r>
          </a:p>
        </p:txBody>
      </p:sp>
      <p:sp>
        <p:nvSpPr>
          <p:cNvPr id="135" name="Text 135"/>
          <p:cNvSpPr txBox="1"/>
          <p:nvPr/>
        </p:nvSpPr>
        <p:spPr>
          <a:xfrm>
            <a:off x="1005840" y="1783080"/>
            <a:ext cx="9052560" cy="548640"/>
          </a:xfrm>
          <a:prstGeom prst="rect">
            <a:avLst/>
          </a:prstGeom>
          <a:noFill/>
          <a:ln>
            <a:noFill/>
          </a:ln>
        </p:spPr>
        <p:txBody>
          <a:bodyPr wrap="square" lIns="0" tIns="0" rIns="0" bIns="0" rtlCol="0" anchor="t">
            <a:noAutofit/>
          </a:bodyPr>
          <a:lstStyle/>
          <a:p>
            <a:pPr algn="l">
              <a:spcAft>
                <a:spcPts val="0"/>
              </a:spcAft>
              <a:buNone/>
            </a:pPr>
            <a:r>
              <a:rPr lang="en-US" sz="2800" b="1" i="0" dirty="0">
                <a:gradFill>
                  <a:gsLst>
                    <a:gs pos="0">
                      <a:srgbClr val="0057FF"/>
                    </a:gs>
                    <a:gs pos="100000">
                      <a:srgbClr val="001C42"/>
                    </a:gs>
                  </a:gsLst>
                  <a:lin ang="2700000"/>
                </a:gradFill>
                <a:latin typeface="Open Sauce"/>
                <a:ea typeface="Open Sauce"/>
                <a:cs typeface="Open Sauce"/>
              </a:rPr>
              <a:t>Overview of scope</a:t>
            </a:r>
          </a:p>
        </p:txBody>
      </p:sp>
      <p:sp>
        <p:nvSpPr>
          <p:cNvPr id="136" name="Scope item 136"/>
          <p:cNvSpPr/>
          <p:nvPr/>
        </p:nvSpPr>
        <p:spPr>
          <a:xfrm>
            <a:off x="1005840" y="2468880"/>
            <a:ext cx="9052560" cy="1280160"/>
          </a:xfrm>
          <a:prstGeom prst="roundRect">
            <a:avLst>
              <a:gd name="adj" fmla="val 18000"/>
            </a:avLst>
          </a:prstGeom>
          <a:solidFill>
            <a:srgbClr val="FFFFFF">
              <a:alpha val="74000"/>
            </a:srgbClr>
          </a:solidFill>
          <a:ln w="19050">
            <a:gradFill>
              <a:gsLst>
                <a:gs pos="0">
                  <a:srgbClr val="0057FF"/>
                </a:gs>
                <a:gs pos="100000">
                  <a:srgbClr val="001C42"/>
                </a:gs>
              </a:gsLst>
              <a:lin ang="2700000"/>
            </a:gradFill>
          </a:ln>
        </p:spPr>
        <p:txBody>
          <a:bodyPr wrap="square" lIns="320040" tIns="228600" rIns="320040" bIns="182880" rtlCol="0" anchor="t">
            <a:noAutofit/>
          </a:bodyPr>
          <a:lstStyle/>
          <a:p>
            <a:endParaRPr lang="en-US"/>
          </a:p>
        </p:txBody>
      </p:sp>
      <p:sp>
        <p:nvSpPr>
          <p:cNvPr id="137" name="Badge 137"/>
          <p:cNvSpPr/>
          <p:nvPr/>
        </p:nvSpPr>
        <p:spPr>
          <a:xfrm>
            <a:off x="1234440" y="2743200"/>
            <a:ext cx="731520" cy="731520"/>
          </a:xfrm>
          <a:prstGeom prst="ellipse">
            <a:avLst/>
          </a:prstGeom>
          <a:solidFill>
            <a:srgbClr val="0057FF"/>
          </a:solidFill>
          <a:ln>
            <a:noFill/>
          </a:ln>
        </p:spPr>
        <p:txBody>
          <a:bodyPr wrap="square" lIns="0" tIns="0" rIns="0" bIns="0" rtlCol="0" anchor="ctr">
            <a:noAutofit/>
          </a:bodyPr>
          <a:lstStyle/>
          <a:p>
            <a:pPr algn="ctr">
              <a:spcAft>
                <a:spcPts val="0"/>
              </a:spcAft>
              <a:buNone/>
            </a:pPr>
            <a:r>
              <a:rPr lang="en-US" sz="2200" b="1" i="0" dirty="0">
                <a:solidFill>
                  <a:srgbClr val="FFFFFF"/>
                </a:solidFill>
                <a:latin typeface="Open Sauce"/>
                <a:ea typeface="Open Sauce"/>
                <a:cs typeface="Open Sauce"/>
              </a:rPr>
              <a:t>1</a:t>
            </a:r>
          </a:p>
        </p:txBody>
      </p:sp>
      <p:sp>
        <p:nvSpPr>
          <p:cNvPr id="138" name="Text 138"/>
          <p:cNvSpPr txBox="1"/>
          <p:nvPr/>
        </p:nvSpPr>
        <p:spPr>
          <a:xfrm>
            <a:off x="2194560" y="2560320"/>
            <a:ext cx="7635240" cy="1097280"/>
          </a:xfrm>
          <a:prstGeom prst="rect">
            <a:avLst/>
          </a:prstGeom>
          <a:noFill/>
          <a:ln>
            <a:noFill/>
          </a:ln>
        </p:spPr>
        <p:txBody>
          <a:bodyPr wrap="square" lIns="0" tIns="0" rIns="0" bIns="0" rtlCol="0" anchor="ctr">
            <a:noAutofit/>
          </a:bodyPr>
          <a:lstStyle/>
          <a:p>
            <a:pPr algn="l">
              <a:spcAft>
                <a:spcPts val="0"/>
              </a:spcAft>
              <a:buNone/>
            </a:pPr>
            <a:r>
              <a:rPr lang="en-US" sz="2100" b="1" i="0" dirty="0">
                <a:solidFill>
                  <a:srgbClr val="0057FF"/>
                </a:solidFill>
                <a:latin typeface="Open Sauce"/>
                <a:ea typeface="Open Sauce"/>
                <a:cs typeface="Open Sauce"/>
              </a:rPr>
              <a:t>Baseline: </a:t>
            </a:r>
            <a:r>
              <a:rPr lang="en-US" sz="2100" b="0" i="0" dirty="0">
                <a:solidFill>
                  <a:srgbClr val="001C42"/>
                </a:solidFill>
                <a:latin typeface="Open Sauce"/>
                <a:ea typeface="Open Sauce"/>
                <a:cs typeface="Open Sauce"/>
              </a:rPr>
              <a:t>a compact classifier trained on a public IoT network dataset</a:t>
            </a:r>
          </a:p>
        </p:txBody>
      </p:sp>
      <p:sp>
        <p:nvSpPr>
          <p:cNvPr id="139" name="Scope item 139"/>
          <p:cNvSpPr/>
          <p:nvPr/>
        </p:nvSpPr>
        <p:spPr>
          <a:xfrm>
            <a:off x="1005840" y="3886200"/>
            <a:ext cx="9052560" cy="1280160"/>
          </a:xfrm>
          <a:prstGeom prst="roundRect">
            <a:avLst>
              <a:gd name="adj" fmla="val 18000"/>
            </a:avLst>
          </a:prstGeom>
          <a:solidFill>
            <a:srgbClr val="FFFFFF">
              <a:alpha val="74000"/>
            </a:srgbClr>
          </a:solidFill>
          <a:ln w="19050">
            <a:gradFill>
              <a:gsLst>
                <a:gs pos="0">
                  <a:srgbClr val="0057FF"/>
                </a:gs>
                <a:gs pos="100000">
                  <a:srgbClr val="001C42"/>
                </a:gs>
              </a:gsLst>
              <a:lin ang="2700000"/>
            </a:gradFill>
          </a:ln>
        </p:spPr>
        <p:txBody>
          <a:bodyPr wrap="square" lIns="320040" tIns="228600" rIns="320040" bIns="182880" rtlCol="0" anchor="t">
            <a:noAutofit/>
          </a:bodyPr>
          <a:lstStyle/>
          <a:p>
            <a:endParaRPr lang="en-US"/>
          </a:p>
        </p:txBody>
      </p:sp>
      <p:sp>
        <p:nvSpPr>
          <p:cNvPr id="140" name="Badge 140"/>
          <p:cNvSpPr/>
          <p:nvPr/>
        </p:nvSpPr>
        <p:spPr>
          <a:xfrm>
            <a:off x="1234440" y="4160520"/>
            <a:ext cx="731520" cy="731520"/>
          </a:xfrm>
          <a:prstGeom prst="ellipse">
            <a:avLst/>
          </a:prstGeom>
          <a:solidFill>
            <a:srgbClr val="0057FF"/>
          </a:solidFill>
          <a:ln>
            <a:noFill/>
          </a:ln>
        </p:spPr>
        <p:txBody>
          <a:bodyPr wrap="square" lIns="0" tIns="0" rIns="0" bIns="0" rtlCol="0" anchor="ctr">
            <a:noAutofit/>
          </a:bodyPr>
          <a:lstStyle/>
          <a:p>
            <a:pPr algn="ctr">
              <a:spcAft>
                <a:spcPts val="0"/>
              </a:spcAft>
              <a:buNone/>
            </a:pPr>
            <a:r>
              <a:rPr lang="en-US" sz="2200" b="1" i="0" dirty="0">
                <a:solidFill>
                  <a:srgbClr val="FFFFFF"/>
                </a:solidFill>
                <a:latin typeface="Open Sauce"/>
                <a:ea typeface="Open Sauce"/>
                <a:cs typeface="Open Sauce"/>
              </a:rPr>
              <a:t>2</a:t>
            </a:r>
          </a:p>
        </p:txBody>
      </p:sp>
      <p:sp>
        <p:nvSpPr>
          <p:cNvPr id="141" name="Text 141"/>
          <p:cNvSpPr txBox="1"/>
          <p:nvPr/>
        </p:nvSpPr>
        <p:spPr>
          <a:xfrm>
            <a:off x="2194560" y="3977640"/>
            <a:ext cx="7635240" cy="1097280"/>
          </a:xfrm>
          <a:prstGeom prst="rect">
            <a:avLst/>
          </a:prstGeom>
          <a:noFill/>
          <a:ln>
            <a:noFill/>
          </a:ln>
        </p:spPr>
        <p:txBody>
          <a:bodyPr wrap="square" lIns="0" tIns="0" rIns="0" bIns="0" rtlCol="0" anchor="ctr">
            <a:noAutofit/>
          </a:bodyPr>
          <a:lstStyle/>
          <a:p>
            <a:pPr algn="l">
              <a:spcAft>
                <a:spcPts val="0"/>
              </a:spcAft>
              <a:buNone/>
            </a:pPr>
            <a:r>
              <a:rPr lang="en-US" sz="2100" b="1" i="0" dirty="0">
                <a:solidFill>
                  <a:srgbClr val="0057FF"/>
                </a:solidFill>
                <a:latin typeface="Open Sauce"/>
                <a:ea typeface="Open Sauce"/>
                <a:cs typeface="Open Sauce"/>
              </a:rPr>
              <a:t>Threat tests: </a:t>
            </a:r>
            <a:r>
              <a:rPr lang="en-US" sz="2100" b="0" i="0" dirty="0">
                <a:solidFill>
                  <a:srgbClr val="001C42"/>
                </a:solidFill>
                <a:latin typeface="Open Sauce"/>
                <a:ea typeface="Open Sauce"/>
                <a:cs typeface="Open Sauce"/>
              </a:rPr>
              <a:t>adversarial input manipulation and model tampering, including the update path</a:t>
            </a:r>
          </a:p>
        </p:txBody>
      </p:sp>
      <p:sp>
        <p:nvSpPr>
          <p:cNvPr id="142" name="Scope item 142"/>
          <p:cNvSpPr/>
          <p:nvPr/>
        </p:nvSpPr>
        <p:spPr>
          <a:xfrm>
            <a:off x="1005840" y="5303520"/>
            <a:ext cx="9052560" cy="1280160"/>
          </a:xfrm>
          <a:prstGeom prst="roundRect">
            <a:avLst>
              <a:gd name="adj" fmla="val 18000"/>
            </a:avLst>
          </a:prstGeom>
          <a:solidFill>
            <a:srgbClr val="FFFFFF">
              <a:alpha val="74000"/>
            </a:srgbClr>
          </a:solidFill>
          <a:ln w="19050">
            <a:gradFill>
              <a:gsLst>
                <a:gs pos="0">
                  <a:srgbClr val="0057FF"/>
                </a:gs>
                <a:gs pos="100000">
                  <a:srgbClr val="001C42"/>
                </a:gs>
              </a:gsLst>
              <a:lin ang="2700000"/>
            </a:gradFill>
          </a:ln>
        </p:spPr>
        <p:txBody>
          <a:bodyPr wrap="square" lIns="320040" tIns="228600" rIns="320040" bIns="182880" rtlCol="0" anchor="t">
            <a:noAutofit/>
          </a:bodyPr>
          <a:lstStyle/>
          <a:p>
            <a:endParaRPr lang="en-US"/>
          </a:p>
        </p:txBody>
      </p:sp>
      <p:sp>
        <p:nvSpPr>
          <p:cNvPr id="143" name="Badge 143"/>
          <p:cNvSpPr/>
          <p:nvPr/>
        </p:nvSpPr>
        <p:spPr>
          <a:xfrm>
            <a:off x="1234440" y="5577840"/>
            <a:ext cx="731520" cy="731520"/>
          </a:xfrm>
          <a:prstGeom prst="ellipse">
            <a:avLst/>
          </a:prstGeom>
          <a:solidFill>
            <a:srgbClr val="0057FF"/>
          </a:solidFill>
          <a:ln>
            <a:noFill/>
          </a:ln>
        </p:spPr>
        <p:txBody>
          <a:bodyPr wrap="square" lIns="0" tIns="0" rIns="0" bIns="0" rtlCol="0" anchor="ctr">
            <a:noAutofit/>
          </a:bodyPr>
          <a:lstStyle/>
          <a:p>
            <a:pPr algn="ctr">
              <a:spcAft>
                <a:spcPts val="0"/>
              </a:spcAft>
              <a:buNone/>
            </a:pPr>
            <a:r>
              <a:rPr lang="en-US" sz="2200" b="1" i="0" dirty="0">
                <a:solidFill>
                  <a:srgbClr val="FFFFFF"/>
                </a:solidFill>
                <a:latin typeface="Open Sauce"/>
                <a:ea typeface="Open Sauce"/>
                <a:cs typeface="Open Sauce"/>
              </a:rPr>
              <a:t>3</a:t>
            </a:r>
          </a:p>
        </p:txBody>
      </p:sp>
      <p:sp>
        <p:nvSpPr>
          <p:cNvPr id="144" name="Text 144"/>
          <p:cNvSpPr txBox="1"/>
          <p:nvPr/>
        </p:nvSpPr>
        <p:spPr>
          <a:xfrm>
            <a:off x="2194560" y="5394960"/>
            <a:ext cx="7635240" cy="1097280"/>
          </a:xfrm>
          <a:prstGeom prst="rect">
            <a:avLst/>
          </a:prstGeom>
          <a:noFill/>
          <a:ln>
            <a:noFill/>
          </a:ln>
        </p:spPr>
        <p:txBody>
          <a:bodyPr wrap="square" lIns="0" tIns="0" rIns="0" bIns="0" rtlCol="0" anchor="ctr">
            <a:noAutofit/>
          </a:bodyPr>
          <a:lstStyle/>
          <a:p>
            <a:pPr algn="l">
              <a:spcAft>
                <a:spcPts val="0"/>
              </a:spcAft>
              <a:buNone/>
            </a:pPr>
            <a:r>
              <a:rPr lang="en-US" sz="2100" b="1" i="0" dirty="0">
                <a:solidFill>
                  <a:srgbClr val="0057FF"/>
                </a:solidFill>
                <a:latin typeface="Open Sauce"/>
                <a:ea typeface="Open Sauce"/>
                <a:cs typeface="Open Sauce"/>
              </a:rPr>
              <a:t>Defenses: </a:t>
            </a:r>
            <a:r>
              <a:rPr lang="en-US" sz="2100" b="0" i="0" dirty="0">
                <a:solidFill>
                  <a:srgbClr val="001C42"/>
                </a:solidFill>
                <a:latin typeface="Open Sauce"/>
                <a:ea typeface="Open Sauce"/>
                <a:cs typeface="Open Sauce"/>
              </a:rPr>
              <a:t>lightweight protections against both threats</a:t>
            </a:r>
          </a:p>
        </p:txBody>
      </p:sp>
      <p:sp>
        <p:nvSpPr>
          <p:cNvPr id="145" name="Scope item 145"/>
          <p:cNvSpPr/>
          <p:nvPr/>
        </p:nvSpPr>
        <p:spPr>
          <a:xfrm>
            <a:off x="1005840" y="6720840"/>
            <a:ext cx="9052560" cy="1280160"/>
          </a:xfrm>
          <a:prstGeom prst="roundRect">
            <a:avLst>
              <a:gd name="adj" fmla="val 18000"/>
            </a:avLst>
          </a:prstGeom>
          <a:solidFill>
            <a:srgbClr val="FFFFFF">
              <a:alpha val="74000"/>
            </a:srgbClr>
          </a:solidFill>
          <a:ln w="19050">
            <a:gradFill>
              <a:gsLst>
                <a:gs pos="0">
                  <a:srgbClr val="0057FF"/>
                </a:gs>
                <a:gs pos="100000">
                  <a:srgbClr val="001C42"/>
                </a:gs>
              </a:gsLst>
              <a:lin ang="2700000"/>
            </a:gradFill>
          </a:ln>
        </p:spPr>
        <p:txBody>
          <a:bodyPr wrap="square" lIns="320040" tIns="228600" rIns="320040" bIns="182880" rtlCol="0" anchor="t">
            <a:noAutofit/>
          </a:bodyPr>
          <a:lstStyle/>
          <a:p>
            <a:endParaRPr lang="en-US"/>
          </a:p>
        </p:txBody>
      </p:sp>
      <p:sp>
        <p:nvSpPr>
          <p:cNvPr id="146" name="Badge 146"/>
          <p:cNvSpPr/>
          <p:nvPr/>
        </p:nvSpPr>
        <p:spPr>
          <a:xfrm>
            <a:off x="1234440" y="6995160"/>
            <a:ext cx="731520" cy="731520"/>
          </a:xfrm>
          <a:prstGeom prst="ellipse">
            <a:avLst/>
          </a:prstGeom>
          <a:solidFill>
            <a:srgbClr val="0057FF"/>
          </a:solidFill>
          <a:ln>
            <a:noFill/>
          </a:ln>
        </p:spPr>
        <p:txBody>
          <a:bodyPr wrap="square" lIns="0" tIns="0" rIns="0" bIns="0" rtlCol="0" anchor="ctr">
            <a:noAutofit/>
          </a:bodyPr>
          <a:lstStyle/>
          <a:p>
            <a:pPr algn="ctr">
              <a:spcAft>
                <a:spcPts val="0"/>
              </a:spcAft>
              <a:buNone/>
            </a:pPr>
            <a:r>
              <a:rPr lang="en-US" sz="2200" b="1" i="0" dirty="0">
                <a:solidFill>
                  <a:srgbClr val="FFFFFF"/>
                </a:solidFill>
                <a:latin typeface="Open Sauce"/>
                <a:ea typeface="Open Sauce"/>
                <a:cs typeface="Open Sauce"/>
              </a:rPr>
              <a:t>4</a:t>
            </a:r>
          </a:p>
        </p:txBody>
      </p:sp>
      <p:sp>
        <p:nvSpPr>
          <p:cNvPr id="147" name="Text 147"/>
          <p:cNvSpPr txBox="1"/>
          <p:nvPr/>
        </p:nvSpPr>
        <p:spPr>
          <a:xfrm>
            <a:off x="2194560" y="6812280"/>
            <a:ext cx="7635240" cy="1097280"/>
          </a:xfrm>
          <a:prstGeom prst="rect">
            <a:avLst/>
          </a:prstGeom>
          <a:noFill/>
          <a:ln>
            <a:noFill/>
          </a:ln>
        </p:spPr>
        <p:txBody>
          <a:bodyPr wrap="square" lIns="0" tIns="0" rIns="0" bIns="0" rtlCol="0" anchor="ctr">
            <a:noAutofit/>
          </a:bodyPr>
          <a:lstStyle/>
          <a:p>
            <a:pPr algn="l">
              <a:spcAft>
                <a:spcPts val="0"/>
              </a:spcAft>
              <a:buNone/>
            </a:pPr>
            <a:r>
              <a:rPr lang="en-US" sz="2100" b="1" i="0" dirty="0">
                <a:solidFill>
                  <a:srgbClr val="0057FF"/>
                </a:solidFill>
                <a:latin typeface="Open Sauce"/>
                <a:ea typeface="Open Sauce"/>
                <a:cs typeface="Open Sauce"/>
              </a:rPr>
              <a:t>Evaluation: </a:t>
            </a:r>
            <a:r>
              <a:rPr lang="en-US" sz="2100" b="0" i="0" dirty="0">
                <a:solidFill>
                  <a:srgbClr val="001C42"/>
                </a:solidFill>
                <a:latin typeface="Open Sauce"/>
                <a:ea typeface="Open Sauce"/>
                <a:cs typeface="Open Sauce"/>
              </a:rPr>
              <a:t>detection performance, security robustness, and resource overhead, compared with the unprotected baseline</a:t>
            </a:r>
          </a:p>
        </p:txBody>
      </p:sp>
      <p:sp>
        <p:nvSpPr>
          <p:cNvPr id="148" name="Out of scope 148"/>
          <p:cNvSpPr/>
          <p:nvPr/>
        </p:nvSpPr>
        <p:spPr>
          <a:xfrm>
            <a:off x="1005840" y="8183880"/>
            <a:ext cx="9052560" cy="1005840"/>
          </a:xfrm>
          <a:prstGeom prst="roundRect">
            <a:avLst>
              <a:gd name="adj" fmla="val 30000"/>
            </a:avLst>
          </a:prstGeom>
          <a:solidFill>
            <a:srgbClr val="0057FF"/>
          </a:solidFill>
          <a:ln>
            <a:noFill/>
          </a:ln>
        </p:spPr>
        <p:txBody>
          <a:bodyPr wrap="square" lIns="365760" tIns="91440" rIns="365760" bIns="91440" rtlCol="0" anchor="ctr">
            <a:noAutofit/>
          </a:bodyPr>
          <a:lstStyle/>
          <a:p>
            <a:pPr algn="l">
              <a:spcAft>
                <a:spcPts val="0"/>
              </a:spcAft>
              <a:buNone/>
            </a:pPr>
            <a:r>
              <a:rPr lang="en-US" sz="2000" b="0" i="1" dirty="0">
                <a:solidFill>
                  <a:srgbClr val="FFFFFF"/>
                </a:solidFill>
                <a:latin typeface="Open Sauce"/>
                <a:ea typeface="Open Sauce"/>
                <a:cs typeface="Open Sauce"/>
              </a:rPr>
              <a:t>Out of scope: a new detection algorithm, concept drift, and adaptive retraining</a:t>
            </a:r>
          </a:p>
        </p:txBody>
      </p:sp>
      <p:sp>
        <p:nvSpPr>
          <p:cNvPr id="149" name="Challenges 149"/>
          <p:cNvSpPr/>
          <p:nvPr/>
        </p:nvSpPr>
        <p:spPr>
          <a:xfrm>
            <a:off x="10332720" y="1783080"/>
            <a:ext cx="6949440" cy="7406640"/>
          </a:xfrm>
          <a:prstGeom prst="roundRect">
            <a:avLst>
              <a:gd name="adj" fmla="val 6000"/>
            </a:avLst>
          </a:prstGeom>
          <a:solidFill>
            <a:srgbClr val="FFFFFF">
              <a:alpha val="74000"/>
            </a:srgbClr>
          </a:solidFill>
          <a:ln w="19050">
            <a:gradFill>
              <a:gsLst>
                <a:gs pos="0">
                  <a:srgbClr val="0057FF"/>
                </a:gs>
                <a:gs pos="100000">
                  <a:srgbClr val="001C42"/>
                </a:gs>
              </a:gsLst>
              <a:lin ang="2700000"/>
            </a:gradFill>
          </a:ln>
        </p:spPr>
        <p:txBody>
          <a:bodyPr wrap="square" lIns="411480" tIns="365760" rIns="365760" bIns="274320" rtlCol="0" anchor="t">
            <a:noAutofit/>
          </a:bodyPr>
          <a:lstStyle/>
          <a:p>
            <a:pPr algn="l">
              <a:spcAft>
                <a:spcPts val="1400"/>
              </a:spcAft>
              <a:buNone/>
            </a:pPr>
            <a:r>
              <a:rPr lang="en-US" sz="2600" b="1" i="0" dirty="0">
                <a:gradFill>
                  <a:gsLst>
                    <a:gs pos="0">
                      <a:srgbClr val="0057FF"/>
                    </a:gs>
                    <a:gs pos="100000">
                      <a:srgbClr val="001C42"/>
                    </a:gs>
                  </a:gsLst>
                  <a:lin ang="2700000"/>
                </a:gradFill>
                <a:latin typeface="Open Sauce"/>
                <a:ea typeface="Open Sauce"/>
                <a:cs typeface="Open Sauce"/>
              </a:rPr>
              <a:t>Possible shortcomings and challenges</a:t>
            </a:r>
          </a:p>
          <a:p>
            <a:pPr marL="342900" indent="-342900" algn="l">
              <a:spcAft>
                <a:spcPts val="1400"/>
              </a:spcAft>
              <a:buFont typeface="Arial"/>
              <a:buChar char="•"/>
            </a:pPr>
            <a:r>
              <a:rPr lang="en-US" sz="2200" b="0" i="0" dirty="0">
                <a:solidFill>
                  <a:srgbClr val="001C42"/>
                </a:solidFill>
                <a:latin typeface="Open Sauce"/>
                <a:ea typeface="Open Sauce"/>
                <a:cs typeface="Open Sauce"/>
              </a:rPr>
              <a:t>Device limits cap model size and defense weight.</a:t>
            </a:r>
          </a:p>
          <a:p>
            <a:pPr marL="342900" indent="-342900" algn="l">
              <a:spcAft>
                <a:spcPts val="1400"/>
              </a:spcAft>
              <a:buFont typeface="Arial"/>
              <a:buChar char="•"/>
            </a:pPr>
            <a:r>
              <a:rPr lang="en-US" sz="2200" b="0" i="0" dirty="0">
                <a:solidFill>
                  <a:srgbClr val="001C42"/>
                </a:solidFill>
                <a:latin typeface="Open Sauce"/>
                <a:ea typeface="Open Sauce"/>
                <a:cs typeface="Open Sauce"/>
              </a:rPr>
              <a:t>Shrinking the model to fit the device changes its response to attacks.</a:t>
            </a:r>
          </a:p>
          <a:p>
            <a:pPr marL="342900" indent="-342900" algn="l">
              <a:spcAft>
                <a:spcPts val="1400"/>
              </a:spcAft>
              <a:buFont typeface="Arial"/>
              <a:buChar char="•"/>
            </a:pPr>
            <a:r>
              <a:rPr lang="en-US" sz="2200" b="0" i="0" dirty="0">
                <a:solidFill>
                  <a:srgbClr val="001C42"/>
                </a:solidFill>
                <a:latin typeface="Open Sauce"/>
                <a:ea typeface="Open Sauce"/>
                <a:cs typeface="Open Sauce"/>
              </a:rPr>
              <a:t>Adversarial traffic must remain valid attack traffic.</a:t>
            </a:r>
          </a:p>
          <a:p>
            <a:pPr marL="342900" indent="-342900" algn="l">
              <a:spcAft>
                <a:spcPts val="1400"/>
              </a:spcAft>
              <a:buFont typeface="Arial"/>
              <a:buChar char="•"/>
            </a:pPr>
            <a:r>
              <a:rPr lang="en-US" sz="2200" b="0" i="0" dirty="0">
                <a:solidFill>
                  <a:srgbClr val="001C42"/>
                </a:solidFill>
                <a:latin typeface="Open Sauce"/>
                <a:ea typeface="Open Sauce"/>
                <a:cs typeface="Open Sauce"/>
              </a:rPr>
              <a:t>Overhead results vary between runs.</a:t>
            </a:r>
          </a:p>
          <a:p>
            <a:pPr marL="342900" indent="-342900" algn="l">
              <a:spcAft>
                <a:spcPts val="1400"/>
              </a:spcAft>
              <a:buFont typeface="Arial"/>
              <a:buChar char="•"/>
            </a:pPr>
            <a:r>
              <a:rPr lang="en-US" sz="2200" b="0" i="0" dirty="0">
                <a:solidFill>
                  <a:srgbClr val="001C42"/>
                </a:solidFill>
                <a:latin typeface="Open Sauce"/>
                <a:ea typeface="Open Sauce"/>
                <a:cs typeface="Open Sauce"/>
              </a:rPr>
              <a:t>Hardware delays.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gs>
            <a:gs pos="100000">
              <a:schemeClr val="bg1">
                <a:lumMod val="75000"/>
              </a:scheme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rot="2346973" flipH="1">
            <a:off x="-6172732" y="580649"/>
            <a:ext cx="12920274" cy="7728673"/>
          </a:xfrm>
          <a:custGeom>
            <a:avLst/>
            <a:gdLst/>
            <a:ahLst/>
            <a:cxnLst/>
            <a:rect l="l" t="t" r="r" b="b"/>
            <a:pathLst>
              <a:path w="12920274" h="7728673">
                <a:moveTo>
                  <a:pt x="12920274" y="0"/>
                </a:moveTo>
                <a:lnTo>
                  <a:pt x="0" y="0"/>
                </a:lnTo>
                <a:lnTo>
                  <a:pt x="0" y="7728673"/>
                </a:lnTo>
                <a:lnTo>
                  <a:pt x="12920274" y="7728673"/>
                </a:lnTo>
                <a:lnTo>
                  <a:pt x="12920274"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dirty="0"/>
          </a:p>
        </p:txBody>
      </p:sp>
      <p:sp>
        <p:nvSpPr>
          <p:cNvPr id="7" name="Freeform 7"/>
          <p:cNvSpPr/>
          <p:nvPr/>
        </p:nvSpPr>
        <p:spPr>
          <a:xfrm rot="-5952431">
            <a:off x="10724792" y="-6092583"/>
            <a:ext cx="11940692" cy="7373377"/>
          </a:xfrm>
          <a:custGeom>
            <a:avLst/>
            <a:gdLst/>
            <a:ahLst/>
            <a:cxnLst/>
            <a:rect l="l" t="t" r="r" b="b"/>
            <a:pathLst>
              <a:path w="11940692" h="7373377">
                <a:moveTo>
                  <a:pt x="0" y="0"/>
                </a:moveTo>
                <a:lnTo>
                  <a:pt x="11940692" y="0"/>
                </a:lnTo>
                <a:lnTo>
                  <a:pt x="11940692" y="7373377"/>
                </a:lnTo>
                <a:lnTo>
                  <a:pt x="0" y="7373377"/>
                </a:lnTo>
                <a:lnTo>
                  <a:pt x="0" y="0"/>
                </a:lnTo>
                <a:close/>
              </a:path>
            </a:pathLst>
          </a:custGeom>
          <a:blipFill>
            <a:blip r:embed="rId3"/>
            <a:stretch>
              <a:fillRect/>
            </a:stretch>
          </a:blipFill>
        </p:spPr>
      </p:sp>
      <p:sp>
        <p:nvSpPr>
          <p:cNvPr id="8" name="Freeform 8"/>
          <p:cNvSpPr/>
          <p:nvPr/>
        </p:nvSpPr>
        <p:spPr>
          <a:xfrm>
            <a:off x="16343296" y="177703"/>
            <a:ext cx="1832007" cy="850997"/>
          </a:xfrm>
          <a:custGeom>
            <a:avLst/>
            <a:gdLst/>
            <a:ahLst/>
            <a:cxnLst/>
            <a:rect l="l" t="t" r="r" b="b"/>
            <a:pathLst>
              <a:path w="1832007" h="850997">
                <a:moveTo>
                  <a:pt x="0" y="0"/>
                </a:moveTo>
                <a:lnTo>
                  <a:pt x="1832008" y="0"/>
                </a:lnTo>
                <a:lnTo>
                  <a:pt x="1832008" y="850997"/>
                </a:lnTo>
                <a:lnTo>
                  <a:pt x="0" y="850997"/>
                </a:lnTo>
                <a:lnTo>
                  <a:pt x="0" y="0"/>
                </a:lnTo>
                <a:close/>
              </a:path>
            </a:pathLst>
          </a:custGeom>
          <a:blipFill>
            <a:blip r:embed="rId4"/>
            <a:stretch>
              <a:fillRect/>
            </a:stretch>
          </a:blipFill>
        </p:spPr>
      </p:sp>
      <p:sp>
        <p:nvSpPr>
          <p:cNvPr id="150" name="Title 150"/>
          <p:cNvSpPr txBox="1"/>
          <p:nvPr/>
        </p:nvSpPr>
        <p:spPr>
          <a:xfrm>
            <a:off x="1005840" y="365760"/>
            <a:ext cx="14538960" cy="1280160"/>
          </a:xfrm>
          <a:prstGeom prst="rect">
            <a:avLst/>
          </a:prstGeom>
          <a:noFill/>
          <a:ln>
            <a:noFill/>
          </a:ln>
        </p:spPr>
        <p:txBody>
          <a:bodyPr wrap="square" lIns="0" tIns="0" rIns="0" bIns="0" rtlCol="0" anchor="ctr">
            <a:noAutofit/>
          </a:bodyPr>
          <a:lstStyle/>
          <a:p>
            <a:pPr algn="l">
              <a:spcAft>
                <a:spcPts val="0"/>
              </a:spcAft>
              <a:buNone/>
            </a:pPr>
            <a:r>
              <a:rPr lang="en-US" sz="5600" b="0" i="0" dirty="0">
                <a:gradFill>
                  <a:gsLst>
                    <a:gs pos="0">
                      <a:srgbClr val="0057FF"/>
                    </a:gs>
                    <a:gs pos="100000">
                      <a:srgbClr val="001C42"/>
                    </a:gs>
                  </a:gsLst>
                  <a:lin ang="2700000" scaled="0"/>
                </a:gradFill>
                <a:latin typeface="Intro"/>
                <a:ea typeface="Intro"/>
                <a:cs typeface="Intro"/>
              </a:rPr>
              <a:t>Feasibility Study</a:t>
            </a:r>
          </a:p>
        </p:txBody>
      </p:sp>
      <p:sp>
        <p:nvSpPr>
          <p:cNvPr id="151" name="Feasibility 151"/>
          <p:cNvSpPr/>
          <p:nvPr/>
        </p:nvSpPr>
        <p:spPr>
          <a:xfrm>
            <a:off x="1005840" y="1828800"/>
            <a:ext cx="5181600" cy="2834640"/>
          </a:xfrm>
          <a:prstGeom prst="roundRect">
            <a:avLst>
              <a:gd name="adj" fmla="val 8000"/>
            </a:avLst>
          </a:prstGeom>
          <a:gradFill>
            <a:gsLst>
              <a:gs pos="0">
                <a:srgbClr val="0057FF">
                  <a:alpha val="100000"/>
                </a:srgbClr>
              </a:gs>
              <a:gs pos="100000">
                <a:srgbClr val="001C42">
                  <a:alpha val="100000"/>
                </a:srgbClr>
              </a:gs>
            </a:gsLst>
            <a:lin ang="2700000" scaled="0"/>
          </a:gradFill>
          <a:ln w="19050">
            <a:solidFill>
              <a:srgbClr val="FFFFFF"/>
            </a:solidFill>
          </a:ln>
        </p:spPr>
        <p:txBody>
          <a:bodyPr wrap="square" lIns="320040" tIns="228600" rIns="320040" bIns="182880" rtlCol="0" anchor="t">
            <a:noAutofit/>
          </a:bodyPr>
          <a:lstStyle/>
          <a:p>
            <a:endParaRPr lang="en-US"/>
          </a:p>
        </p:txBody>
      </p:sp>
      <p:sp>
        <p:nvSpPr>
          <p:cNvPr id="152" name="Badge 152"/>
          <p:cNvSpPr/>
          <p:nvPr/>
        </p:nvSpPr>
        <p:spPr>
          <a:xfrm>
            <a:off x="1280160" y="2103120"/>
            <a:ext cx="640080" cy="640080"/>
          </a:xfrm>
          <a:prstGeom prst="ellipse">
            <a:avLst/>
          </a:prstGeom>
          <a:solidFill>
            <a:srgbClr val="FFFFFF"/>
          </a:solidFill>
          <a:ln>
            <a:noFill/>
          </a:ln>
        </p:spPr>
        <p:txBody>
          <a:bodyPr wrap="square" lIns="0" tIns="0" rIns="0" bIns="0" rtlCol="0" anchor="ctr">
            <a:noAutofit/>
          </a:bodyPr>
          <a:lstStyle/>
          <a:p>
            <a:pPr algn="ctr">
              <a:spcAft>
                <a:spcPts val="0"/>
              </a:spcAft>
              <a:buNone/>
            </a:pPr>
            <a:r>
              <a:rPr lang="en-US" sz="2000" b="1" i="0" dirty="0">
                <a:solidFill>
                  <a:srgbClr val="0057FF"/>
                </a:solidFill>
                <a:latin typeface="Open Sauce"/>
                <a:ea typeface="Open Sauce"/>
                <a:cs typeface="Open Sauce"/>
              </a:rPr>
              <a:t>1</a:t>
            </a:r>
          </a:p>
        </p:txBody>
      </p:sp>
      <p:sp>
        <p:nvSpPr>
          <p:cNvPr id="153" name="Text 153"/>
          <p:cNvSpPr txBox="1"/>
          <p:nvPr/>
        </p:nvSpPr>
        <p:spPr>
          <a:xfrm>
            <a:off x="2103120" y="2103120"/>
            <a:ext cx="3810000" cy="640080"/>
          </a:xfrm>
          <a:prstGeom prst="rect">
            <a:avLst/>
          </a:prstGeom>
          <a:noFill/>
          <a:ln>
            <a:noFill/>
          </a:ln>
        </p:spPr>
        <p:txBody>
          <a:bodyPr wrap="square" lIns="0" tIns="0" rIns="0" bIns="0" rtlCol="0" anchor="ctr">
            <a:noAutofit/>
          </a:bodyPr>
          <a:lstStyle/>
          <a:p>
            <a:pPr algn="l">
              <a:spcAft>
                <a:spcPts val="0"/>
              </a:spcAft>
              <a:buNone/>
            </a:pPr>
            <a:r>
              <a:rPr lang="en-US" sz="2600" b="1" i="0" dirty="0">
                <a:solidFill>
                  <a:srgbClr val="FFFFFF"/>
                </a:solidFill>
                <a:latin typeface="Open Sauce"/>
                <a:ea typeface="Open Sauce"/>
                <a:cs typeface="Open Sauce"/>
              </a:rPr>
              <a:t>Data</a:t>
            </a:r>
          </a:p>
        </p:txBody>
      </p:sp>
      <p:sp>
        <p:nvSpPr>
          <p:cNvPr id="154" name="Text 154"/>
          <p:cNvSpPr txBox="1"/>
          <p:nvPr/>
        </p:nvSpPr>
        <p:spPr>
          <a:xfrm>
            <a:off x="1325880" y="2926080"/>
            <a:ext cx="4541520" cy="1645920"/>
          </a:xfrm>
          <a:prstGeom prst="rect">
            <a:avLst/>
          </a:prstGeom>
          <a:noFill/>
          <a:ln>
            <a:noFill/>
          </a:ln>
        </p:spPr>
        <p:txBody>
          <a:bodyPr wrap="square" lIns="0" tIns="0" rIns="0" bIns="0" rtlCol="0" anchor="t">
            <a:noAutofit/>
          </a:bodyPr>
          <a:lstStyle/>
          <a:p>
            <a:pPr algn="l">
              <a:spcAft>
                <a:spcPts val="0"/>
              </a:spcAft>
              <a:buNone/>
            </a:pPr>
            <a:r>
              <a:rPr lang="en-US" sz="1900" b="0" i="0" dirty="0">
                <a:solidFill>
                  <a:srgbClr val="FFFFFF"/>
                </a:solidFill>
                <a:latin typeface="Open Sauce"/>
                <a:ea typeface="Open Sauce"/>
                <a:cs typeface="Open Sauce"/>
              </a:rPr>
              <a:t>Public, labeled IoT traffic datasets exist. One or more are used for training and evaluation. If coverage gaps appear, traffic is captured on a small test setup.</a:t>
            </a:r>
          </a:p>
        </p:txBody>
      </p:sp>
      <p:sp>
        <p:nvSpPr>
          <p:cNvPr id="155" name="Feasibility 155"/>
          <p:cNvSpPr/>
          <p:nvPr/>
        </p:nvSpPr>
        <p:spPr>
          <a:xfrm>
            <a:off x="6553200" y="1828800"/>
            <a:ext cx="5181600" cy="2834640"/>
          </a:xfrm>
          <a:prstGeom prst="roundRect">
            <a:avLst>
              <a:gd name="adj" fmla="val 8000"/>
            </a:avLst>
          </a:prstGeom>
          <a:gradFill>
            <a:gsLst>
              <a:gs pos="0">
                <a:srgbClr val="0057FF">
                  <a:alpha val="100000"/>
                </a:srgbClr>
              </a:gs>
              <a:gs pos="100000">
                <a:srgbClr val="001C42">
                  <a:alpha val="100000"/>
                </a:srgbClr>
              </a:gs>
            </a:gsLst>
            <a:lin ang="2700000" scaled="0"/>
          </a:gradFill>
          <a:ln w="19050">
            <a:solidFill>
              <a:srgbClr val="FFFFFF"/>
            </a:solidFill>
          </a:ln>
        </p:spPr>
        <p:txBody>
          <a:bodyPr wrap="square" lIns="320040" tIns="228600" rIns="320040" bIns="182880" rtlCol="0" anchor="t">
            <a:noAutofit/>
          </a:bodyPr>
          <a:lstStyle/>
          <a:p>
            <a:endParaRPr lang="en-US"/>
          </a:p>
        </p:txBody>
      </p:sp>
      <p:sp>
        <p:nvSpPr>
          <p:cNvPr id="156" name="Badge 156"/>
          <p:cNvSpPr/>
          <p:nvPr/>
        </p:nvSpPr>
        <p:spPr>
          <a:xfrm>
            <a:off x="6827520" y="2103120"/>
            <a:ext cx="640080" cy="640080"/>
          </a:xfrm>
          <a:prstGeom prst="ellipse">
            <a:avLst/>
          </a:prstGeom>
          <a:solidFill>
            <a:srgbClr val="FFFFFF"/>
          </a:solidFill>
          <a:ln>
            <a:noFill/>
          </a:ln>
        </p:spPr>
        <p:txBody>
          <a:bodyPr wrap="square" lIns="0" tIns="0" rIns="0" bIns="0" rtlCol="0" anchor="ctr">
            <a:noAutofit/>
          </a:bodyPr>
          <a:lstStyle/>
          <a:p>
            <a:pPr algn="ctr">
              <a:spcAft>
                <a:spcPts val="0"/>
              </a:spcAft>
              <a:buNone/>
            </a:pPr>
            <a:r>
              <a:rPr lang="en-US" sz="2000" b="1" i="0" dirty="0">
                <a:solidFill>
                  <a:srgbClr val="0057FF"/>
                </a:solidFill>
                <a:latin typeface="Open Sauce"/>
                <a:ea typeface="Open Sauce"/>
                <a:cs typeface="Open Sauce"/>
              </a:rPr>
              <a:t>2</a:t>
            </a:r>
          </a:p>
        </p:txBody>
      </p:sp>
      <p:sp>
        <p:nvSpPr>
          <p:cNvPr id="157" name="Text 157"/>
          <p:cNvSpPr txBox="1"/>
          <p:nvPr/>
        </p:nvSpPr>
        <p:spPr>
          <a:xfrm>
            <a:off x="7650480" y="2103120"/>
            <a:ext cx="3810000" cy="640080"/>
          </a:xfrm>
          <a:prstGeom prst="rect">
            <a:avLst/>
          </a:prstGeom>
          <a:noFill/>
          <a:ln>
            <a:noFill/>
          </a:ln>
        </p:spPr>
        <p:txBody>
          <a:bodyPr wrap="square" lIns="0" tIns="0" rIns="0" bIns="0" rtlCol="0" anchor="ctr">
            <a:noAutofit/>
          </a:bodyPr>
          <a:lstStyle/>
          <a:p>
            <a:pPr algn="l">
              <a:spcAft>
                <a:spcPts val="0"/>
              </a:spcAft>
              <a:buNone/>
            </a:pPr>
            <a:r>
              <a:rPr lang="en-US" sz="2600" b="1" i="0" dirty="0">
                <a:solidFill>
                  <a:srgbClr val="FFFFFF"/>
                </a:solidFill>
                <a:latin typeface="Open Sauce"/>
                <a:ea typeface="Open Sauce"/>
                <a:cs typeface="Open Sauce"/>
              </a:rPr>
              <a:t>Compute</a:t>
            </a:r>
          </a:p>
        </p:txBody>
      </p:sp>
      <p:sp>
        <p:nvSpPr>
          <p:cNvPr id="158" name="Text 158"/>
          <p:cNvSpPr txBox="1"/>
          <p:nvPr/>
        </p:nvSpPr>
        <p:spPr>
          <a:xfrm>
            <a:off x="6873240" y="2926080"/>
            <a:ext cx="4541520" cy="1645920"/>
          </a:xfrm>
          <a:prstGeom prst="rect">
            <a:avLst/>
          </a:prstGeom>
          <a:noFill/>
          <a:ln>
            <a:noFill/>
          </a:ln>
        </p:spPr>
        <p:txBody>
          <a:bodyPr wrap="square" lIns="0" tIns="0" rIns="0" bIns="0" rtlCol="0" anchor="t">
            <a:noAutofit/>
          </a:bodyPr>
          <a:lstStyle/>
          <a:p>
            <a:pPr algn="l">
              <a:spcAft>
                <a:spcPts val="0"/>
              </a:spcAft>
              <a:buNone/>
            </a:pPr>
            <a:r>
              <a:rPr lang="en-US" sz="1900" b="0" i="0" dirty="0">
                <a:solidFill>
                  <a:srgbClr val="FFFFFF"/>
                </a:solidFill>
                <a:latin typeface="Open Sauce"/>
                <a:ea typeface="Open Sauce"/>
                <a:cs typeface="Open Sauce"/>
              </a:rPr>
              <a:t>Training and attack crafting run on a standard workstation. Only deployment and overhead tests need the edge device.</a:t>
            </a:r>
          </a:p>
        </p:txBody>
      </p:sp>
      <p:sp>
        <p:nvSpPr>
          <p:cNvPr id="159" name="Feasibility 159"/>
          <p:cNvSpPr/>
          <p:nvPr/>
        </p:nvSpPr>
        <p:spPr>
          <a:xfrm>
            <a:off x="12100560" y="1828800"/>
            <a:ext cx="5181600" cy="2834640"/>
          </a:xfrm>
          <a:prstGeom prst="roundRect">
            <a:avLst>
              <a:gd name="adj" fmla="val 8000"/>
            </a:avLst>
          </a:prstGeom>
          <a:gradFill>
            <a:gsLst>
              <a:gs pos="0">
                <a:srgbClr val="0057FF">
                  <a:alpha val="100000"/>
                </a:srgbClr>
              </a:gs>
              <a:gs pos="92000">
                <a:srgbClr val="001C42">
                  <a:alpha val="100000"/>
                </a:srgbClr>
              </a:gs>
            </a:gsLst>
            <a:lin ang="2700000" scaled="0"/>
          </a:gradFill>
          <a:ln w="19050">
            <a:solidFill>
              <a:srgbClr val="FFFFFF"/>
            </a:solidFill>
          </a:ln>
        </p:spPr>
        <p:txBody>
          <a:bodyPr wrap="square" lIns="320040" tIns="228600" rIns="320040" bIns="182880" rtlCol="0" anchor="t">
            <a:noAutofit/>
          </a:bodyPr>
          <a:lstStyle/>
          <a:p>
            <a:endParaRPr lang="en-US"/>
          </a:p>
        </p:txBody>
      </p:sp>
      <p:sp>
        <p:nvSpPr>
          <p:cNvPr id="160" name="Badge 160"/>
          <p:cNvSpPr/>
          <p:nvPr/>
        </p:nvSpPr>
        <p:spPr>
          <a:xfrm>
            <a:off x="12374880" y="2103120"/>
            <a:ext cx="640080" cy="640080"/>
          </a:xfrm>
          <a:prstGeom prst="ellipse">
            <a:avLst/>
          </a:prstGeom>
          <a:solidFill>
            <a:srgbClr val="FFFFFF"/>
          </a:solidFill>
          <a:ln>
            <a:noFill/>
          </a:ln>
        </p:spPr>
        <p:txBody>
          <a:bodyPr wrap="square" lIns="0" tIns="0" rIns="0" bIns="0" rtlCol="0" anchor="ctr">
            <a:noAutofit/>
          </a:bodyPr>
          <a:lstStyle/>
          <a:p>
            <a:pPr algn="ctr">
              <a:spcAft>
                <a:spcPts val="0"/>
              </a:spcAft>
              <a:buNone/>
            </a:pPr>
            <a:r>
              <a:rPr lang="en-US" sz="2000" b="1" i="0" dirty="0">
                <a:solidFill>
                  <a:srgbClr val="0057FF"/>
                </a:solidFill>
                <a:latin typeface="Open Sauce"/>
                <a:ea typeface="Open Sauce"/>
                <a:cs typeface="Open Sauce"/>
              </a:rPr>
              <a:t>3</a:t>
            </a:r>
          </a:p>
        </p:txBody>
      </p:sp>
      <p:sp>
        <p:nvSpPr>
          <p:cNvPr id="161" name="Text 161"/>
          <p:cNvSpPr txBox="1"/>
          <p:nvPr/>
        </p:nvSpPr>
        <p:spPr>
          <a:xfrm>
            <a:off x="13197840" y="2103120"/>
            <a:ext cx="3810000" cy="640080"/>
          </a:xfrm>
          <a:prstGeom prst="rect">
            <a:avLst/>
          </a:prstGeom>
          <a:noFill/>
          <a:ln>
            <a:noFill/>
          </a:ln>
        </p:spPr>
        <p:txBody>
          <a:bodyPr wrap="square" lIns="0" tIns="0" rIns="0" bIns="0" rtlCol="0" anchor="ctr">
            <a:noAutofit/>
          </a:bodyPr>
          <a:lstStyle/>
          <a:p>
            <a:pPr algn="l">
              <a:spcAft>
                <a:spcPts val="0"/>
              </a:spcAft>
              <a:buNone/>
            </a:pPr>
            <a:r>
              <a:rPr lang="en-US" sz="2600" b="1" i="0" dirty="0">
                <a:solidFill>
                  <a:srgbClr val="FFFFFF"/>
                </a:solidFill>
                <a:latin typeface="Open Sauce"/>
                <a:ea typeface="Open Sauce"/>
                <a:cs typeface="Open Sauce"/>
              </a:rPr>
              <a:t>Hardware</a:t>
            </a:r>
          </a:p>
        </p:txBody>
      </p:sp>
      <p:sp>
        <p:nvSpPr>
          <p:cNvPr id="162" name="Text 162"/>
          <p:cNvSpPr txBox="1"/>
          <p:nvPr/>
        </p:nvSpPr>
        <p:spPr>
          <a:xfrm>
            <a:off x="12420600" y="2926080"/>
            <a:ext cx="4541520" cy="1645920"/>
          </a:xfrm>
          <a:prstGeom prst="rect">
            <a:avLst/>
          </a:prstGeom>
          <a:noFill/>
          <a:ln>
            <a:noFill/>
          </a:ln>
        </p:spPr>
        <p:txBody>
          <a:bodyPr wrap="square" lIns="0" tIns="0" rIns="0" bIns="0" rtlCol="0" anchor="t">
            <a:noAutofit/>
          </a:bodyPr>
          <a:lstStyle/>
          <a:p>
            <a:pPr algn="l">
              <a:spcAft>
                <a:spcPts val="0"/>
              </a:spcAft>
              <a:buNone/>
            </a:pPr>
            <a:r>
              <a:rPr lang="en-US" sz="1900" b="0" i="0" dirty="0">
                <a:solidFill>
                  <a:srgbClr val="FFFFFF"/>
                </a:solidFill>
                <a:latin typeface="Open Sauce"/>
                <a:ea typeface="Open Sauce"/>
                <a:cs typeface="Open Sauce"/>
              </a:rPr>
              <a:t>A low-cost resource-constrained device with Linux and Python support covers testing. The exact device is chosen at the methodology stage.</a:t>
            </a:r>
          </a:p>
        </p:txBody>
      </p:sp>
      <p:sp>
        <p:nvSpPr>
          <p:cNvPr id="163" name="Feasibility 163"/>
          <p:cNvSpPr/>
          <p:nvPr/>
        </p:nvSpPr>
        <p:spPr>
          <a:xfrm>
            <a:off x="1005840" y="4937760"/>
            <a:ext cx="5181600" cy="2834640"/>
          </a:xfrm>
          <a:prstGeom prst="roundRect">
            <a:avLst>
              <a:gd name="adj" fmla="val 8000"/>
            </a:avLst>
          </a:prstGeom>
          <a:gradFill>
            <a:gsLst>
              <a:gs pos="0">
                <a:srgbClr val="0057FF">
                  <a:alpha val="100000"/>
                </a:srgbClr>
              </a:gs>
              <a:gs pos="100000">
                <a:srgbClr val="001C42">
                  <a:alpha val="100000"/>
                </a:srgbClr>
              </a:gs>
            </a:gsLst>
            <a:lin ang="2700000" scaled="0"/>
          </a:gradFill>
          <a:ln w="19050">
            <a:solidFill>
              <a:srgbClr val="FFFFFF"/>
            </a:solidFill>
          </a:ln>
        </p:spPr>
        <p:txBody>
          <a:bodyPr wrap="square" lIns="320040" tIns="228600" rIns="320040" bIns="182880" rtlCol="0" anchor="t">
            <a:noAutofit/>
          </a:bodyPr>
          <a:lstStyle/>
          <a:p>
            <a:endParaRPr lang="en-US"/>
          </a:p>
        </p:txBody>
      </p:sp>
      <p:sp>
        <p:nvSpPr>
          <p:cNvPr id="164" name="Badge 164"/>
          <p:cNvSpPr/>
          <p:nvPr/>
        </p:nvSpPr>
        <p:spPr>
          <a:xfrm>
            <a:off x="1280160" y="5212080"/>
            <a:ext cx="640080" cy="640080"/>
          </a:xfrm>
          <a:prstGeom prst="ellipse">
            <a:avLst/>
          </a:prstGeom>
          <a:solidFill>
            <a:srgbClr val="FFFFFF"/>
          </a:solidFill>
          <a:ln>
            <a:noFill/>
          </a:ln>
        </p:spPr>
        <p:txBody>
          <a:bodyPr wrap="square" lIns="0" tIns="0" rIns="0" bIns="0" rtlCol="0" anchor="ctr">
            <a:noAutofit/>
          </a:bodyPr>
          <a:lstStyle/>
          <a:p>
            <a:pPr algn="ctr">
              <a:spcAft>
                <a:spcPts val="0"/>
              </a:spcAft>
              <a:buNone/>
            </a:pPr>
            <a:r>
              <a:rPr lang="en-US" sz="2000" b="1" i="0" dirty="0">
                <a:solidFill>
                  <a:srgbClr val="0057FF"/>
                </a:solidFill>
                <a:latin typeface="Open Sauce"/>
                <a:ea typeface="Open Sauce"/>
                <a:cs typeface="Open Sauce"/>
              </a:rPr>
              <a:t>4</a:t>
            </a:r>
          </a:p>
        </p:txBody>
      </p:sp>
      <p:sp>
        <p:nvSpPr>
          <p:cNvPr id="165" name="Text 165"/>
          <p:cNvSpPr txBox="1"/>
          <p:nvPr/>
        </p:nvSpPr>
        <p:spPr>
          <a:xfrm>
            <a:off x="2103120" y="5212080"/>
            <a:ext cx="3810000" cy="640080"/>
          </a:xfrm>
          <a:prstGeom prst="rect">
            <a:avLst/>
          </a:prstGeom>
          <a:noFill/>
          <a:ln>
            <a:noFill/>
          </a:ln>
        </p:spPr>
        <p:txBody>
          <a:bodyPr wrap="square" lIns="0" tIns="0" rIns="0" bIns="0" rtlCol="0" anchor="ctr">
            <a:noAutofit/>
          </a:bodyPr>
          <a:lstStyle/>
          <a:p>
            <a:pPr algn="l">
              <a:spcAft>
                <a:spcPts val="0"/>
              </a:spcAft>
              <a:buNone/>
            </a:pPr>
            <a:r>
              <a:rPr lang="en-US" sz="2600" b="1" i="0" dirty="0">
                <a:solidFill>
                  <a:srgbClr val="FFFFFF"/>
                </a:solidFill>
                <a:latin typeface="Open Sauce"/>
                <a:ea typeface="Open Sauce"/>
                <a:cs typeface="Open Sauce"/>
              </a:rPr>
              <a:t>Skills</a:t>
            </a:r>
          </a:p>
        </p:txBody>
      </p:sp>
      <p:sp>
        <p:nvSpPr>
          <p:cNvPr id="166" name="Text 166"/>
          <p:cNvSpPr txBox="1"/>
          <p:nvPr/>
        </p:nvSpPr>
        <p:spPr>
          <a:xfrm>
            <a:off x="1325880" y="6035040"/>
            <a:ext cx="4541520" cy="1645920"/>
          </a:xfrm>
          <a:prstGeom prst="rect">
            <a:avLst/>
          </a:prstGeom>
          <a:noFill/>
          <a:ln>
            <a:noFill/>
          </a:ln>
        </p:spPr>
        <p:txBody>
          <a:bodyPr wrap="square" lIns="0" tIns="0" rIns="0" bIns="0" rtlCol="0" anchor="t">
            <a:noAutofit/>
          </a:bodyPr>
          <a:lstStyle/>
          <a:p>
            <a:pPr algn="l">
              <a:spcAft>
                <a:spcPts val="0"/>
              </a:spcAft>
              <a:buNone/>
            </a:pPr>
            <a:r>
              <a:rPr lang="en-US" sz="1900" b="0" i="0" dirty="0">
                <a:solidFill>
                  <a:srgbClr val="FFFFFF"/>
                </a:solidFill>
                <a:latin typeface="Open Sauce"/>
                <a:ea typeface="Open Sauce"/>
                <a:cs typeface="Open Sauce"/>
              </a:rPr>
              <a:t>Python covers model training and attack generation. C covers device-side work.</a:t>
            </a:r>
          </a:p>
        </p:txBody>
      </p:sp>
      <p:sp>
        <p:nvSpPr>
          <p:cNvPr id="167" name="Feasibility 167"/>
          <p:cNvSpPr/>
          <p:nvPr/>
        </p:nvSpPr>
        <p:spPr>
          <a:xfrm>
            <a:off x="6553200" y="4937760"/>
            <a:ext cx="5181600" cy="2834640"/>
          </a:xfrm>
          <a:prstGeom prst="roundRect">
            <a:avLst>
              <a:gd name="adj" fmla="val 8000"/>
            </a:avLst>
          </a:prstGeom>
          <a:gradFill>
            <a:gsLst>
              <a:gs pos="0">
                <a:srgbClr val="0057FF">
                  <a:alpha val="100000"/>
                </a:srgbClr>
              </a:gs>
              <a:gs pos="100000">
                <a:srgbClr val="001C42">
                  <a:alpha val="100000"/>
                </a:srgbClr>
              </a:gs>
            </a:gsLst>
            <a:lin ang="2700000" scaled="0"/>
          </a:gradFill>
          <a:ln w="19050">
            <a:solidFill>
              <a:srgbClr val="FFFFFF"/>
            </a:solidFill>
          </a:ln>
        </p:spPr>
        <p:txBody>
          <a:bodyPr wrap="square" lIns="320040" tIns="228600" rIns="320040" bIns="182880" rtlCol="0" anchor="t">
            <a:noAutofit/>
          </a:bodyPr>
          <a:lstStyle/>
          <a:p>
            <a:endParaRPr lang="en-US"/>
          </a:p>
        </p:txBody>
      </p:sp>
      <p:sp>
        <p:nvSpPr>
          <p:cNvPr id="168" name="Badge 168"/>
          <p:cNvSpPr/>
          <p:nvPr/>
        </p:nvSpPr>
        <p:spPr>
          <a:xfrm>
            <a:off x="6827520" y="5212080"/>
            <a:ext cx="640080" cy="640080"/>
          </a:xfrm>
          <a:prstGeom prst="ellipse">
            <a:avLst/>
          </a:prstGeom>
          <a:solidFill>
            <a:srgbClr val="FFFFFF"/>
          </a:solidFill>
          <a:ln>
            <a:noFill/>
          </a:ln>
        </p:spPr>
        <p:txBody>
          <a:bodyPr wrap="square" lIns="0" tIns="0" rIns="0" bIns="0" rtlCol="0" anchor="ctr">
            <a:noAutofit/>
          </a:bodyPr>
          <a:lstStyle/>
          <a:p>
            <a:pPr algn="ctr">
              <a:spcAft>
                <a:spcPts val="0"/>
              </a:spcAft>
              <a:buNone/>
            </a:pPr>
            <a:r>
              <a:rPr lang="en-US" sz="2000" b="1" i="0" dirty="0">
                <a:solidFill>
                  <a:srgbClr val="0057FF"/>
                </a:solidFill>
                <a:latin typeface="Open Sauce"/>
                <a:ea typeface="Open Sauce"/>
                <a:cs typeface="Open Sauce"/>
              </a:rPr>
              <a:t>5</a:t>
            </a:r>
          </a:p>
        </p:txBody>
      </p:sp>
      <p:sp>
        <p:nvSpPr>
          <p:cNvPr id="169" name="Text 169"/>
          <p:cNvSpPr txBox="1"/>
          <p:nvPr/>
        </p:nvSpPr>
        <p:spPr>
          <a:xfrm>
            <a:off x="7650480" y="5212080"/>
            <a:ext cx="3810000" cy="640080"/>
          </a:xfrm>
          <a:prstGeom prst="rect">
            <a:avLst/>
          </a:prstGeom>
          <a:noFill/>
          <a:ln>
            <a:noFill/>
          </a:ln>
        </p:spPr>
        <p:txBody>
          <a:bodyPr wrap="square" lIns="0" tIns="0" rIns="0" bIns="0" rtlCol="0" anchor="ctr">
            <a:noAutofit/>
          </a:bodyPr>
          <a:lstStyle/>
          <a:p>
            <a:pPr algn="l">
              <a:spcAft>
                <a:spcPts val="0"/>
              </a:spcAft>
              <a:buNone/>
            </a:pPr>
            <a:r>
              <a:rPr lang="en-US" sz="2600" b="1" i="0" dirty="0">
                <a:solidFill>
                  <a:srgbClr val="FFFFFF"/>
                </a:solidFill>
                <a:latin typeface="Open Sauce"/>
                <a:ea typeface="Open Sauce"/>
                <a:cs typeface="Open Sauce"/>
              </a:rPr>
              <a:t>Tools</a:t>
            </a:r>
          </a:p>
        </p:txBody>
      </p:sp>
      <p:sp>
        <p:nvSpPr>
          <p:cNvPr id="170" name="Text 170"/>
          <p:cNvSpPr txBox="1"/>
          <p:nvPr/>
        </p:nvSpPr>
        <p:spPr>
          <a:xfrm>
            <a:off x="6873240" y="6035040"/>
            <a:ext cx="4541520" cy="1645920"/>
          </a:xfrm>
          <a:prstGeom prst="rect">
            <a:avLst/>
          </a:prstGeom>
          <a:noFill/>
          <a:ln>
            <a:noFill/>
          </a:ln>
        </p:spPr>
        <p:txBody>
          <a:bodyPr wrap="square" lIns="0" tIns="0" rIns="0" bIns="0" rtlCol="0" anchor="t">
            <a:noAutofit/>
          </a:bodyPr>
          <a:lstStyle/>
          <a:p>
            <a:pPr algn="l">
              <a:spcAft>
                <a:spcPts val="0"/>
              </a:spcAft>
              <a:buNone/>
            </a:pPr>
            <a:r>
              <a:rPr lang="en-US" sz="1900" b="0" i="0" dirty="0">
                <a:solidFill>
                  <a:srgbClr val="FFFFFF"/>
                </a:solidFill>
                <a:latin typeface="Open Sauce"/>
                <a:ea typeface="Open Sauce"/>
                <a:cs typeface="Open Sauce"/>
              </a:rPr>
              <a:t>Open-source libraries exist for adversarial attack generation and model integrity checks.</a:t>
            </a:r>
          </a:p>
        </p:txBody>
      </p:sp>
      <p:sp>
        <p:nvSpPr>
          <p:cNvPr id="171" name="Feasibility 171"/>
          <p:cNvSpPr/>
          <p:nvPr/>
        </p:nvSpPr>
        <p:spPr>
          <a:xfrm>
            <a:off x="12100560" y="4937760"/>
            <a:ext cx="5181600" cy="2834640"/>
          </a:xfrm>
          <a:prstGeom prst="roundRect">
            <a:avLst>
              <a:gd name="adj" fmla="val 8000"/>
            </a:avLst>
          </a:prstGeom>
          <a:gradFill>
            <a:gsLst>
              <a:gs pos="0">
                <a:srgbClr val="0057FF">
                  <a:alpha val="100000"/>
                </a:srgbClr>
              </a:gs>
              <a:gs pos="100000">
                <a:srgbClr val="001C42">
                  <a:alpha val="100000"/>
                </a:srgbClr>
              </a:gs>
            </a:gsLst>
            <a:lin ang="2700000" scaled="0"/>
          </a:gradFill>
          <a:ln w="19050">
            <a:solidFill>
              <a:srgbClr val="FFFFFF"/>
            </a:solidFill>
          </a:ln>
        </p:spPr>
        <p:txBody>
          <a:bodyPr wrap="square" lIns="320040" tIns="228600" rIns="320040" bIns="182880" rtlCol="0" anchor="t">
            <a:noAutofit/>
          </a:bodyPr>
          <a:lstStyle/>
          <a:p>
            <a:endParaRPr lang="en-US"/>
          </a:p>
        </p:txBody>
      </p:sp>
      <p:sp>
        <p:nvSpPr>
          <p:cNvPr id="172" name="Badge 172"/>
          <p:cNvSpPr/>
          <p:nvPr/>
        </p:nvSpPr>
        <p:spPr>
          <a:xfrm>
            <a:off x="12374880" y="5212080"/>
            <a:ext cx="640080" cy="640080"/>
          </a:xfrm>
          <a:prstGeom prst="ellipse">
            <a:avLst/>
          </a:prstGeom>
          <a:solidFill>
            <a:srgbClr val="FFFFFF"/>
          </a:solidFill>
          <a:ln>
            <a:noFill/>
          </a:ln>
        </p:spPr>
        <p:txBody>
          <a:bodyPr wrap="square" lIns="0" tIns="0" rIns="0" bIns="0" rtlCol="0" anchor="ctr">
            <a:noAutofit/>
          </a:bodyPr>
          <a:lstStyle/>
          <a:p>
            <a:pPr algn="ctr">
              <a:spcAft>
                <a:spcPts val="0"/>
              </a:spcAft>
              <a:buNone/>
            </a:pPr>
            <a:r>
              <a:rPr lang="en-US" sz="2000" b="1" i="0" dirty="0">
                <a:solidFill>
                  <a:srgbClr val="0057FF"/>
                </a:solidFill>
                <a:latin typeface="Open Sauce"/>
                <a:ea typeface="Open Sauce"/>
                <a:cs typeface="Open Sauce"/>
              </a:rPr>
              <a:t>6</a:t>
            </a:r>
          </a:p>
        </p:txBody>
      </p:sp>
      <p:sp>
        <p:nvSpPr>
          <p:cNvPr id="173" name="Text 173"/>
          <p:cNvSpPr txBox="1"/>
          <p:nvPr/>
        </p:nvSpPr>
        <p:spPr>
          <a:xfrm>
            <a:off x="13197840" y="5212080"/>
            <a:ext cx="3810000" cy="640080"/>
          </a:xfrm>
          <a:prstGeom prst="rect">
            <a:avLst/>
          </a:prstGeom>
          <a:noFill/>
          <a:ln>
            <a:noFill/>
          </a:ln>
        </p:spPr>
        <p:txBody>
          <a:bodyPr wrap="square" lIns="0" tIns="0" rIns="0" bIns="0" rtlCol="0" anchor="ctr">
            <a:noAutofit/>
          </a:bodyPr>
          <a:lstStyle/>
          <a:p>
            <a:pPr algn="l">
              <a:spcAft>
                <a:spcPts val="0"/>
              </a:spcAft>
              <a:buNone/>
            </a:pPr>
            <a:r>
              <a:rPr lang="en-US" sz="2600" b="1" i="0" dirty="0">
                <a:solidFill>
                  <a:srgbClr val="FFFFFF"/>
                </a:solidFill>
                <a:latin typeface="Open Sauce"/>
                <a:ea typeface="Open Sauce"/>
                <a:cs typeface="Open Sauce"/>
              </a:rPr>
              <a:t>Time</a:t>
            </a:r>
          </a:p>
        </p:txBody>
      </p:sp>
      <p:sp>
        <p:nvSpPr>
          <p:cNvPr id="174" name="Text 174"/>
          <p:cNvSpPr txBox="1"/>
          <p:nvPr/>
        </p:nvSpPr>
        <p:spPr>
          <a:xfrm>
            <a:off x="12420600" y="6035040"/>
            <a:ext cx="4541520" cy="1645920"/>
          </a:xfrm>
          <a:prstGeom prst="rect">
            <a:avLst/>
          </a:prstGeom>
          <a:noFill/>
          <a:ln>
            <a:noFill/>
          </a:ln>
        </p:spPr>
        <p:txBody>
          <a:bodyPr wrap="square" lIns="0" tIns="0" rIns="0" bIns="0" rtlCol="0" anchor="t">
            <a:noAutofit/>
          </a:bodyPr>
          <a:lstStyle/>
          <a:p>
            <a:pPr algn="l">
              <a:spcAft>
                <a:spcPts val="0"/>
              </a:spcAft>
              <a:buNone/>
            </a:pPr>
            <a:r>
              <a:rPr lang="en-US" sz="1900" b="0" i="0" dirty="0">
                <a:solidFill>
                  <a:srgbClr val="FFFFFF"/>
                </a:solidFill>
                <a:latin typeface="Open Sauce"/>
                <a:ea typeface="Open Sauce"/>
                <a:cs typeface="Open Sauce"/>
              </a:rPr>
              <a:t>Three phases. Phase one defines the problem. Phase two builds the baseline and runs the attacks. Phase three adds defenses and evaluation.</a:t>
            </a:r>
          </a:p>
        </p:txBody>
      </p:sp>
      <p:sp>
        <p:nvSpPr>
          <p:cNvPr id="175" name="Risk 175"/>
          <p:cNvSpPr/>
          <p:nvPr/>
        </p:nvSpPr>
        <p:spPr>
          <a:xfrm>
            <a:off x="1005840" y="8046720"/>
            <a:ext cx="16276320" cy="1691640"/>
          </a:xfrm>
          <a:prstGeom prst="roundRect">
            <a:avLst>
              <a:gd name="adj" fmla="val 12000"/>
            </a:avLst>
          </a:prstGeom>
          <a:gradFill>
            <a:gsLst>
              <a:gs pos="0">
                <a:srgbClr val="0057FF">
                  <a:alpha val="100000"/>
                </a:srgbClr>
              </a:gs>
              <a:gs pos="100000">
                <a:srgbClr val="001C42">
                  <a:alpha val="100000"/>
                </a:srgbClr>
              </a:gs>
            </a:gsLst>
            <a:lin ang="2700000" scaled="0"/>
          </a:gradFill>
          <a:ln w="19050">
            <a:solidFill>
              <a:srgbClr val="FFFFFF"/>
            </a:solidFill>
          </a:ln>
        </p:spPr>
        <p:txBody>
          <a:bodyPr wrap="square" lIns="320040" tIns="228600" rIns="320040" bIns="182880" rtlCol="0" anchor="t">
            <a:noAutofit/>
          </a:bodyPr>
          <a:lstStyle/>
          <a:p>
            <a:endParaRPr lang="en-US"/>
          </a:p>
        </p:txBody>
      </p:sp>
      <p:sp>
        <p:nvSpPr>
          <p:cNvPr id="176" name="Badge 176"/>
          <p:cNvSpPr/>
          <p:nvPr/>
        </p:nvSpPr>
        <p:spPr>
          <a:xfrm>
            <a:off x="1280160" y="8321040"/>
            <a:ext cx="640080" cy="640080"/>
          </a:xfrm>
          <a:prstGeom prst="ellipse">
            <a:avLst/>
          </a:prstGeom>
          <a:solidFill>
            <a:srgbClr val="FFFFFF"/>
          </a:solidFill>
          <a:ln>
            <a:noFill/>
          </a:ln>
        </p:spPr>
        <p:txBody>
          <a:bodyPr wrap="square" lIns="0" tIns="0" rIns="0" bIns="0" rtlCol="0" anchor="ctr">
            <a:noAutofit/>
          </a:bodyPr>
          <a:lstStyle/>
          <a:p>
            <a:pPr algn="ctr">
              <a:spcAft>
                <a:spcPts val="0"/>
              </a:spcAft>
              <a:buNone/>
            </a:pPr>
            <a:r>
              <a:rPr lang="en-US" sz="2000" b="1" i="0" dirty="0">
                <a:solidFill>
                  <a:srgbClr val="0057FF"/>
                </a:solidFill>
                <a:latin typeface="Open Sauce"/>
                <a:ea typeface="Open Sauce"/>
                <a:cs typeface="Open Sauce"/>
              </a:rPr>
              <a:t>7</a:t>
            </a:r>
          </a:p>
        </p:txBody>
      </p:sp>
      <p:sp>
        <p:nvSpPr>
          <p:cNvPr id="177" name="Text 177"/>
          <p:cNvSpPr txBox="1"/>
          <p:nvPr/>
        </p:nvSpPr>
        <p:spPr>
          <a:xfrm>
            <a:off x="2103120" y="8321040"/>
            <a:ext cx="5486400" cy="640080"/>
          </a:xfrm>
          <a:prstGeom prst="rect">
            <a:avLst/>
          </a:prstGeom>
          <a:noFill/>
          <a:ln>
            <a:noFill/>
          </a:ln>
        </p:spPr>
        <p:txBody>
          <a:bodyPr wrap="square" lIns="0" tIns="0" rIns="0" bIns="0" rtlCol="0" anchor="ctr">
            <a:noAutofit/>
          </a:bodyPr>
          <a:lstStyle/>
          <a:p>
            <a:pPr algn="l">
              <a:spcAft>
                <a:spcPts val="0"/>
              </a:spcAft>
              <a:buNone/>
            </a:pPr>
            <a:r>
              <a:rPr lang="en-US" sz="2600" b="1" i="0" dirty="0">
                <a:solidFill>
                  <a:srgbClr val="FFFFFF"/>
                </a:solidFill>
                <a:latin typeface="Open Sauce"/>
                <a:ea typeface="Open Sauce"/>
                <a:cs typeface="Open Sauce"/>
              </a:rPr>
              <a:t>Risk control</a:t>
            </a:r>
          </a:p>
        </p:txBody>
      </p:sp>
      <p:sp>
        <p:nvSpPr>
          <p:cNvPr id="178" name="Text 178"/>
          <p:cNvSpPr txBox="1"/>
          <p:nvPr/>
        </p:nvSpPr>
        <p:spPr>
          <a:xfrm>
            <a:off x="1325880" y="8961120"/>
            <a:ext cx="15636240" cy="731520"/>
          </a:xfrm>
          <a:prstGeom prst="rect">
            <a:avLst/>
          </a:prstGeom>
          <a:noFill/>
          <a:ln>
            <a:noFill/>
          </a:ln>
        </p:spPr>
        <p:txBody>
          <a:bodyPr wrap="square" lIns="0" tIns="0" rIns="0" bIns="0" rtlCol="0" anchor="t">
            <a:noAutofit/>
          </a:bodyPr>
          <a:lstStyle/>
          <a:p>
            <a:pPr algn="l">
              <a:spcAft>
                <a:spcPts val="0"/>
              </a:spcAft>
              <a:buNone/>
            </a:pPr>
            <a:r>
              <a:rPr lang="en-US" sz="2000" b="0" i="0" dirty="0">
                <a:solidFill>
                  <a:srgbClr val="FFFFFF"/>
                </a:solidFill>
                <a:latin typeface="Open Sauce"/>
                <a:ea typeface="Open Sauce"/>
                <a:cs typeface="Open Sauce"/>
              </a:rPr>
              <a:t>Each challenge has a fallback. Capped emulation covers hardware delays. A single dataset comes first, and a second is added only when a gap shows up.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BBBBBB">
                <a:alpha val="100000"/>
              </a:srgbClr>
            </a:gs>
          </a:gsLst>
          <a:lin ang="2700000"/>
        </a:gradFill>
        <a:effectLst/>
      </p:bgPr>
    </p:bg>
    <p:spTree>
      <p:nvGrpSpPr>
        <p:cNvPr id="1" name=""/>
        <p:cNvGrpSpPr/>
        <p:nvPr/>
      </p:nvGrpSpPr>
      <p:grpSpPr>
        <a:xfrm>
          <a:off x="0" y="0"/>
          <a:ext cx="0" cy="0"/>
          <a:chOff x="0" y="0"/>
          <a:chExt cx="0" cy="0"/>
        </a:xfrm>
      </p:grpSpPr>
      <p:sp>
        <p:nvSpPr>
          <p:cNvPr id="17" name="Freeform 17"/>
          <p:cNvSpPr/>
          <p:nvPr/>
        </p:nvSpPr>
        <p:spPr>
          <a:xfrm>
            <a:off x="-9554138" y="2164352"/>
            <a:ext cx="19108277" cy="14187896"/>
          </a:xfrm>
          <a:custGeom>
            <a:avLst/>
            <a:gdLst/>
            <a:ahLst/>
            <a:cxnLst/>
            <a:rect l="l" t="t" r="r" b="b"/>
            <a:pathLst>
              <a:path w="19108277" h="14187896">
                <a:moveTo>
                  <a:pt x="0" y="0"/>
                </a:moveTo>
                <a:lnTo>
                  <a:pt x="19108276" y="0"/>
                </a:lnTo>
                <a:lnTo>
                  <a:pt x="19108276" y="14187896"/>
                </a:lnTo>
                <a:lnTo>
                  <a:pt x="0" y="14187896"/>
                </a:lnTo>
                <a:lnTo>
                  <a:pt x="0" y="0"/>
                </a:lnTo>
                <a:close/>
              </a:path>
            </a:pathLst>
          </a:custGeom>
          <a:blipFill>
            <a:blip r:embed="rId2"/>
            <a:stretch>
              <a:fillRect/>
            </a:stretch>
          </a:blipFill>
        </p:spPr>
      </p:sp>
      <p:sp>
        <p:nvSpPr>
          <p:cNvPr id="26" name="Freeform 26"/>
          <p:cNvSpPr/>
          <p:nvPr/>
        </p:nvSpPr>
        <p:spPr>
          <a:xfrm>
            <a:off x="16343296" y="177703"/>
            <a:ext cx="1832007" cy="850997"/>
          </a:xfrm>
          <a:custGeom>
            <a:avLst/>
            <a:gdLst/>
            <a:ahLst/>
            <a:cxnLst/>
            <a:rect l="l" t="t" r="r" b="b"/>
            <a:pathLst>
              <a:path w="1832007" h="850997">
                <a:moveTo>
                  <a:pt x="0" y="0"/>
                </a:moveTo>
                <a:lnTo>
                  <a:pt x="1832008" y="0"/>
                </a:lnTo>
                <a:lnTo>
                  <a:pt x="1832008" y="850997"/>
                </a:lnTo>
                <a:lnTo>
                  <a:pt x="0" y="850997"/>
                </a:lnTo>
                <a:lnTo>
                  <a:pt x="0" y="0"/>
                </a:lnTo>
                <a:close/>
              </a:path>
            </a:pathLst>
          </a:custGeom>
          <a:blipFill>
            <a:blip r:embed="rId3"/>
            <a:stretch>
              <a:fillRect/>
            </a:stretch>
          </a:blipFill>
        </p:spPr>
      </p:sp>
      <p:sp>
        <p:nvSpPr>
          <p:cNvPr id="179" name="Title 179"/>
          <p:cNvSpPr txBox="1"/>
          <p:nvPr/>
        </p:nvSpPr>
        <p:spPr>
          <a:xfrm>
            <a:off x="1005840" y="365760"/>
            <a:ext cx="14538960" cy="1280160"/>
          </a:xfrm>
          <a:prstGeom prst="rect">
            <a:avLst/>
          </a:prstGeom>
          <a:noFill/>
          <a:ln>
            <a:noFill/>
          </a:ln>
        </p:spPr>
        <p:txBody>
          <a:bodyPr wrap="square" lIns="0" tIns="0" rIns="0" bIns="0" rtlCol="0" anchor="ctr">
            <a:noAutofit/>
          </a:bodyPr>
          <a:lstStyle/>
          <a:p>
            <a:pPr algn="l">
              <a:spcAft>
                <a:spcPts val="0"/>
              </a:spcAft>
              <a:buNone/>
            </a:pPr>
            <a:r>
              <a:rPr lang="en-US" sz="5600" b="0" i="0" dirty="0">
                <a:gradFill>
                  <a:gsLst>
                    <a:gs pos="0">
                      <a:srgbClr val="0057FF"/>
                    </a:gs>
                    <a:gs pos="100000">
                      <a:srgbClr val="001C42"/>
                    </a:gs>
                  </a:gsLst>
                  <a:lin ang="2700000"/>
                </a:gradFill>
                <a:latin typeface="Intro"/>
                <a:ea typeface="Intro"/>
                <a:cs typeface="Intro"/>
              </a:rPr>
              <a:t>Background: Why This Problem</a:t>
            </a:r>
          </a:p>
        </p:txBody>
      </p:sp>
      <p:sp>
        <p:nvSpPr>
          <p:cNvPr id="180" name="Context 180"/>
          <p:cNvSpPr/>
          <p:nvPr/>
        </p:nvSpPr>
        <p:spPr>
          <a:xfrm>
            <a:off x="1005840" y="1828800"/>
            <a:ext cx="7955280" cy="7772400"/>
          </a:xfrm>
          <a:prstGeom prst="roundRect">
            <a:avLst>
              <a:gd name="adj" fmla="val 5000"/>
            </a:avLst>
          </a:prstGeom>
          <a:solidFill>
            <a:srgbClr val="FFFFFF">
              <a:alpha val="74000"/>
            </a:srgbClr>
          </a:solidFill>
          <a:ln w="19050">
            <a:gradFill>
              <a:gsLst>
                <a:gs pos="0">
                  <a:srgbClr val="0057FF"/>
                </a:gs>
                <a:gs pos="100000">
                  <a:srgbClr val="001C42"/>
                </a:gs>
              </a:gsLst>
              <a:lin ang="2700000"/>
            </a:gradFill>
          </a:ln>
        </p:spPr>
        <p:txBody>
          <a:bodyPr wrap="square" lIns="411480" tIns="365760" rIns="365760" bIns="274320" rtlCol="0" anchor="t">
            <a:noAutofit/>
          </a:bodyPr>
          <a:lstStyle/>
          <a:p>
            <a:pPr marL="342900" indent="-342900" algn="l">
              <a:spcAft>
                <a:spcPts val="1300"/>
              </a:spcAft>
              <a:buFont typeface="Arial"/>
              <a:buChar char="•"/>
            </a:pPr>
            <a:r>
              <a:rPr lang="en-US" sz="2200" b="0" i="0" dirty="0">
                <a:solidFill>
                  <a:srgbClr val="001C42"/>
                </a:solidFill>
                <a:latin typeface="Open Sauce"/>
                <a:ea typeface="Open Sauce"/>
                <a:cs typeface="Open Sauce"/>
              </a:rPr>
              <a:t>Industrial IoT networks grow every year, and so does the attack surface. Cloud-based analysis adds latency and bandwidth cost, so intrusion detection moves to the edge.</a:t>
            </a:r>
          </a:p>
          <a:p>
            <a:pPr marL="342900" indent="-342900" algn="l">
              <a:spcAft>
                <a:spcPts val="1300"/>
              </a:spcAft>
              <a:buFont typeface="Arial"/>
              <a:buChar char="•"/>
            </a:pPr>
            <a:r>
              <a:rPr lang="en-US" sz="2200" b="0" i="0" dirty="0">
                <a:solidFill>
                  <a:srgbClr val="001C42"/>
                </a:solidFill>
                <a:latin typeface="Open Sauce"/>
                <a:ea typeface="Open Sauce"/>
                <a:cs typeface="Open Sauce"/>
              </a:rPr>
              <a:t>ML-based IDS research mostly reports detection accuracy. Fewer studies examine the security of the model once it is deployed.</a:t>
            </a:r>
          </a:p>
          <a:p>
            <a:pPr marL="342900" indent="-342900" algn="l">
              <a:spcAft>
                <a:spcPts val="1300"/>
              </a:spcAft>
              <a:buFont typeface="Arial"/>
              <a:buChar char="•"/>
            </a:pPr>
            <a:r>
              <a:rPr lang="en-US" sz="2200" b="0" i="0" dirty="0">
                <a:solidFill>
                  <a:srgbClr val="001C42"/>
                </a:solidFill>
                <a:latin typeface="Open Sauce"/>
                <a:ea typeface="Open Sauce"/>
                <a:cs typeface="Open Sauce"/>
              </a:rPr>
              <a:t>Attacks on model inputs and attacks on model integrity appear in separate lines of work. Their combination on constrained devices has less coverage.</a:t>
            </a:r>
          </a:p>
          <a:p>
            <a:pPr marL="342900" indent="-342900" algn="l">
              <a:spcAft>
                <a:spcPts val="1300"/>
              </a:spcAft>
              <a:buFont typeface="Arial"/>
              <a:buChar char="•"/>
            </a:pPr>
            <a:r>
              <a:rPr lang="en-US" sz="2200" b="0" i="0" dirty="0">
                <a:solidFill>
                  <a:srgbClr val="001C42"/>
                </a:solidFill>
                <a:latin typeface="Open Sauce"/>
                <a:ea typeface="Open Sauce"/>
                <a:cs typeface="Open Sauce"/>
              </a:rPr>
              <a:t>Protections add CPU, memory, storage, and latency cost. Few studies report this cost on resource-limited devices.</a:t>
            </a:r>
          </a:p>
          <a:p>
            <a:pPr marL="342900" indent="-342900" algn="l">
              <a:spcAft>
                <a:spcPts val="1300"/>
              </a:spcAft>
              <a:buFont typeface="Arial"/>
              <a:buChar char="•"/>
            </a:pPr>
            <a:r>
              <a:rPr lang="en-US" sz="2200" b="0" i="0" dirty="0">
                <a:solidFill>
                  <a:srgbClr val="001C42"/>
                </a:solidFill>
                <a:latin typeface="Open Sauce"/>
                <a:ea typeface="Open Sauce"/>
                <a:cs typeface="Open Sauce"/>
              </a:rPr>
              <a:t>A compromised IDS gives false confidence. The operator trusts it while attacks pass unseen.</a:t>
            </a:r>
          </a:p>
        </p:txBody>
      </p:sp>
      <p:sp>
        <p:nvSpPr>
          <p:cNvPr id="181" name="Text 181"/>
          <p:cNvSpPr txBox="1"/>
          <p:nvPr/>
        </p:nvSpPr>
        <p:spPr>
          <a:xfrm>
            <a:off x="9326880" y="1828800"/>
            <a:ext cx="7955280" cy="640080"/>
          </a:xfrm>
          <a:prstGeom prst="rect">
            <a:avLst/>
          </a:prstGeom>
          <a:noFill/>
          <a:ln>
            <a:noFill/>
          </a:ln>
        </p:spPr>
        <p:txBody>
          <a:bodyPr wrap="square" lIns="0" tIns="0" rIns="0" bIns="0" rtlCol="0" anchor="t">
            <a:noAutofit/>
          </a:bodyPr>
          <a:lstStyle/>
          <a:p>
            <a:pPr algn="l">
              <a:spcAft>
                <a:spcPts val="0"/>
              </a:spcAft>
              <a:buNone/>
            </a:pPr>
            <a:r>
              <a:rPr lang="en-US" sz="2800" b="1" i="0" dirty="0">
                <a:gradFill>
                  <a:gsLst>
                    <a:gs pos="0">
                      <a:srgbClr val="0057FF"/>
                    </a:gs>
                    <a:gs pos="100000">
                      <a:srgbClr val="001C42"/>
                    </a:gs>
                  </a:gsLst>
                  <a:lin ang="2700000"/>
                </a:gradFill>
                <a:latin typeface="Open Sauce"/>
                <a:ea typeface="Open Sauce"/>
                <a:cs typeface="Open Sauce"/>
              </a:rPr>
              <a:t>Domain context</a:t>
            </a:r>
          </a:p>
        </p:txBody>
      </p:sp>
      <p:sp>
        <p:nvSpPr>
          <p:cNvPr id="182" name="Term 182"/>
          <p:cNvSpPr/>
          <p:nvPr/>
        </p:nvSpPr>
        <p:spPr>
          <a:xfrm>
            <a:off x="9326880" y="2651760"/>
            <a:ext cx="3840480" cy="2194560"/>
          </a:xfrm>
          <a:prstGeom prst="roundRect">
            <a:avLst>
              <a:gd name="adj" fmla="val 10000"/>
            </a:avLst>
          </a:prstGeom>
          <a:solidFill>
            <a:srgbClr val="FFFFFF">
              <a:alpha val="74000"/>
            </a:srgbClr>
          </a:solidFill>
          <a:ln w="19050">
            <a:gradFill>
              <a:gsLst>
                <a:gs pos="0">
                  <a:srgbClr val="0057FF"/>
                </a:gs>
                <a:gs pos="100000">
                  <a:srgbClr val="001C42"/>
                </a:gs>
              </a:gsLst>
              <a:lin ang="2700000"/>
            </a:gradFill>
          </a:ln>
        </p:spPr>
        <p:txBody>
          <a:bodyPr wrap="square" lIns="274320" tIns="228600" rIns="228600" bIns="137160" rtlCol="0" anchor="t">
            <a:noAutofit/>
          </a:bodyPr>
          <a:lstStyle/>
          <a:p>
            <a:pPr algn="l">
              <a:spcAft>
                <a:spcPts val="600"/>
              </a:spcAft>
              <a:buNone/>
            </a:pPr>
            <a:r>
              <a:rPr lang="en-US" sz="2300" b="1" i="0" dirty="0">
                <a:gradFill>
                  <a:gsLst>
                    <a:gs pos="0">
                      <a:srgbClr val="0057FF"/>
                    </a:gs>
                    <a:gs pos="100000">
                      <a:srgbClr val="001C42"/>
                    </a:gs>
                  </a:gsLst>
                  <a:lin ang="2700000"/>
                </a:gradFill>
                <a:latin typeface="Open Sauce"/>
                <a:ea typeface="Open Sauce"/>
                <a:cs typeface="Open Sauce"/>
              </a:rPr>
              <a:t>IoT</a:t>
            </a:r>
          </a:p>
          <a:p>
            <a:pPr algn="l">
              <a:spcAft>
                <a:spcPts val="0"/>
              </a:spcAft>
              <a:buNone/>
            </a:pPr>
            <a:r>
              <a:rPr lang="en-US" sz="1800" b="0" i="0" dirty="0">
                <a:solidFill>
                  <a:srgbClr val="001C42"/>
                </a:solidFill>
                <a:latin typeface="Open Sauce"/>
                <a:ea typeface="Open Sauce"/>
                <a:cs typeface="Open Sauce"/>
              </a:rPr>
              <a:t>Many small connected devices in factories, farms, and buildings.</a:t>
            </a:r>
          </a:p>
        </p:txBody>
      </p:sp>
      <p:sp>
        <p:nvSpPr>
          <p:cNvPr id="183" name="Term 183"/>
          <p:cNvSpPr/>
          <p:nvPr/>
        </p:nvSpPr>
        <p:spPr>
          <a:xfrm>
            <a:off x="13441680" y="2651760"/>
            <a:ext cx="3840480" cy="2194560"/>
          </a:xfrm>
          <a:prstGeom prst="roundRect">
            <a:avLst>
              <a:gd name="adj" fmla="val 10000"/>
            </a:avLst>
          </a:prstGeom>
          <a:solidFill>
            <a:srgbClr val="FFFFFF">
              <a:alpha val="74000"/>
            </a:srgbClr>
          </a:solidFill>
          <a:ln w="19050">
            <a:gradFill>
              <a:gsLst>
                <a:gs pos="0">
                  <a:srgbClr val="0057FF"/>
                </a:gs>
                <a:gs pos="100000">
                  <a:srgbClr val="001C42"/>
                </a:gs>
              </a:gsLst>
              <a:lin ang="2700000"/>
            </a:gradFill>
          </a:ln>
        </p:spPr>
        <p:txBody>
          <a:bodyPr wrap="square" lIns="274320" tIns="228600" rIns="228600" bIns="137160" rtlCol="0" anchor="t">
            <a:noAutofit/>
          </a:bodyPr>
          <a:lstStyle/>
          <a:p>
            <a:pPr algn="l">
              <a:spcAft>
                <a:spcPts val="600"/>
              </a:spcAft>
              <a:buNone/>
            </a:pPr>
            <a:r>
              <a:rPr lang="en-US" sz="2300" b="1" i="0" dirty="0">
                <a:gradFill>
                  <a:gsLst>
                    <a:gs pos="0">
                      <a:srgbClr val="0057FF"/>
                    </a:gs>
                    <a:gs pos="100000">
                      <a:srgbClr val="001C42"/>
                    </a:gs>
                  </a:gsLst>
                  <a:lin ang="2700000"/>
                </a:gradFill>
                <a:latin typeface="Open Sauce"/>
                <a:ea typeface="Open Sauce"/>
                <a:cs typeface="Open Sauce"/>
              </a:rPr>
              <a:t>IDS</a:t>
            </a:r>
          </a:p>
          <a:p>
            <a:pPr algn="l">
              <a:spcAft>
                <a:spcPts val="0"/>
              </a:spcAft>
              <a:buNone/>
            </a:pPr>
            <a:r>
              <a:rPr lang="en-US" sz="1800" b="0" i="0" dirty="0">
                <a:solidFill>
                  <a:srgbClr val="001C42"/>
                </a:solidFill>
                <a:latin typeface="Open Sauce"/>
                <a:ea typeface="Open Sauce"/>
                <a:cs typeface="Open Sauce"/>
              </a:rPr>
              <a:t>A system watching network traffic and flagging attacks.</a:t>
            </a:r>
          </a:p>
        </p:txBody>
      </p:sp>
      <p:sp>
        <p:nvSpPr>
          <p:cNvPr id="184" name="Term 184"/>
          <p:cNvSpPr/>
          <p:nvPr/>
        </p:nvSpPr>
        <p:spPr>
          <a:xfrm>
            <a:off x="9326880" y="4983480"/>
            <a:ext cx="3840480" cy="2194560"/>
          </a:xfrm>
          <a:prstGeom prst="roundRect">
            <a:avLst>
              <a:gd name="adj" fmla="val 10000"/>
            </a:avLst>
          </a:prstGeom>
          <a:solidFill>
            <a:srgbClr val="FFFFFF">
              <a:alpha val="74000"/>
            </a:srgbClr>
          </a:solidFill>
          <a:ln w="19050">
            <a:gradFill>
              <a:gsLst>
                <a:gs pos="0">
                  <a:srgbClr val="0057FF"/>
                </a:gs>
                <a:gs pos="100000">
                  <a:srgbClr val="001C42"/>
                </a:gs>
              </a:gsLst>
              <a:lin ang="2700000"/>
            </a:gradFill>
          </a:ln>
        </p:spPr>
        <p:txBody>
          <a:bodyPr wrap="square" lIns="274320" tIns="228600" rIns="228600" bIns="137160" rtlCol="0" anchor="t">
            <a:noAutofit/>
          </a:bodyPr>
          <a:lstStyle/>
          <a:p>
            <a:pPr algn="l">
              <a:spcAft>
                <a:spcPts val="600"/>
              </a:spcAft>
              <a:buNone/>
            </a:pPr>
            <a:r>
              <a:rPr lang="en-US" sz="2300" b="1" i="0" dirty="0">
                <a:gradFill>
                  <a:gsLst>
                    <a:gs pos="0">
                      <a:srgbClr val="0057FF"/>
                    </a:gs>
                    <a:gs pos="100000">
                      <a:srgbClr val="001C42"/>
                    </a:gs>
                  </a:gsLst>
                  <a:lin ang="2700000"/>
                </a:gradFill>
                <a:latin typeface="Open Sauce"/>
                <a:ea typeface="Open Sauce"/>
                <a:cs typeface="Open Sauce"/>
              </a:rPr>
              <a:t>Edge</a:t>
            </a:r>
          </a:p>
          <a:p>
            <a:pPr algn="l">
              <a:spcAft>
                <a:spcPts val="0"/>
              </a:spcAft>
              <a:buNone/>
            </a:pPr>
            <a:r>
              <a:rPr lang="en-US" sz="1800" b="0" i="0" dirty="0">
                <a:solidFill>
                  <a:srgbClr val="001C42"/>
                </a:solidFill>
                <a:latin typeface="Open Sauce"/>
                <a:ea typeface="Open Sauce"/>
                <a:cs typeface="Open Sauce"/>
              </a:rPr>
              <a:t>A low-power device at the network boundary with limited CPU, memory, and storage.</a:t>
            </a:r>
          </a:p>
        </p:txBody>
      </p:sp>
      <p:sp>
        <p:nvSpPr>
          <p:cNvPr id="185" name="Term 185"/>
          <p:cNvSpPr/>
          <p:nvPr/>
        </p:nvSpPr>
        <p:spPr>
          <a:xfrm>
            <a:off x="13441680" y="4983480"/>
            <a:ext cx="3840480" cy="2194560"/>
          </a:xfrm>
          <a:prstGeom prst="roundRect">
            <a:avLst>
              <a:gd name="adj" fmla="val 10000"/>
            </a:avLst>
          </a:prstGeom>
          <a:solidFill>
            <a:srgbClr val="FFFFFF">
              <a:alpha val="74000"/>
            </a:srgbClr>
          </a:solidFill>
          <a:ln w="19050">
            <a:gradFill>
              <a:gsLst>
                <a:gs pos="0">
                  <a:srgbClr val="0057FF"/>
                </a:gs>
                <a:gs pos="100000">
                  <a:srgbClr val="001C42"/>
                </a:gs>
              </a:gsLst>
              <a:lin ang="2700000"/>
            </a:gradFill>
          </a:ln>
        </p:spPr>
        <p:txBody>
          <a:bodyPr wrap="square" lIns="274320" tIns="228600" rIns="228600" bIns="137160" rtlCol="0" anchor="t">
            <a:noAutofit/>
          </a:bodyPr>
          <a:lstStyle/>
          <a:p>
            <a:pPr algn="l">
              <a:spcAft>
                <a:spcPts val="600"/>
              </a:spcAft>
              <a:buNone/>
            </a:pPr>
            <a:r>
              <a:rPr lang="en-US" sz="2300" b="1" i="0" dirty="0">
                <a:gradFill>
                  <a:gsLst>
                    <a:gs pos="0">
                      <a:srgbClr val="0057FF"/>
                    </a:gs>
                    <a:gs pos="100000">
                      <a:srgbClr val="001C42"/>
                    </a:gs>
                  </a:gsLst>
                  <a:lin ang="2700000"/>
                </a:gradFill>
                <a:latin typeface="Open Sauce"/>
                <a:ea typeface="Open Sauce"/>
                <a:cs typeface="Open Sauce"/>
              </a:rPr>
              <a:t>Machine learning IDS</a:t>
            </a:r>
          </a:p>
          <a:p>
            <a:pPr algn="l">
              <a:spcAft>
                <a:spcPts val="0"/>
              </a:spcAft>
              <a:buNone/>
            </a:pPr>
            <a:r>
              <a:rPr lang="en-US" sz="1800" b="0" i="0" dirty="0">
                <a:solidFill>
                  <a:srgbClr val="001C42"/>
                </a:solidFill>
                <a:latin typeface="Open Sauce"/>
                <a:ea typeface="Open Sauce"/>
                <a:cs typeface="Open Sauce"/>
              </a:rPr>
              <a:t>A trained model labels traffic as benign or malicious.</a:t>
            </a:r>
          </a:p>
        </p:txBody>
      </p:sp>
      <p:sp>
        <p:nvSpPr>
          <p:cNvPr id="186" name="Term 186"/>
          <p:cNvSpPr/>
          <p:nvPr/>
        </p:nvSpPr>
        <p:spPr>
          <a:xfrm>
            <a:off x="9326880" y="7315200"/>
            <a:ext cx="3840480" cy="2194560"/>
          </a:xfrm>
          <a:prstGeom prst="roundRect">
            <a:avLst>
              <a:gd name="adj" fmla="val 10000"/>
            </a:avLst>
          </a:prstGeom>
          <a:solidFill>
            <a:srgbClr val="FFFFFF">
              <a:alpha val="74000"/>
            </a:srgbClr>
          </a:solidFill>
          <a:ln w="19050">
            <a:gradFill>
              <a:gsLst>
                <a:gs pos="0">
                  <a:srgbClr val="0057FF"/>
                </a:gs>
                <a:gs pos="100000">
                  <a:srgbClr val="001C42"/>
                </a:gs>
              </a:gsLst>
              <a:lin ang="2700000"/>
            </a:gradFill>
          </a:ln>
        </p:spPr>
        <p:txBody>
          <a:bodyPr wrap="square" lIns="274320" tIns="228600" rIns="228600" bIns="137160" rtlCol="0" anchor="t">
            <a:noAutofit/>
          </a:bodyPr>
          <a:lstStyle/>
          <a:p>
            <a:pPr algn="l">
              <a:spcAft>
                <a:spcPts val="600"/>
              </a:spcAft>
              <a:buNone/>
            </a:pPr>
            <a:r>
              <a:rPr lang="en-US" sz="2300" b="1" i="0" dirty="0">
                <a:gradFill>
                  <a:gsLst>
                    <a:gs pos="0">
                      <a:srgbClr val="0057FF"/>
                    </a:gs>
                    <a:gs pos="100000">
                      <a:srgbClr val="001C42"/>
                    </a:gs>
                  </a:gsLst>
                  <a:lin ang="2700000"/>
                </a:gradFill>
                <a:latin typeface="Open Sauce"/>
                <a:ea typeface="Open Sauce"/>
                <a:cs typeface="Open Sauce"/>
              </a:rPr>
              <a:t>Adversarial input</a:t>
            </a:r>
          </a:p>
          <a:p>
            <a:pPr algn="l">
              <a:spcAft>
                <a:spcPts val="0"/>
              </a:spcAft>
              <a:buNone/>
            </a:pPr>
            <a:r>
              <a:rPr lang="en-US" sz="1800" b="0" i="0" dirty="0">
                <a:solidFill>
                  <a:srgbClr val="001C42"/>
                </a:solidFill>
                <a:latin typeface="Open Sauce"/>
                <a:ea typeface="Open Sauce"/>
                <a:cs typeface="Open Sauce"/>
              </a:rPr>
              <a:t>A small change to malicious traffic makes the model label it benign.</a:t>
            </a:r>
          </a:p>
        </p:txBody>
      </p:sp>
      <p:sp>
        <p:nvSpPr>
          <p:cNvPr id="187" name="Term 187"/>
          <p:cNvSpPr/>
          <p:nvPr/>
        </p:nvSpPr>
        <p:spPr>
          <a:xfrm>
            <a:off x="13441680" y="7315200"/>
            <a:ext cx="3840480" cy="2194560"/>
          </a:xfrm>
          <a:prstGeom prst="roundRect">
            <a:avLst>
              <a:gd name="adj" fmla="val 10000"/>
            </a:avLst>
          </a:prstGeom>
          <a:solidFill>
            <a:srgbClr val="FFFFFF">
              <a:alpha val="74000"/>
            </a:srgbClr>
          </a:solidFill>
          <a:ln w="19050">
            <a:gradFill>
              <a:gsLst>
                <a:gs pos="0">
                  <a:srgbClr val="0057FF"/>
                </a:gs>
                <a:gs pos="100000">
                  <a:srgbClr val="001C42"/>
                </a:gs>
              </a:gsLst>
              <a:lin ang="2700000"/>
            </a:gradFill>
          </a:ln>
        </p:spPr>
        <p:txBody>
          <a:bodyPr wrap="square" lIns="274320" tIns="228600" rIns="228600" bIns="137160" rtlCol="0" anchor="t">
            <a:noAutofit/>
          </a:bodyPr>
          <a:lstStyle/>
          <a:p>
            <a:pPr algn="l">
              <a:spcAft>
                <a:spcPts val="600"/>
              </a:spcAft>
              <a:buNone/>
            </a:pPr>
            <a:r>
              <a:rPr lang="en-US" sz="2300" b="1" i="0" dirty="0">
                <a:gradFill>
                  <a:gsLst>
                    <a:gs pos="0">
                      <a:srgbClr val="0057FF"/>
                    </a:gs>
                    <a:gs pos="100000">
                      <a:srgbClr val="001C42"/>
                    </a:gs>
                  </a:gsLst>
                  <a:lin ang="2700000"/>
                </a:gradFill>
                <a:latin typeface="Open Sauce"/>
                <a:ea typeface="Open Sauce"/>
                <a:cs typeface="Open Sauce"/>
              </a:rPr>
              <a:t>Model tampering</a:t>
            </a:r>
          </a:p>
          <a:p>
            <a:pPr algn="l">
              <a:spcAft>
                <a:spcPts val="0"/>
              </a:spcAft>
              <a:buNone/>
            </a:pPr>
            <a:r>
              <a:rPr lang="en-US" sz="1800" b="0" i="0" dirty="0">
                <a:solidFill>
                  <a:srgbClr val="001C42"/>
                </a:solidFill>
                <a:latin typeface="Open Sauce"/>
                <a:ea typeface="Open Sauce"/>
                <a:cs typeface="Open Sauce"/>
              </a:rPr>
              <a:t>An unauthorized change to the model file or its update.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BBBBBB">
                <a:alpha val="100000"/>
              </a:srgbClr>
            </a:gs>
          </a:gsLst>
          <a:lin ang="2700000"/>
        </a:gradFill>
        <a:effectLst/>
      </p:bgPr>
    </p:bg>
    <p:spTree>
      <p:nvGrpSpPr>
        <p:cNvPr id="1" name=""/>
        <p:cNvGrpSpPr/>
        <p:nvPr/>
      </p:nvGrpSpPr>
      <p:grpSpPr>
        <a:xfrm>
          <a:off x="0" y="0"/>
          <a:ext cx="0" cy="0"/>
          <a:chOff x="0" y="0"/>
          <a:chExt cx="0" cy="0"/>
        </a:xfrm>
      </p:grpSpPr>
      <p:sp>
        <p:nvSpPr>
          <p:cNvPr id="17" name="Freeform 17"/>
          <p:cNvSpPr/>
          <p:nvPr/>
        </p:nvSpPr>
        <p:spPr>
          <a:xfrm>
            <a:off x="-9554138" y="2164352"/>
            <a:ext cx="19108277" cy="14187896"/>
          </a:xfrm>
          <a:custGeom>
            <a:avLst/>
            <a:gdLst/>
            <a:ahLst/>
            <a:cxnLst/>
            <a:rect l="l" t="t" r="r" b="b"/>
            <a:pathLst>
              <a:path w="19108277" h="14187896">
                <a:moveTo>
                  <a:pt x="0" y="0"/>
                </a:moveTo>
                <a:lnTo>
                  <a:pt x="19108276" y="0"/>
                </a:lnTo>
                <a:lnTo>
                  <a:pt x="19108276" y="14187896"/>
                </a:lnTo>
                <a:lnTo>
                  <a:pt x="0" y="14187896"/>
                </a:lnTo>
                <a:lnTo>
                  <a:pt x="0" y="0"/>
                </a:lnTo>
                <a:close/>
              </a:path>
            </a:pathLst>
          </a:custGeom>
          <a:blipFill>
            <a:blip r:embed="rId2"/>
            <a:stretch>
              <a:fillRect/>
            </a:stretch>
          </a:blipFill>
        </p:spPr>
      </p:sp>
      <p:sp>
        <p:nvSpPr>
          <p:cNvPr id="26" name="Freeform 26"/>
          <p:cNvSpPr/>
          <p:nvPr/>
        </p:nvSpPr>
        <p:spPr>
          <a:xfrm>
            <a:off x="16343296" y="177703"/>
            <a:ext cx="1832007" cy="850997"/>
          </a:xfrm>
          <a:custGeom>
            <a:avLst/>
            <a:gdLst/>
            <a:ahLst/>
            <a:cxnLst/>
            <a:rect l="l" t="t" r="r" b="b"/>
            <a:pathLst>
              <a:path w="1832007" h="850997">
                <a:moveTo>
                  <a:pt x="0" y="0"/>
                </a:moveTo>
                <a:lnTo>
                  <a:pt x="1832008" y="0"/>
                </a:lnTo>
                <a:lnTo>
                  <a:pt x="1832008" y="850997"/>
                </a:lnTo>
                <a:lnTo>
                  <a:pt x="0" y="850997"/>
                </a:lnTo>
                <a:lnTo>
                  <a:pt x="0" y="0"/>
                </a:lnTo>
                <a:close/>
              </a:path>
            </a:pathLst>
          </a:custGeom>
          <a:blipFill>
            <a:blip r:embed="rId3"/>
            <a:stretch>
              <a:fillRect/>
            </a:stretch>
          </a:blipFill>
        </p:spPr>
      </p:sp>
      <p:sp>
        <p:nvSpPr>
          <p:cNvPr id="188" name="Title 188"/>
          <p:cNvSpPr txBox="1"/>
          <p:nvPr/>
        </p:nvSpPr>
        <p:spPr>
          <a:xfrm>
            <a:off x="1005840" y="365760"/>
            <a:ext cx="14538960" cy="1280160"/>
          </a:xfrm>
          <a:prstGeom prst="rect">
            <a:avLst/>
          </a:prstGeom>
          <a:noFill/>
          <a:ln>
            <a:noFill/>
          </a:ln>
        </p:spPr>
        <p:txBody>
          <a:bodyPr wrap="square" lIns="0" tIns="0" rIns="0" bIns="0" rtlCol="0" anchor="ctr">
            <a:noAutofit/>
          </a:bodyPr>
          <a:lstStyle/>
          <a:p>
            <a:pPr algn="l">
              <a:spcAft>
                <a:spcPts val="0"/>
              </a:spcAft>
              <a:buNone/>
            </a:pPr>
            <a:r>
              <a:rPr lang="en-US" sz="5600" b="0" i="0" dirty="0">
                <a:gradFill>
                  <a:gsLst>
                    <a:gs pos="0">
                      <a:srgbClr val="0057FF"/>
                    </a:gs>
                    <a:gs pos="100000">
                      <a:srgbClr val="001C42"/>
                    </a:gs>
                  </a:gsLst>
                  <a:lin ang="2700000"/>
                </a:gradFill>
                <a:latin typeface="Intro"/>
                <a:ea typeface="Intro"/>
                <a:cs typeface="Intro"/>
              </a:rPr>
              <a:t>Literature Survey</a:t>
            </a:r>
          </a:p>
        </p:txBody>
      </p:sp>
      <p:graphicFrame>
        <p:nvGraphicFramePr>
          <p:cNvPr id="189" name="Table 189"/>
          <p:cNvGraphicFramePr>
            <a:graphicFrameLocks noGrp="1"/>
          </p:cNvGraphicFramePr>
          <p:nvPr/>
        </p:nvGraphicFramePr>
        <p:xfrm>
          <a:off x="1005840" y="1783080"/>
          <a:ext cx="16276320" cy="6733032"/>
        </p:xfrm>
        <a:graphic>
          <a:graphicData uri="http://schemas.openxmlformats.org/drawingml/2006/table">
            <a:tbl>
              <a:tblPr firstRow="1"/>
              <a:tblGrid>
                <a:gridCol w="329184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gridCol w="4389120">
                  <a:extLst>
                    <a:ext uri="{9D8B030D-6E8A-4147-A177-3AD203B41FA5}">
                      <a16:colId xmlns:a16="http://schemas.microsoft.com/office/drawing/2014/main" val="20003"/>
                    </a:ext>
                  </a:extLst>
                </a:gridCol>
              </a:tblGrid>
              <a:tr h="640080">
                <a:tc>
                  <a:txBody>
                    <a:bodyPr/>
                    <a:lstStyle/>
                    <a:p>
                      <a:pPr algn="ctr">
                        <a:spcAft>
                          <a:spcPts val="0"/>
                        </a:spcAft>
                        <a:buNone/>
                      </a:pPr>
                      <a:r>
                        <a:rPr lang="en-US" sz="1900" b="1" i="0" dirty="0">
                          <a:solidFill>
                            <a:srgbClr val="FFFFFF"/>
                          </a:solidFill>
                          <a:latin typeface="Open Sauce"/>
                          <a:ea typeface="Open Sauce"/>
                          <a:cs typeface="Open Sauce"/>
                        </a:rPr>
                        <a:t>PAPER DETAILS</a:t>
                      </a:r>
                    </a:p>
                  </a:txBody>
                  <a:tcPr marL="137160" marR="137160" marT="109728" marB="109728" anchor="ctr">
                    <a:lnL w="12700">
                      <a:solidFill>
                        <a:srgbClr val="9DB9F2"/>
                      </a:solidFill>
                    </a:lnL>
                    <a:lnR w="12700">
                      <a:solidFill>
                        <a:srgbClr val="9DB9F2"/>
                      </a:solidFill>
                    </a:lnR>
                    <a:lnT w="12700">
                      <a:solidFill>
                        <a:srgbClr val="9DB9F2"/>
                      </a:solidFill>
                    </a:lnT>
                    <a:lnB w="12700">
                      <a:solidFill>
                        <a:srgbClr val="9DB9F2"/>
                      </a:solidFill>
                    </a:lnB>
                    <a:solidFill>
                      <a:srgbClr val="0057FF"/>
                    </a:solidFill>
                  </a:tcPr>
                </a:tc>
                <a:tc>
                  <a:txBody>
                    <a:bodyPr/>
                    <a:lstStyle/>
                    <a:p>
                      <a:pPr algn="ctr">
                        <a:spcAft>
                          <a:spcPts val="0"/>
                        </a:spcAft>
                        <a:buNone/>
                      </a:pPr>
                      <a:r>
                        <a:rPr lang="en-US" sz="1900" b="1" i="0" dirty="0">
                          <a:solidFill>
                            <a:srgbClr val="FFFFFF"/>
                          </a:solidFill>
                          <a:latin typeface="Open Sauce"/>
                          <a:ea typeface="Open Sauce"/>
                          <a:cs typeface="Open Sauce"/>
                        </a:rPr>
                        <a:t>OBJECTIVE / TECHNIQUE / MODEL</a:t>
                      </a:r>
                    </a:p>
                  </a:txBody>
                  <a:tcPr marL="137160" marR="137160" marT="109728" marB="109728" anchor="ctr">
                    <a:lnL w="12700">
                      <a:solidFill>
                        <a:srgbClr val="9DB9F2"/>
                      </a:solidFill>
                    </a:lnL>
                    <a:lnR w="12700">
                      <a:solidFill>
                        <a:srgbClr val="9DB9F2"/>
                      </a:solidFill>
                    </a:lnR>
                    <a:lnT w="12700">
                      <a:solidFill>
                        <a:srgbClr val="9DB9F2"/>
                      </a:solidFill>
                    </a:lnT>
                    <a:lnB w="12700">
                      <a:solidFill>
                        <a:srgbClr val="9DB9F2"/>
                      </a:solidFill>
                    </a:lnB>
                    <a:solidFill>
                      <a:srgbClr val="0057FF"/>
                    </a:solidFill>
                  </a:tcPr>
                </a:tc>
                <a:tc>
                  <a:txBody>
                    <a:bodyPr/>
                    <a:lstStyle/>
                    <a:p>
                      <a:pPr algn="ctr">
                        <a:spcAft>
                          <a:spcPts val="0"/>
                        </a:spcAft>
                        <a:buNone/>
                      </a:pPr>
                      <a:r>
                        <a:rPr lang="en-US" sz="1900" b="1" i="0" dirty="0">
                          <a:solidFill>
                            <a:srgbClr val="FFFFFF"/>
                          </a:solidFill>
                          <a:latin typeface="Open Sauce"/>
                          <a:ea typeface="Open Sauce"/>
                          <a:cs typeface="Open Sauce"/>
                        </a:rPr>
                        <a:t>ADVANTAGES</a:t>
                      </a:r>
                    </a:p>
                  </a:txBody>
                  <a:tcPr marL="137160" marR="137160" marT="109728" marB="109728" anchor="ctr">
                    <a:lnL w="12700">
                      <a:solidFill>
                        <a:srgbClr val="9DB9F2"/>
                      </a:solidFill>
                    </a:lnL>
                    <a:lnR w="12700">
                      <a:solidFill>
                        <a:srgbClr val="9DB9F2"/>
                      </a:solidFill>
                    </a:lnR>
                    <a:lnT w="12700">
                      <a:solidFill>
                        <a:srgbClr val="9DB9F2"/>
                      </a:solidFill>
                    </a:lnT>
                    <a:lnB w="12700">
                      <a:solidFill>
                        <a:srgbClr val="9DB9F2"/>
                      </a:solidFill>
                    </a:lnB>
                    <a:solidFill>
                      <a:srgbClr val="0057FF"/>
                    </a:solidFill>
                  </a:tcPr>
                </a:tc>
                <a:tc>
                  <a:txBody>
                    <a:bodyPr/>
                    <a:lstStyle/>
                    <a:p>
                      <a:pPr algn="ctr">
                        <a:spcAft>
                          <a:spcPts val="0"/>
                        </a:spcAft>
                        <a:buNone/>
                      </a:pPr>
                      <a:r>
                        <a:rPr lang="en-US" sz="1900" b="1" i="0" dirty="0">
                          <a:solidFill>
                            <a:srgbClr val="FFFFFF"/>
                          </a:solidFill>
                          <a:latin typeface="Open Sauce"/>
                          <a:ea typeface="Open Sauce"/>
                          <a:cs typeface="Open Sauce"/>
                        </a:rPr>
                        <a:t>LIMITATIONS</a:t>
                      </a:r>
                    </a:p>
                  </a:txBody>
                  <a:tcPr marL="137160" marR="137160" marT="109728" marB="109728" anchor="ctr">
                    <a:lnL w="12700">
                      <a:solidFill>
                        <a:srgbClr val="9DB9F2"/>
                      </a:solidFill>
                    </a:lnL>
                    <a:lnR w="12700">
                      <a:solidFill>
                        <a:srgbClr val="9DB9F2"/>
                      </a:solidFill>
                    </a:lnR>
                    <a:lnT w="12700">
                      <a:solidFill>
                        <a:srgbClr val="9DB9F2"/>
                      </a:solidFill>
                    </a:lnT>
                    <a:lnB w="12700">
                      <a:solidFill>
                        <a:srgbClr val="9DB9F2"/>
                      </a:solidFill>
                    </a:lnB>
                    <a:solidFill>
                      <a:srgbClr val="0057FF"/>
                    </a:solidFill>
                  </a:tcPr>
                </a:tc>
                <a:extLst>
                  <a:ext uri="{0D108BD9-81ED-4DB2-BD59-A6C34878D82A}">
                    <a16:rowId xmlns:a16="http://schemas.microsoft.com/office/drawing/2014/main" val="10000"/>
                  </a:ext>
                </a:extLst>
              </a:tr>
              <a:tr h="5232400">
                <a:tc>
                  <a:txBody>
                    <a:bodyPr/>
                    <a:lstStyle/>
                    <a:p>
                      <a:pPr algn="l">
                        <a:spcAft>
                          <a:spcPts val="600"/>
                        </a:spcAft>
                        <a:buNone/>
                      </a:pPr>
                      <a:r>
                        <a:rPr lang="en-US" sz="2000" b="1" i="0" dirty="0">
                          <a:solidFill>
                            <a:srgbClr val="001C42"/>
                          </a:solidFill>
                          <a:latin typeface="Open Sauce"/>
                          <a:ea typeface="Open Sauce"/>
                          <a:cs typeface="Open Sauce"/>
                        </a:rPr>
                        <a:t>SECURE MACHINE LEARNING ARCHITECTURES FOR EDGE-BASED IOT SYSTEMS: THREAT MODELS, VULNERABILITIES, AND MITIGATION STRATEGIES</a:t>
                      </a:r>
                    </a:p>
                    <a:p>
                      <a:pPr algn="l">
                        <a:spcAft>
                          <a:spcPts val="600"/>
                        </a:spcAft>
                        <a:buNone/>
                      </a:pPr>
                      <a:r>
                        <a:rPr lang="en-US" sz="2000" b="1" i="0" dirty="0">
                          <a:solidFill>
                            <a:srgbClr val="0057FF"/>
                          </a:solidFill>
                          <a:latin typeface="Open Sauce"/>
                          <a:ea typeface="Open Sauce"/>
                          <a:cs typeface="Open Sauce"/>
                        </a:rPr>
                        <a:t>Author: </a:t>
                      </a:r>
                      <a:r>
                        <a:rPr lang="en-US" sz="2000" b="0" i="0" dirty="0">
                          <a:solidFill>
                            <a:srgbClr val="001C42"/>
                          </a:solidFill>
                          <a:latin typeface="Open Sauce"/>
                          <a:ea typeface="Open Sauce"/>
                          <a:cs typeface="Open Sauce"/>
                        </a:rPr>
                        <a:t>Evans Addo, Northeastern University</a:t>
                      </a:r>
                    </a:p>
                    <a:p>
                      <a:pPr algn="l">
                        <a:spcAft>
                          <a:spcPts val="600"/>
                        </a:spcAft>
                        <a:buNone/>
                      </a:pPr>
                      <a:r>
                        <a:rPr lang="en-US" sz="2000" b="1" i="0" dirty="0">
                          <a:solidFill>
                            <a:srgbClr val="0057FF"/>
                          </a:solidFill>
                          <a:latin typeface="Open Sauce"/>
                          <a:ea typeface="Open Sauce"/>
                          <a:cs typeface="Open Sauce"/>
                        </a:rPr>
                        <a:t>Venue: </a:t>
                      </a:r>
                      <a:r>
                        <a:rPr lang="en-US" sz="2000" b="0" i="0" dirty="0">
                          <a:solidFill>
                            <a:srgbClr val="001C42"/>
                          </a:solidFill>
                          <a:latin typeface="Open Sauce"/>
                          <a:ea typeface="Open Sauce"/>
                          <a:cs typeface="Open Sauce"/>
                        </a:rPr>
                        <a:t>IJFMR, Vol. 8, Issue 2, Mar–Apr 2026</a:t>
                      </a:r>
                    </a:p>
                  </a:txBody>
                  <a:tcPr marL="137160" marR="137160" marT="109728" marB="109728">
                    <a:lnL w="12700">
                      <a:solidFill>
                        <a:srgbClr val="9DB9F2"/>
                      </a:solidFill>
                    </a:lnL>
                    <a:lnR w="12700">
                      <a:solidFill>
                        <a:srgbClr val="9DB9F2"/>
                      </a:solidFill>
                    </a:lnR>
                    <a:lnT w="12700">
                      <a:solidFill>
                        <a:srgbClr val="9DB9F2"/>
                      </a:solidFill>
                    </a:lnT>
                    <a:lnB w="12700">
                      <a:solidFill>
                        <a:srgbClr val="9DB9F2"/>
                      </a:solidFill>
                    </a:lnB>
                    <a:solidFill>
                      <a:srgbClr val="EAF1FF"/>
                    </a:solidFill>
                  </a:tcPr>
                </a:tc>
                <a:tc>
                  <a:txBody>
                    <a:bodyPr/>
                    <a:lstStyle/>
                    <a:p>
                      <a:pPr algn="l">
                        <a:spcAft>
                          <a:spcPts val="600"/>
                        </a:spcAft>
                        <a:buNone/>
                      </a:pPr>
                      <a:r>
                        <a:rPr lang="en-US" sz="2000" b="0" i="0" dirty="0">
                          <a:solidFill>
                            <a:srgbClr val="001C42"/>
                          </a:solidFill>
                          <a:latin typeface="Open Sauce"/>
                          <a:ea typeface="Open Sauce"/>
                          <a:cs typeface="Open Sauce"/>
                        </a:rPr>
                        <a:t>Reviews the security of ML models deployed directly on edge IoT devices and unifies adversarial ML, federated learning security, supply-chain protection and governance in one threat landscape. Threats cover inference-time evasion, training-time poisoning, backdoors, model replacement, and compromise of model integrity through the AI supply chain and OTA update pipelines. Proposes multi-layered defenses across the model lifecycle.</a:t>
                      </a:r>
                    </a:p>
                  </a:txBody>
                  <a:tcPr marL="137160" marR="137160" marT="109728" marB="109728">
                    <a:lnL w="12700">
                      <a:solidFill>
                        <a:srgbClr val="9DB9F2"/>
                      </a:solidFill>
                    </a:lnL>
                    <a:lnR w="12700">
                      <a:solidFill>
                        <a:srgbClr val="9DB9F2"/>
                      </a:solidFill>
                    </a:lnR>
                    <a:lnT w="12700">
                      <a:solidFill>
                        <a:srgbClr val="9DB9F2"/>
                      </a:solidFill>
                    </a:lnT>
                    <a:lnB w="12700">
                      <a:solidFill>
                        <a:srgbClr val="9DB9F2"/>
                      </a:solidFill>
                    </a:lnB>
                    <a:solidFill>
                      <a:srgbClr val="FFFFFF"/>
                    </a:solidFill>
                  </a:tcPr>
                </a:tc>
                <a:tc>
                  <a:txBody>
                    <a:bodyPr/>
                    <a:lstStyle/>
                    <a:p>
                      <a:pPr marL="342900" indent="-342900" algn="l">
                        <a:spcAft>
                          <a:spcPts val="600"/>
                        </a:spcAft>
                        <a:buFont typeface="Arial"/>
                        <a:buChar char="•"/>
                      </a:pPr>
                      <a:r>
                        <a:rPr lang="en-US" sz="2000" b="1" i="0" dirty="0">
                          <a:solidFill>
                            <a:srgbClr val="0057FF"/>
                          </a:solidFill>
                          <a:latin typeface="Open Sauce"/>
                          <a:ea typeface="Open Sauce"/>
                          <a:cs typeface="Open Sauce"/>
                        </a:rPr>
                        <a:t>Dual-threat basis: </a:t>
                      </a:r>
                      <a:r>
                        <a:rPr lang="en-US" sz="2000" b="0" i="0" dirty="0">
                          <a:solidFill>
                            <a:srgbClr val="001C42"/>
                          </a:solidFill>
                          <a:latin typeface="Open Sauce"/>
                          <a:ea typeface="Open Sauce"/>
                          <a:cs typeface="Open Sauce"/>
                        </a:rPr>
                        <a:t>separates inference-time evasion from model-artifact / OTA tampering</a:t>
                      </a:r>
                    </a:p>
                    <a:p>
                      <a:pPr marL="342900" indent="-342900" algn="l">
                        <a:spcAft>
                          <a:spcPts val="600"/>
                        </a:spcAft>
                        <a:buFont typeface="Arial"/>
                        <a:buChar char="•"/>
                      </a:pPr>
                      <a:r>
                        <a:rPr lang="en-US" sz="2000" b="1" i="0" dirty="0">
                          <a:solidFill>
                            <a:srgbClr val="0057FF"/>
                          </a:solidFill>
                          <a:latin typeface="Open Sauce"/>
                          <a:ea typeface="Open Sauce"/>
                          <a:cs typeface="Open Sauce"/>
                        </a:rPr>
                        <a:t>Lifecycle view: </a:t>
                      </a:r>
                      <a:r>
                        <a:rPr lang="en-US" sz="2000" b="0" i="0" dirty="0">
                          <a:solidFill>
                            <a:srgbClr val="001C42"/>
                          </a:solidFill>
                          <a:latin typeface="Open Sauce"/>
                          <a:ea typeface="Open Sauce"/>
                          <a:cs typeface="Open Sauce"/>
                        </a:rPr>
                        <a:t>covers data collection, development, deployment, maintenance and retraining</a:t>
                      </a:r>
                    </a:p>
                    <a:p>
                      <a:pPr marL="342900" indent="-342900" algn="l">
                        <a:spcAft>
                          <a:spcPts val="600"/>
                        </a:spcAft>
                        <a:buFont typeface="Arial"/>
                        <a:buChar char="•"/>
                      </a:pPr>
                      <a:r>
                        <a:rPr lang="en-US" sz="2000" b="1" i="0" dirty="0">
                          <a:solidFill>
                            <a:srgbClr val="0057FF"/>
                          </a:solidFill>
                          <a:latin typeface="Open Sauce"/>
                          <a:ea typeface="Open Sauce"/>
                          <a:cs typeface="Open Sauce"/>
                        </a:rPr>
                        <a:t>Multi-layered defenses: </a:t>
                      </a:r>
                      <a:r>
                        <a:rPr lang="en-US" sz="2000" b="0" i="0" dirty="0">
                          <a:solidFill>
                            <a:srgbClr val="001C42"/>
                          </a:solidFill>
                          <a:latin typeface="Open Sauce"/>
                          <a:ea typeface="Open Sauce"/>
                          <a:cs typeface="Open Sauce"/>
                        </a:rPr>
                        <a:t>adversarial training, secure firmware updates, provenance, zero-trust deployment, hardware security modules</a:t>
                      </a:r>
                    </a:p>
                    <a:p>
                      <a:pPr marL="342900" indent="-342900" algn="l">
                        <a:spcAft>
                          <a:spcPts val="600"/>
                        </a:spcAft>
                        <a:buFont typeface="Arial"/>
                        <a:buChar char="•"/>
                      </a:pPr>
                      <a:r>
                        <a:rPr lang="en-US" sz="2000" b="1" i="0" dirty="0">
                          <a:solidFill>
                            <a:srgbClr val="0057FF"/>
                          </a:solidFill>
                          <a:latin typeface="Open Sauce"/>
                          <a:ea typeface="Open Sauce"/>
                          <a:cs typeface="Open Sauce"/>
                        </a:rPr>
                        <a:t>Edge-aware: </a:t>
                      </a:r>
                      <a:r>
                        <a:rPr lang="en-US" sz="2000" b="0" i="0" dirty="0">
                          <a:solidFill>
                            <a:srgbClr val="001C42"/>
                          </a:solidFill>
                          <a:latin typeface="Open Sauce"/>
                          <a:ea typeface="Open Sauce"/>
                          <a:cs typeface="Open Sauce"/>
                        </a:rPr>
                        <a:t>stresses lightweight authentication and gateway offloading of heavy crypto</a:t>
                      </a:r>
                    </a:p>
                  </a:txBody>
                  <a:tcPr marL="137160" marR="137160" marT="109728" marB="109728">
                    <a:lnL w="12700">
                      <a:solidFill>
                        <a:srgbClr val="9DB9F2"/>
                      </a:solidFill>
                    </a:lnL>
                    <a:lnR w="12700">
                      <a:solidFill>
                        <a:srgbClr val="9DB9F2"/>
                      </a:solidFill>
                    </a:lnR>
                    <a:lnT w="12700">
                      <a:solidFill>
                        <a:srgbClr val="9DB9F2"/>
                      </a:solidFill>
                    </a:lnT>
                    <a:lnB w="12700">
                      <a:solidFill>
                        <a:srgbClr val="9DB9F2"/>
                      </a:solidFill>
                    </a:lnB>
                    <a:solidFill>
                      <a:srgbClr val="FFFFFF"/>
                    </a:solidFill>
                  </a:tcPr>
                </a:tc>
                <a:tc>
                  <a:txBody>
                    <a:bodyPr/>
                    <a:lstStyle/>
                    <a:p>
                      <a:pPr marL="342900" indent="-342900" algn="l">
                        <a:spcAft>
                          <a:spcPts val="600"/>
                        </a:spcAft>
                        <a:buFont typeface="Arial"/>
                        <a:buChar char="•"/>
                      </a:pPr>
                      <a:r>
                        <a:rPr lang="en-US" sz="2000" b="1" i="0" dirty="0">
                          <a:solidFill>
                            <a:srgbClr val="0057FF"/>
                          </a:solidFill>
                          <a:latin typeface="Open Sauce"/>
                          <a:ea typeface="Open Sauce"/>
                          <a:cs typeface="Open Sauce"/>
                        </a:rPr>
                        <a:t>Core gap: </a:t>
                      </a:r>
                      <a:r>
                        <a:rPr lang="en-US" sz="2000" b="0" i="0" dirty="0">
                          <a:solidFill>
                            <a:srgbClr val="001C42"/>
                          </a:solidFill>
                          <a:latin typeface="Open Sauce"/>
                          <a:ea typeface="Open Sauce"/>
                          <a:cs typeface="Open Sauce"/>
                        </a:rPr>
                        <a:t>robustness and deployment/integrity protection are studied independently, rarely combined under edge constraints</a:t>
                      </a:r>
                    </a:p>
                    <a:p>
                      <a:pPr marL="342900" indent="-342900" algn="l">
                        <a:spcAft>
                          <a:spcPts val="600"/>
                        </a:spcAft>
                        <a:buFont typeface="Arial"/>
                        <a:buChar char="•"/>
                      </a:pPr>
                      <a:r>
                        <a:rPr lang="en-US" sz="2000" b="1" i="0" dirty="0">
                          <a:solidFill>
                            <a:srgbClr val="0057FF"/>
                          </a:solidFill>
                          <a:latin typeface="Open Sauce"/>
                          <a:ea typeface="Open Sauce"/>
                          <a:cs typeface="Open Sauce"/>
                        </a:rPr>
                        <a:t>Resource assumption: </a:t>
                      </a:r>
                      <a:r>
                        <a:rPr lang="en-US" sz="2000" b="0" i="0" dirty="0">
                          <a:solidFill>
                            <a:srgbClr val="001C42"/>
                          </a:solidFill>
                          <a:latin typeface="Open Sauce"/>
                          <a:ea typeface="Open Sauce"/>
                          <a:cs typeface="Open Sauce"/>
                        </a:rPr>
                        <a:t>most proposed defenses assume compute unavailable on real edge IoT hardware</a:t>
                      </a:r>
                    </a:p>
                    <a:p>
                      <a:pPr marL="342900" indent="-342900" algn="l">
                        <a:spcAft>
                          <a:spcPts val="600"/>
                        </a:spcAft>
                        <a:buFont typeface="Arial"/>
                        <a:buChar char="•"/>
                      </a:pPr>
                      <a:r>
                        <a:rPr lang="en-US" sz="2000" b="1" i="0" dirty="0">
                          <a:solidFill>
                            <a:srgbClr val="0057FF"/>
                          </a:solidFill>
                          <a:latin typeface="Open Sauce"/>
                          <a:ea typeface="Open Sauce"/>
                          <a:cs typeface="Open Sauce"/>
                        </a:rPr>
                        <a:t>Review paper: </a:t>
                      </a:r>
                      <a:r>
                        <a:rPr lang="en-US" sz="2000" b="0" i="0" dirty="0">
                          <a:solidFill>
                            <a:srgbClr val="001C42"/>
                          </a:solidFill>
                          <a:latin typeface="Open Sauce"/>
                          <a:ea typeface="Open Sauce"/>
                          <a:cs typeface="Open Sauce"/>
                        </a:rPr>
                        <a:t>synthesizes prior work and does not implement or benchmark a defense</a:t>
                      </a:r>
                    </a:p>
                    <a:p>
                      <a:pPr marL="342900" indent="-342900" algn="l">
                        <a:spcAft>
                          <a:spcPts val="600"/>
                        </a:spcAft>
                        <a:buFont typeface="Arial"/>
                        <a:buChar char="•"/>
                      </a:pPr>
                      <a:r>
                        <a:rPr lang="en-US" sz="2000" b="1" i="0" dirty="0">
                          <a:solidFill>
                            <a:srgbClr val="0057FF"/>
                          </a:solidFill>
                          <a:latin typeface="Open Sauce"/>
                          <a:ea typeface="Open Sauce"/>
                          <a:cs typeface="Open Sauce"/>
                        </a:rPr>
                        <a:t>Standards: </a:t>
                      </a:r>
                      <a:r>
                        <a:rPr lang="en-US" sz="2000" b="0" i="0" dirty="0">
                          <a:solidFill>
                            <a:srgbClr val="001C42"/>
                          </a:solidFill>
                          <a:latin typeface="Open Sauce"/>
                          <a:ea typeface="Open Sauce"/>
                          <a:cs typeface="Open Sauce"/>
                        </a:rPr>
                        <a:t>no standardized safety requirements for edge ML deployment pipelines</a:t>
                      </a:r>
                    </a:p>
                  </a:txBody>
                  <a:tcPr marL="137160" marR="137160" marT="109728" marB="109728">
                    <a:lnL w="12700">
                      <a:solidFill>
                        <a:srgbClr val="9DB9F2"/>
                      </a:solidFill>
                    </a:lnL>
                    <a:lnR w="12700">
                      <a:solidFill>
                        <a:srgbClr val="9DB9F2"/>
                      </a:solidFill>
                    </a:lnR>
                    <a:lnT w="12700">
                      <a:solidFill>
                        <a:srgbClr val="9DB9F2"/>
                      </a:solidFill>
                    </a:lnT>
                    <a:lnB w="12700">
                      <a:solidFill>
                        <a:srgbClr val="9DB9F2"/>
                      </a:solidFill>
                    </a:lnB>
                    <a:solidFill>
                      <a:srgbClr val="FFFFFF"/>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BBBBBB">
                <a:alpha val="100000"/>
              </a:srgbClr>
            </a:gs>
          </a:gsLst>
          <a:lin ang="2700000"/>
        </a:gradFill>
        <a:effectLst/>
      </p:bgPr>
    </p:bg>
    <p:spTree>
      <p:nvGrpSpPr>
        <p:cNvPr id="1" name=""/>
        <p:cNvGrpSpPr/>
        <p:nvPr/>
      </p:nvGrpSpPr>
      <p:grpSpPr>
        <a:xfrm>
          <a:off x="0" y="0"/>
          <a:ext cx="0" cy="0"/>
          <a:chOff x="0" y="0"/>
          <a:chExt cx="0" cy="0"/>
        </a:xfrm>
      </p:grpSpPr>
      <p:sp>
        <p:nvSpPr>
          <p:cNvPr id="18" name="Freeform 18"/>
          <p:cNvSpPr/>
          <p:nvPr/>
        </p:nvSpPr>
        <p:spPr>
          <a:xfrm rot="4278348" flipH="1">
            <a:off x="9820102" y="-77655"/>
            <a:ext cx="13285086" cy="8203541"/>
          </a:xfrm>
          <a:custGeom>
            <a:avLst/>
            <a:gdLst/>
            <a:ahLst/>
            <a:cxnLst/>
            <a:rect l="l" t="t" r="r" b="b"/>
            <a:pathLst>
              <a:path w="13285086" h="8203541">
                <a:moveTo>
                  <a:pt x="13285087" y="0"/>
                </a:moveTo>
                <a:lnTo>
                  <a:pt x="0" y="0"/>
                </a:lnTo>
                <a:lnTo>
                  <a:pt x="0" y="8203541"/>
                </a:lnTo>
                <a:lnTo>
                  <a:pt x="13285087" y="8203541"/>
                </a:lnTo>
                <a:lnTo>
                  <a:pt x="13285087" y="0"/>
                </a:lnTo>
                <a:close/>
              </a:path>
            </a:pathLst>
          </a:custGeom>
          <a:blipFill>
            <a:blip r:embed="rId2"/>
            <a:stretch>
              <a:fillRect/>
            </a:stretch>
          </a:blipFill>
        </p:spPr>
      </p:sp>
      <p:sp>
        <p:nvSpPr>
          <p:cNvPr id="19" name="Freeform 19"/>
          <p:cNvSpPr/>
          <p:nvPr/>
        </p:nvSpPr>
        <p:spPr>
          <a:xfrm rot="-2429207">
            <a:off x="10047236" y="2855960"/>
            <a:ext cx="12128950" cy="7255317"/>
          </a:xfrm>
          <a:custGeom>
            <a:avLst/>
            <a:gdLst/>
            <a:ahLst/>
            <a:cxnLst/>
            <a:rect l="l" t="t" r="r" b="b"/>
            <a:pathLst>
              <a:path w="12128950" h="7255317">
                <a:moveTo>
                  <a:pt x="0" y="0"/>
                </a:moveTo>
                <a:lnTo>
                  <a:pt x="12128950" y="0"/>
                </a:lnTo>
                <a:lnTo>
                  <a:pt x="12128950" y="7255318"/>
                </a:lnTo>
                <a:lnTo>
                  <a:pt x="0" y="7255318"/>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20" name="Freeform 20"/>
          <p:cNvSpPr/>
          <p:nvPr/>
        </p:nvSpPr>
        <p:spPr>
          <a:xfrm>
            <a:off x="16343296" y="177703"/>
            <a:ext cx="1832007" cy="850997"/>
          </a:xfrm>
          <a:custGeom>
            <a:avLst/>
            <a:gdLst/>
            <a:ahLst/>
            <a:cxnLst/>
            <a:rect l="l" t="t" r="r" b="b"/>
            <a:pathLst>
              <a:path w="1832007" h="850997">
                <a:moveTo>
                  <a:pt x="0" y="0"/>
                </a:moveTo>
                <a:lnTo>
                  <a:pt x="1832008" y="0"/>
                </a:lnTo>
                <a:lnTo>
                  <a:pt x="1832008" y="850997"/>
                </a:lnTo>
                <a:lnTo>
                  <a:pt x="0" y="850997"/>
                </a:lnTo>
                <a:lnTo>
                  <a:pt x="0" y="0"/>
                </a:lnTo>
                <a:close/>
              </a:path>
            </a:pathLst>
          </a:custGeom>
          <a:blipFill>
            <a:blip r:embed="rId4"/>
            <a:stretch>
              <a:fillRect/>
            </a:stretch>
          </a:blipFill>
        </p:spPr>
      </p:sp>
      <p:sp>
        <p:nvSpPr>
          <p:cNvPr id="190" name="Title 190"/>
          <p:cNvSpPr txBox="1"/>
          <p:nvPr/>
        </p:nvSpPr>
        <p:spPr>
          <a:xfrm>
            <a:off x="1005840" y="365760"/>
            <a:ext cx="14538960" cy="1280160"/>
          </a:xfrm>
          <a:prstGeom prst="rect">
            <a:avLst/>
          </a:prstGeom>
          <a:noFill/>
          <a:ln>
            <a:noFill/>
          </a:ln>
        </p:spPr>
        <p:txBody>
          <a:bodyPr wrap="square" lIns="0" tIns="0" rIns="0" bIns="0" rtlCol="0" anchor="ctr">
            <a:noAutofit/>
          </a:bodyPr>
          <a:lstStyle/>
          <a:p>
            <a:pPr algn="l">
              <a:spcAft>
                <a:spcPts val="0"/>
              </a:spcAft>
              <a:buNone/>
            </a:pPr>
            <a:r>
              <a:rPr lang="en-US" sz="5600" b="0" i="0" dirty="0">
                <a:gradFill>
                  <a:gsLst>
                    <a:gs pos="0">
                      <a:srgbClr val="0057FF"/>
                    </a:gs>
                    <a:gs pos="100000">
                      <a:srgbClr val="001C42"/>
                    </a:gs>
                  </a:gsLst>
                  <a:lin ang="2700000"/>
                </a:gradFill>
                <a:latin typeface="Intro"/>
                <a:ea typeface="Intro"/>
                <a:cs typeface="Intro"/>
              </a:rPr>
              <a:t>Literature Survey</a:t>
            </a:r>
          </a:p>
        </p:txBody>
      </p:sp>
      <p:graphicFrame>
        <p:nvGraphicFramePr>
          <p:cNvPr id="191" name="Table 191"/>
          <p:cNvGraphicFramePr>
            <a:graphicFrameLocks noGrp="1"/>
          </p:cNvGraphicFramePr>
          <p:nvPr/>
        </p:nvGraphicFramePr>
        <p:xfrm>
          <a:off x="1005840" y="1783080"/>
          <a:ext cx="16276320" cy="6428232"/>
        </p:xfrm>
        <a:graphic>
          <a:graphicData uri="http://schemas.openxmlformats.org/drawingml/2006/table">
            <a:tbl>
              <a:tblPr firstRow="1"/>
              <a:tblGrid>
                <a:gridCol w="329184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gridCol w="4389120">
                  <a:extLst>
                    <a:ext uri="{9D8B030D-6E8A-4147-A177-3AD203B41FA5}">
                      <a16:colId xmlns:a16="http://schemas.microsoft.com/office/drawing/2014/main" val="20003"/>
                    </a:ext>
                  </a:extLst>
                </a:gridCol>
              </a:tblGrid>
              <a:tr h="640080">
                <a:tc>
                  <a:txBody>
                    <a:bodyPr/>
                    <a:lstStyle/>
                    <a:p>
                      <a:pPr algn="ctr">
                        <a:spcAft>
                          <a:spcPts val="0"/>
                        </a:spcAft>
                        <a:buNone/>
                      </a:pPr>
                      <a:r>
                        <a:rPr lang="en-US" sz="1900" b="1" i="0" dirty="0">
                          <a:solidFill>
                            <a:srgbClr val="FFFFFF"/>
                          </a:solidFill>
                          <a:latin typeface="Open Sauce"/>
                          <a:ea typeface="Open Sauce"/>
                          <a:cs typeface="Open Sauce"/>
                        </a:rPr>
                        <a:t>PAPER DETAILS</a:t>
                      </a:r>
                    </a:p>
                  </a:txBody>
                  <a:tcPr marL="137160" marR="137160" marT="109728" marB="109728" anchor="ctr">
                    <a:lnL w="12700">
                      <a:solidFill>
                        <a:srgbClr val="9DB9F2"/>
                      </a:solidFill>
                    </a:lnL>
                    <a:lnR w="12700">
                      <a:solidFill>
                        <a:srgbClr val="9DB9F2"/>
                      </a:solidFill>
                    </a:lnR>
                    <a:lnT w="12700">
                      <a:solidFill>
                        <a:srgbClr val="9DB9F2"/>
                      </a:solidFill>
                    </a:lnT>
                    <a:lnB w="12700">
                      <a:solidFill>
                        <a:srgbClr val="9DB9F2"/>
                      </a:solidFill>
                    </a:lnB>
                    <a:solidFill>
                      <a:srgbClr val="0057FF"/>
                    </a:solidFill>
                  </a:tcPr>
                </a:tc>
                <a:tc>
                  <a:txBody>
                    <a:bodyPr/>
                    <a:lstStyle/>
                    <a:p>
                      <a:pPr algn="ctr">
                        <a:spcAft>
                          <a:spcPts val="0"/>
                        </a:spcAft>
                        <a:buNone/>
                      </a:pPr>
                      <a:r>
                        <a:rPr lang="en-US" sz="1900" b="1" i="0" dirty="0">
                          <a:solidFill>
                            <a:srgbClr val="FFFFFF"/>
                          </a:solidFill>
                          <a:latin typeface="Open Sauce"/>
                          <a:ea typeface="Open Sauce"/>
                          <a:cs typeface="Open Sauce"/>
                        </a:rPr>
                        <a:t>OBJECTIVE / TECHNIQUE / MODEL</a:t>
                      </a:r>
                    </a:p>
                  </a:txBody>
                  <a:tcPr marL="137160" marR="137160" marT="109728" marB="109728" anchor="ctr">
                    <a:lnL w="12700">
                      <a:solidFill>
                        <a:srgbClr val="9DB9F2"/>
                      </a:solidFill>
                    </a:lnL>
                    <a:lnR w="12700">
                      <a:solidFill>
                        <a:srgbClr val="9DB9F2"/>
                      </a:solidFill>
                    </a:lnR>
                    <a:lnT w="12700">
                      <a:solidFill>
                        <a:srgbClr val="9DB9F2"/>
                      </a:solidFill>
                    </a:lnT>
                    <a:lnB w="12700">
                      <a:solidFill>
                        <a:srgbClr val="9DB9F2"/>
                      </a:solidFill>
                    </a:lnB>
                    <a:solidFill>
                      <a:srgbClr val="0057FF"/>
                    </a:solidFill>
                  </a:tcPr>
                </a:tc>
                <a:tc>
                  <a:txBody>
                    <a:bodyPr/>
                    <a:lstStyle/>
                    <a:p>
                      <a:pPr algn="ctr">
                        <a:spcAft>
                          <a:spcPts val="0"/>
                        </a:spcAft>
                        <a:buNone/>
                      </a:pPr>
                      <a:r>
                        <a:rPr lang="en-US" sz="1900" b="1" i="0" dirty="0">
                          <a:solidFill>
                            <a:srgbClr val="FFFFFF"/>
                          </a:solidFill>
                          <a:latin typeface="Open Sauce"/>
                          <a:ea typeface="Open Sauce"/>
                          <a:cs typeface="Open Sauce"/>
                        </a:rPr>
                        <a:t>ADVANTAGES</a:t>
                      </a:r>
                    </a:p>
                  </a:txBody>
                  <a:tcPr marL="137160" marR="137160" marT="109728" marB="109728" anchor="ctr">
                    <a:lnL w="12700">
                      <a:solidFill>
                        <a:srgbClr val="9DB9F2"/>
                      </a:solidFill>
                    </a:lnL>
                    <a:lnR w="12700">
                      <a:solidFill>
                        <a:srgbClr val="9DB9F2"/>
                      </a:solidFill>
                    </a:lnR>
                    <a:lnT w="12700">
                      <a:solidFill>
                        <a:srgbClr val="9DB9F2"/>
                      </a:solidFill>
                    </a:lnT>
                    <a:lnB w="12700">
                      <a:solidFill>
                        <a:srgbClr val="9DB9F2"/>
                      </a:solidFill>
                    </a:lnB>
                    <a:solidFill>
                      <a:srgbClr val="0057FF"/>
                    </a:solidFill>
                  </a:tcPr>
                </a:tc>
                <a:tc>
                  <a:txBody>
                    <a:bodyPr/>
                    <a:lstStyle/>
                    <a:p>
                      <a:pPr algn="ctr">
                        <a:spcAft>
                          <a:spcPts val="0"/>
                        </a:spcAft>
                        <a:buNone/>
                      </a:pPr>
                      <a:r>
                        <a:rPr lang="en-US" sz="1900" b="1" i="0" dirty="0">
                          <a:solidFill>
                            <a:srgbClr val="FFFFFF"/>
                          </a:solidFill>
                          <a:latin typeface="Open Sauce"/>
                          <a:ea typeface="Open Sauce"/>
                          <a:cs typeface="Open Sauce"/>
                        </a:rPr>
                        <a:t>LIMITATIONS</a:t>
                      </a:r>
                    </a:p>
                  </a:txBody>
                  <a:tcPr marL="137160" marR="137160" marT="109728" marB="109728" anchor="ctr">
                    <a:lnL w="12700">
                      <a:solidFill>
                        <a:srgbClr val="9DB9F2"/>
                      </a:solidFill>
                    </a:lnL>
                    <a:lnR w="12700">
                      <a:solidFill>
                        <a:srgbClr val="9DB9F2"/>
                      </a:solidFill>
                    </a:lnR>
                    <a:lnT w="12700">
                      <a:solidFill>
                        <a:srgbClr val="9DB9F2"/>
                      </a:solidFill>
                    </a:lnT>
                    <a:lnB w="12700">
                      <a:solidFill>
                        <a:srgbClr val="9DB9F2"/>
                      </a:solidFill>
                    </a:lnB>
                    <a:solidFill>
                      <a:srgbClr val="0057FF"/>
                    </a:solidFill>
                  </a:tcPr>
                </a:tc>
                <a:extLst>
                  <a:ext uri="{0D108BD9-81ED-4DB2-BD59-A6C34878D82A}">
                    <a16:rowId xmlns:a16="http://schemas.microsoft.com/office/drawing/2014/main" val="10000"/>
                  </a:ext>
                </a:extLst>
              </a:tr>
              <a:tr h="5232400">
                <a:tc>
                  <a:txBody>
                    <a:bodyPr/>
                    <a:lstStyle/>
                    <a:p>
                      <a:pPr algn="l">
                        <a:spcAft>
                          <a:spcPts val="600"/>
                        </a:spcAft>
                        <a:buNone/>
                      </a:pPr>
                      <a:r>
                        <a:rPr lang="en-US" sz="2000" b="1" i="0" dirty="0">
                          <a:solidFill>
                            <a:srgbClr val="001C42"/>
                          </a:solidFill>
                          <a:latin typeface="Open Sauce"/>
                          <a:ea typeface="Open Sauce"/>
                          <a:cs typeface="Open Sauce"/>
                        </a:rPr>
                        <a:t>ADVERSARIAL MACHINE LEARNING IN IOT SECURITY: A COMPREHENSIVE SURVEY</a:t>
                      </a:r>
                    </a:p>
                    <a:p>
                      <a:pPr algn="l">
                        <a:spcAft>
                          <a:spcPts val="600"/>
                        </a:spcAft>
                        <a:buNone/>
                      </a:pPr>
                      <a:r>
                        <a:rPr lang="en-US" sz="2000" b="1" i="0" dirty="0">
                          <a:solidFill>
                            <a:srgbClr val="0057FF"/>
                          </a:solidFill>
                          <a:latin typeface="Open Sauce"/>
                          <a:ea typeface="Open Sauce"/>
                          <a:cs typeface="Open Sauce"/>
                        </a:rPr>
                        <a:t>Publisher: </a:t>
                      </a:r>
                      <a:r>
                        <a:rPr lang="en-US" sz="2000" b="0" i="0" dirty="0">
                          <a:solidFill>
                            <a:srgbClr val="001C42"/>
                          </a:solidFill>
                          <a:latin typeface="Open Sauce"/>
                          <a:ea typeface="Open Sauce"/>
                          <a:cs typeface="Open Sauce"/>
                        </a:rPr>
                        <a:t>ACM (ISSN 0360-0300), Feb 2026, pp. 1–35</a:t>
                      </a:r>
                    </a:p>
                    <a:p>
                      <a:pPr algn="l">
                        <a:spcAft>
                          <a:spcPts val="600"/>
                        </a:spcAft>
                        <a:buNone/>
                      </a:pPr>
                      <a:r>
                        <a:rPr lang="en-US" sz="2000" b="1" i="0" dirty="0">
                          <a:solidFill>
                            <a:srgbClr val="0057FF"/>
                          </a:solidFill>
                          <a:latin typeface="Open Sauce"/>
                          <a:ea typeface="Open Sauce"/>
                          <a:cs typeface="Open Sauce"/>
                        </a:rPr>
                        <a:t>Link: </a:t>
                      </a:r>
                      <a:r>
                        <a:rPr lang="en-US" sz="2000" b="0" i="0" dirty="0">
                          <a:solidFill>
                            <a:srgbClr val="001C42"/>
                          </a:solidFill>
                          <a:latin typeface="Open Sauce"/>
                          <a:ea typeface="Open Sauce"/>
                          <a:cs typeface="Open Sauce"/>
                        </a:rPr>
                        <a:t>dl.acm.org/doi/10.1145/3785665</a:t>
                      </a:r>
                    </a:p>
                  </a:txBody>
                  <a:tcPr marL="137160" marR="137160" marT="109728" marB="109728">
                    <a:lnL w="12700">
                      <a:solidFill>
                        <a:srgbClr val="9DB9F2"/>
                      </a:solidFill>
                    </a:lnL>
                    <a:lnR w="12700">
                      <a:solidFill>
                        <a:srgbClr val="9DB9F2"/>
                      </a:solidFill>
                    </a:lnR>
                    <a:lnT w="12700">
                      <a:solidFill>
                        <a:srgbClr val="9DB9F2"/>
                      </a:solidFill>
                    </a:lnT>
                    <a:lnB w="12700">
                      <a:solidFill>
                        <a:srgbClr val="9DB9F2"/>
                      </a:solidFill>
                    </a:lnB>
                    <a:solidFill>
                      <a:srgbClr val="EAF1FF"/>
                    </a:solidFill>
                  </a:tcPr>
                </a:tc>
                <a:tc>
                  <a:txBody>
                    <a:bodyPr/>
                    <a:lstStyle/>
                    <a:p>
                      <a:pPr algn="l">
                        <a:spcAft>
                          <a:spcPts val="600"/>
                        </a:spcAft>
                        <a:buNone/>
                      </a:pPr>
                      <a:r>
                        <a:rPr lang="en-US" sz="2000" b="0" i="0" dirty="0">
                          <a:solidFill>
                            <a:srgbClr val="001C42"/>
                          </a:solidFill>
                          <a:latin typeface="Open Sauce"/>
                          <a:ea typeface="Open Sauce"/>
                          <a:cs typeface="Open Sauce"/>
                        </a:rPr>
                        <a:t>Survey of ML-based intrusion detection systems (IDS) in IoT and their exposure to adversarial ML: evasion, poisoning, model extraction and mimicry. Introduces an eight-phase attack lifecycle framework aligned with MITRE ATT&amp;CK, analyzes 15 public datasets and adversarial metrics, and explores LLMs, federated learning, reinforcement learning and generative models for robust IDS, with human-in-the-loop oversight (SHAP, LIME).</a:t>
                      </a:r>
                    </a:p>
                  </a:txBody>
                  <a:tcPr marL="137160" marR="137160" marT="109728" marB="109728">
                    <a:lnL w="12700">
                      <a:solidFill>
                        <a:srgbClr val="9DB9F2"/>
                      </a:solidFill>
                    </a:lnL>
                    <a:lnR w="12700">
                      <a:solidFill>
                        <a:srgbClr val="9DB9F2"/>
                      </a:solidFill>
                    </a:lnR>
                    <a:lnT w="12700">
                      <a:solidFill>
                        <a:srgbClr val="9DB9F2"/>
                      </a:solidFill>
                    </a:lnT>
                    <a:lnB w="12700">
                      <a:solidFill>
                        <a:srgbClr val="9DB9F2"/>
                      </a:solidFill>
                    </a:lnB>
                    <a:solidFill>
                      <a:srgbClr val="FFFFFF"/>
                    </a:solidFill>
                  </a:tcPr>
                </a:tc>
                <a:tc>
                  <a:txBody>
                    <a:bodyPr/>
                    <a:lstStyle/>
                    <a:p>
                      <a:pPr marL="342900" indent="-342900" algn="l">
                        <a:spcAft>
                          <a:spcPts val="600"/>
                        </a:spcAft>
                        <a:buFont typeface="Arial"/>
                        <a:buChar char="•"/>
                      </a:pPr>
                      <a:r>
                        <a:rPr lang="en-US" sz="2000" b="1" i="0" dirty="0">
                          <a:solidFill>
                            <a:srgbClr val="0057FF"/>
                          </a:solidFill>
                          <a:latin typeface="Open Sauce"/>
                          <a:ea typeface="Open Sauce"/>
                          <a:cs typeface="Open Sauce"/>
                        </a:rPr>
                        <a:t>Domain framing: </a:t>
                      </a:r>
                      <a:r>
                        <a:rPr lang="en-US" sz="2000" b="0" i="0" dirty="0">
                          <a:solidFill>
                            <a:srgbClr val="001C42"/>
                          </a:solidFill>
                          <a:latin typeface="Open Sauce"/>
                          <a:ea typeface="Open Sauce"/>
                          <a:cs typeface="Open Sauce"/>
                        </a:rPr>
                        <a:t>ties ML-IDS vulnerability directly to AML threats in IoT</a:t>
                      </a:r>
                    </a:p>
                    <a:p>
                      <a:pPr marL="342900" indent="-342900" algn="l">
                        <a:spcAft>
                          <a:spcPts val="600"/>
                        </a:spcAft>
                        <a:buFont typeface="Arial"/>
                        <a:buChar char="•"/>
                      </a:pPr>
                      <a:r>
                        <a:rPr lang="en-US" sz="2000" b="1" i="0" dirty="0">
                          <a:solidFill>
                            <a:srgbClr val="0057FF"/>
                          </a:solidFill>
                          <a:latin typeface="Open Sauce"/>
                          <a:ea typeface="Open Sauce"/>
                          <a:cs typeface="Open Sauce"/>
                        </a:rPr>
                        <a:t>Lifecycle perspective: </a:t>
                      </a:r>
                      <a:r>
                        <a:rPr lang="en-US" sz="2000" b="0" i="0" dirty="0">
                          <a:solidFill>
                            <a:srgbClr val="001C42"/>
                          </a:solidFill>
                          <a:latin typeface="Open Sauce"/>
                          <a:ea typeface="Open Sauce"/>
                          <a:cs typeface="Open Sauce"/>
                        </a:rPr>
                        <a:t>eight-phase attack model mapped to MITRE ATT&amp;CK</a:t>
                      </a:r>
                    </a:p>
                    <a:p>
                      <a:pPr marL="342900" indent="-342900" algn="l">
                        <a:spcAft>
                          <a:spcPts val="600"/>
                        </a:spcAft>
                        <a:buFont typeface="Arial"/>
                        <a:buChar char="•"/>
                      </a:pPr>
                      <a:r>
                        <a:rPr lang="en-US" sz="2000" b="1" i="0" dirty="0">
                          <a:solidFill>
                            <a:srgbClr val="0057FF"/>
                          </a:solidFill>
                          <a:latin typeface="Open Sauce"/>
                          <a:ea typeface="Open Sauce"/>
                          <a:cs typeface="Open Sauce"/>
                        </a:rPr>
                        <a:t>Dataset coverage: </a:t>
                      </a:r>
                      <a:r>
                        <a:rPr lang="en-US" sz="2000" b="0" i="0" dirty="0">
                          <a:solidFill>
                            <a:srgbClr val="001C42"/>
                          </a:solidFill>
                          <a:latin typeface="Open Sauce"/>
                          <a:ea typeface="Open Sauce"/>
                          <a:cs typeface="Open Sauce"/>
                        </a:rPr>
                        <a:t>15 public datasets reviewed with adversarial metrics</a:t>
                      </a:r>
                    </a:p>
                    <a:p>
                      <a:pPr marL="342900" indent="-342900" algn="l">
                        <a:spcAft>
                          <a:spcPts val="600"/>
                        </a:spcAft>
                        <a:buFont typeface="Arial"/>
                        <a:buChar char="•"/>
                      </a:pPr>
                      <a:r>
                        <a:rPr lang="en-US" sz="2000" b="1" i="0" dirty="0">
                          <a:solidFill>
                            <a:srgbClr val="0057FF"/>
                          </a:solidFill>
                          <a:latin typeface="Open Sauce"/>
                          <a:ea typeface="Open Sauce"/>
                          <a:cs typeface="Open Sauce"/>
                        </a:rPr>
                        <a:t>Broad scope: </a:t>
                      </a:r>
                      <a:r>
                        <a:rPr lang="en-US" sz="2000" b="0" i="0" dirty="0">
                          <a:solidFill>
                            <a:srgbClr val="001C42"/>
                          </a:solidFill>
                          <a:latin typeface="Open Sauce"/>
                          <a:ea typeface="Open Sauce"/>
                          <a:cs typeface="Open Sauce"/>
                        </a:rPr>
                        <a:t>smart grids, autonomous systems, edge-cloud; ethical and regulatory dimensions (e.g., GDPR)</a:t>
                      </a:r>
                    </a:p>
                  </a:txBody>
                  <a:tcPr marL="137160" marR="137160" marT="109728" marB="109728">
                    <a:lnL w="12700">
                      <a:solidFill>
                        <a:srgbClr val="9DB9F2"/>
                      </a:solidFill>
                    </a:lnL>
                    <a:lnR w="12700">
                      <a:solidFill>
                        <a:srgbClr val="9DB9F2"/>
                      </a:solidFill>
                    </a:lnR>
                    <a:lnT w="12700">
                      <a:solidFill>
                        <a:srgbClr val="9DB9F2"/>
                      </a:solidFill>
                    </a:lnT>
                    <a:lnB w="12700">
                      <a:solidFill>
                        <a:srgbClr val="9DB9F2"/>
                      </a:solidFill>
                    </a:lnB>
                    <a:solidFill>
                      <a:srgbClr val="FFFFFF"/>
                    </a:solidFill>
                  </a:tcPr>
                </a:tc>
                <a:tc>
                  <a:txBody>
                    <a:bodyPr/>
                    <a:lstStyle/>
                    <a:p>
                      <a:pPr marL="342900" indent="-342900" algn="l">
                        <a:spcAft>
                          <a:spcPts val="600"/>
                        </a:spcAft>
                        <a:buFont typeface="Arial"/>
                        <a:buChar char="•"/>
                      </a:pPr>
                      <a:r>
                        <a:rPr lang="en-US" sz="2000" b="1" i="0" dirty="0">
                          <a:solidFill>
                            <a:srgbClr val="0057FF"/>
                          </a:solidFill>
                          <a:latin typeface="Open Sauce"/>
                          <a:ea typeface="Open Sauce"/>
                          <a:cs typeface="Open Sauce"/>
                        </a:rPr>
                        <a:t>Edge resource gap: </a:t>
                      </a:r>
                      <a:r>
                        <a:rPr lang="en-US" sz="2000" b="0" i="0" dirty="0">
                          <a:solidFill>
                            <a:srgbClr val="001C42"/>
                          </a:solidFill>
                          <a:latin typeface="Open Sauce"/>
                          <a:ea typeface="Open Sauce"/>
                          <a:cs typeface="Open Sauce"/>
                        </a:rPr>
                        <a:t>existing AML work does not address computational, storage and energy limits of low-power edge nodes</a:t>
                      </a:r>
                    </a:p>
                    <a:p>
                      <a:pPr marL="342900" indent="-342900" algn="l">
                        <a:spcAft>
                          <a:spcPts val="600"/>
                        </a:spcAft>
                        <a:buFont typeface="Arial"/>
                        <a:buChar char="•"/>
                      </a:pPr>
                      <a:r>
                        <a:rPr lang="en-US" sz="2000" b="1" i="0" dirty="0">
                          <a:solidFill>
                            <a:srgbClr val="0057FF"/>
                          </a:solidFill>
                          <a:latin typeface="Open Sauce"/>
                          <a:ea typeface="Open Sauce"/>
                          <a:cs typeface="Open Sauce"/>
                        </a:rPr>
                        <a:t>Datasets: </a:t>
                      </a:r>
                      <a:r>
                        <a:rPr lang="en-US" sz="2000" b="0" i="0" dirty="0">
                          <a:solidFill>
                            <a:srgbClr val="001C42"/>
                          </a:solidFill>
                          <a:latin typeface="Open Sauce"/>
                          <a:ea typeface="Open Sauce"/>
                          <a:cs typeface="Open Sauce"/>
                        </a:rPr>
                        <a:t>class imbalance and no realistic adversarial content</a:t>
                      </a:r>
                    </a:p>
                    <a:p>
                      <a:pPr marL="342900" indent="-342900" algn="l">
                        <a:spcAft>
                          <a:spcPts val="600"/>
                        </a:spcAft>
                        <a:buFont typeface="Arial"/>
                        <a:buChar char="•"/>
                      </a:pPr>
                      <a:r>
                        <a:rPr lang="en-US" sz="2000" b="1" i="0" dirty="0">
                          <a:solidFill>
                            <a:srgbClr val="0057FF"/>
                          </a:solidFill>
                          <a:latin typeface="Open Sauce"/>
                          <a:ea typeface="Open Sauce"/>
                          <a:cs typeface="Open Sauce"/>
                        </a:rPr>
                        <a:t>Heavy models: </a:t>
                      </a:r>
                      <a:r>
                        <a:rPr lang="en-US" sz="2000" b="0" i="0" dirty="0">
                          <a:solidFill>
                            <a:srgbClr val="001C42"/>
                          </a:solidFill>
                          <a:latin typeface="Open Sauce"/>
                          <a:ea typeface="Open Sauce"/>
                          <a:cs typeface="Open Sauce"/>
                        </a:rPr>
                        <a:t>Transformers and GANs face latency, energy and memory bottlenecks; pruning, quantization and distillation needed</a:t>
                      </a:r>
                    </a:p>
                    <a:p>
                      <a:pPr marL="342900" indent="-342900" algn="l">
                        <a:spcAft>
                          <a:spcPts val="600"/>
                        </a:spcAft>
                        <a:buFont typeface="Arial"/>
                        <a:buChar char="•"/>
                      </a:pPr>
                      <a:r>
                        <a:rPr lang="en-US" sz="2000" b="1" i="0" dirty="0">
                          <a:solidFill>
                            <a:srgbClr val="0057FF"/>
                          </a:solidFill>
                          <a:latin typeface="Open Sauce"/>
                          <a:ea typeface="Open Sauce"/>
                          <a:cs typeface="Open Sauce"/>
                        </a:rPr>
                        <a:t>Open directions: </a:t>
                      </a:r>
                      <a:r>
                        <a:rPr lang="en-US" sz="2000" b="0" i="0" dirty="0">
                          <a:solidFill>
                            <a:srgbClr val="001C42"/>
                          </a:solidFill>
                          <a:latin typeface="Open Sauce"/>
                          <a:ea typeface="Open Sauce"/>
                          <a:cs typeface="Open Sauce"/>
                        </a:rPr>
                        <a:t>meta-learning, GNNs and quantum-secure defenses remain open</a:t>
                      </a:r>
                    </a:p>
                  </a:txBody>
                  <a:tcPr marL="137160" marR="137160" marT="109728" marB="109728">
                    <a:lnL w="12700">
                      <a:solidFill>
                        <a:srgbClr val="9DB9F2"/>
                      </a:solidFill>
                    </a:lnL>
                    <a:lnR w="12700">
                      <a:solidFill>
                        <a:srgbClr val="9DB9F2"/>
                      </a:solidFill>
                    </a:lnR>
                    <a:lnT w="12700">
                      <a:solidFill>
                        <a:srgbClr val="9DB9F2"/>
                      </a:solidFill>
                    </a:lnT>
                    <a:lnB w="12700">
                      <a:solidFill>
                        <a:srgbClr val="9DB9F2"/>
                      </a:solidFill>
                    </a:lnB>
                    <a:solidFill>
                      <a:srgbClr val="FFFFFF"/>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BBBBBB">
                <a:alpha val="100000"/>
              </a:srgbClr>
            </a:gs>
          </a:gsLst>
          <a:lin ang="2700000"/>
        </a:gradFill>
        <a:effectLst/>
      </p:bgPr>
    </p:bg>
    <p:spTree>
      <p:nvGrpSpPr>
        <p:cNvPr id="1" name=""/>
        <p:cNvGrpSpPr/>
        <p:nvPr/>
      </p:nvGrpSpPr>
      <p:grpSpPr>
        <a:xfrm>
          <a:off x="0" y="0"/>
          <a:ext cx="0" cy="0"/>
          <a:chOff x="0" y="0"/>
          <a:chExt cx="0" cy="0"/>
        </a:xfrm>
      </p:grpSpPr>
      <p:sp>
        <p:nvSpPr>
          <p:cNvPr id="17" name="Freeform 17"/>
          <p:cNvSpPr/>
          <p:nvPr/>
        </p:nvSpPr>
        <p:spPr>
          <a:xfrm>
            <a:off x="-9554138" y="2164352"/>
            <a:ext cx="19108277" cy="14187896"/>
          </a:xfrm>
          <a:custGeom>
            <a:avLst/>
            <a:gdLst/>
            <a:ahLst/>
            <a:cxnLst/>
            <a:rect l="l" t="t" r="r" b="b"/>
            <a:pathLst>
              <a:path w="19108277" h="14187896">
                <a:moveTo>
                  <a:pt x="0" y="0"/>
                </a:moveTo>
                <a:lnTo>
                  <a:pt x="19108276" y="0"/>
                </a:lnTo>
                <a:lnTo>
                  <a:pt x="19108276" y="14187896"/>
                </a:lnTo>
                <a:lnTo>
                  <a:pt x="0" y="14187896"/>
                </a:lnTo>
                <a:lnTo>
                  <a:pt x="0" y="0"/>
                </a:lnTo>
                <a:close/>
              </a:path>
            </a:pathLst>
          </a:custGeom>
          <a:blipFill>
            <a:blip r:embed="rId2"/>
            <a:stretch>
              <a:fillRect/>
            </a:stretch>
          </a:blipFill>
        </p:spPr>
      </p:sp>
      <p:sp>
        <p:nvSpPr>
          <p:cNvPr id="26" name="Freeform 26"/>
          <p:cNvSpPr/>
          <p:nvPr/>
        </p:nvSpPr>
        <p:spPr>
          <a:xfrm>
            <a:off x="16343296" y="177703"/>
            <a:ext cx="1832007" cy="850997"/>
          </a:xfrm>
          <a:custGeom>
            <a:avLst/>
            <a:gdLst/>
            <a:ahLst/>
            <a:cxnLst/>
            <a:rect l="l" t="t" r="r" b="b"/>
            <a:pathLst>
              <a:path w="1832007" h="850997">
                <a:moveTo>
                  <a:pt x="0" y="0"/>
                </a:moveTo>
                <a:lnTo>
                  <a:pt x="1832008" y="0"/>
                </a:lnTo>
                <a:lnTo>
                  <a:pt x="1832008" y="850997"/>
                </a:lnTo>
                <a:lnTo>
                  <a:pt x="0" y="850997"/>
                </a:lnTo>
                <a:lnTo>
                  <a:pt x="0" y="0"/>
                </a:lnTo>
                <a:close/>
              </a:path>
            </a:pathLst>
          </a:custGeom>
          <a:blipFill>
            <a:blip r:embed="rId3"/>
            <a:stretch>
              <a:fillRect/>
            </a:stretch>
          </a:blipFill>
        </p:spPr>
      </p:sp>
      <p:sp>
        <p:nvSpPr>
          <p:cNvPr id="192" name="Title 192"/>
          <p:cNvSpPr txBox="1"/>
          <p:nvPr/>
        </p:nvSpPr>
        <p:spPr>
          <a:xfrm>
            <a:off x="1005840" y="365760"/>
            <a:ext cx="14538960" cy="1280160"/>
          </a:xfrm>
          <a:prstGeom prst="rect">
            <a:avLst/>
          </a:prstGeom>
          <a:noFill/>
          <a:ln>
            <a:noFill/>
          </a:ln>
        </p:spPr>
        <p:txBody>
          <a:bodyPr wrap="square" lIns="0" tIns="0" rIns="0" bIns="0" rtlCol="0" anchor="ctr">
            <a:noAutofit/>
          </a:bodyPr>
          <a:lstStyle/>
          <a:p>
            <a:pPr algn="l">
              <a:spcAft>
                <a:spcPts val="0"/>
              </a:spcAft>
              <a:buNone/>
            </a:pPr>
            <a:r>
              <a:rPr lang="en-US" sz="5600" b="0" i="0" dirty="0">
                <a:gradFill>
                  <a:gsLst>
                    <a:gs pos="0">
                      <a:srgbClr val="0057FF"/>
                    </a:gs>
                    <a:gs pos="100000">
                      <a:srgbClr val="001C42"/>
                    </a:gs>
                  </a:gsLst>
                  <a:lin ang="2700000"/>
                </a:gradFill>
                <a:latin typeface="Intro"/>
                <a:ea typeface="Intro"/>
                <a:cs typeface="Intro"/>
              </a:rPr>
              <a:t>Literature Survey</a:t>
            </a:r>
          </a:p>
        </p:txBody>
      </p:sp>
      <p:graphicFrame>
        <p:nvGraphicFramePr>
          <p:cNvPr id="193" name="Table 193"/>
          <p:cNvGraphicFramePr>
            <a:graphicFrameLocks noGrp="1"/>
          </p:cNvGraphicFramePr>
          <p:nvPr/>
        </p:nvGraphicFramePr>
        <p:xfrm>
          <a:off x="1005840" y="1783080"/>
          <a:ext cx="16276320" cy="6025896"/>
        </p:xfrm>
        <a:graphic>
          <a:graphicData uri="http://schemas.openxmlformats.org/drawingml/2006/table">
            <a:tbl>
              <a:tblPr firstRow="1"/>
              <a:tblGrid>
                <a:gridCol w="329184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gridCol w="4389120">
                  <a:extLst>
                    <a:ext uri="{9D8B030D-6E8A-4147-A177-3AD203B41FA5}">
                      <a16:colId xmlns:a16="http://schemas.microsoft.com/office/drawing/2014/main" val="20003"/>
                    </a:ext>
                  </a:extLst>
                </a:gridCol>
              </a:tblGrid>
              <a:tr h="640080">
                <a:tc>
                  <a:txBody>
                    <a:bodyPr/>
                    <a:lstStyle/>
                    <a:p>
                      <a:pPr algn="ctr">
                        <a:spcAft>
                          <a:spcPts val="0"/>
                        </a:spcAft>
                        <a:buNone/>
                      </a:pPr>
                      <a:r>
                        <a:rPr lang="en-US" sz="1900" b="1" i="0" dirty="0">
                          <a:solidFill>
                            <a:srgbClr val="FFFFFF"/>
                          </a:solidFill>
                          <a:latin typeface="Open Sauce"/>
                          <a:ea typeface="Open Sauce"/>
                          <a:cs typeface="Open Sauce"/>
                        </a:rPr>
                        <a:t>PAPER DETAILS</a:t>
                      </a:r>
                    </a:p>
                  </a:txBody>
                  <a:tcPr marL="137160" marR="137160" marT="109728" marB="109728" anchor="ctr">
                    <a:lnL w="12700">
                      <a:solidFill>
                        <a:srgbClr val="9DB9F2"/>
                      </a:solidFill>
                    </a:lnL>
                    <a:lnR w="12700">
                      <a:solidFill>
                        <a:srgbClr val="9DB9F2"/>
                      </a:solidFill>
                    </a:lnR>
                    <a:lnT w="12700">
                      <a:solidFill>
                        <a:srgbClr val="9DB9F2"/>
                      </a:solidFill>
                    </a:lnT>
                    <a:lnB w="12700">
                      <a:solidFill>
                        <a:srgbClr val="9DB9F2"/>
                      </a:solidFill>
                    </a:lnB>
                    <a:solidFill>
                      <a:srgbClr val="0057FF"/>
                    </a:solidFill>
                  </a:tcPr>
                </a:tc>
                <a:tc>
                  <a:txBody>
                    <a:bodyPr/>
                    <a:lstStyle/>
                    <a:p>
                      <a:pPr algn="ctr">
                        <a:spcAft>
                          <a:spcPts val="0"/>
                        </a:spcAft>
                        <a:buNone/>
                      </a:pPr>
                      <a:r>
                        <a:rPr lang="en-US" sz="1900" b="1" i="0" dirty="0">
                          <a:solidFill>
                            <a:srgbClr val="FFFFFF"/>
                          </a:solidFill>
                          <a:latin typeface="Open Sauce"/>
                          <a:ea typeface="Open Sauce"/>
                          <a:cs typeface="Open Sauce"/>
                        </a:rPr>
                        <a:t>OBJECTIVE / TECHNIQUE / MODEL</a:t>
                      </a:r>
                    </a:p>
                  </a:txBody>
                  <a:tcPr marL="137160" marR="137160" marT="109728" marB="109728" anchor="ctr">
                    <a:lnL w="12700">
                      <a:solidFill>
                        <a:srgbClr val="9DB9F2"/>
                      </a:solidFill>
                    </a:lnL>
                    <a:lnR w="12700">
                      <a:solidFill>
                        <a:srgbClr val="9DB9F2"/>
                      </a:solidFill>
                    </a:lnR>
                    <a:lnT w="12700">
                      <a:solidFill>
                        <a:srgbClr val="9DB9F2"/>
                      </a:solidFill>
                    </a:lnT>
                    <a:lnB w="12700">
                      <a:solidFill>
                        <a:srgbClr val="9DB9F2"/>
                      </a:solidFill>
                    </a:lnB>
                    <a:solidFill>
                      <a:srgbClr val="0057FF"/>
                    </a:solidFill>
                  </a:tcPr>
                </a:tc>
                <a:tc>
                  <a:txBody>
                    <a:bodyPr/>
                    <a:lstStyle/>
                    <a:p>
                      <a:pPr algn="ctr">
                        <a:spcAft>
                          <a:spcPts val="0"/>
                        </a:spcAft>
                        <a:buNone/>
                      </a:pPr>
                      <a:r>
                        <a:rPr lang="en-US" sz="1900" b="1" i="0" dirty="0">
                          <a:solidFill>
                            <a:srgbClr val="FFFFFF"/>
                          </a:solidFill>
                          <a:latin typeface="Open Sauce"/>
                          <a:ea typeface="Open Sauce"/>
                          <a:cs typeface="Open Sauce"/>
                        </a:rPr>
                        <a:t>ADVANTAGES</a:t>
                      </a:r>
                    </a:p>
                  </a:txBody>
                  <a:tcPr marL="137160" marR="137160" marT="109728" marB="109728" anchor="ctr">
                    <a:lnL w="12700">
                      <a:solidFill>
                        <a:srgbClr val="9DB9F2"/>
                      </a:solidFill>
                    </a:lnL>
                    <a:lnR w="12700">
                      <a:solidFill>
                        <a:srgbClr val="9DB9F2"/>
                      </a:solidFill>
                    </a:lnR>
                    <a:lnT w="12700">
                      <a:solidFill>
                        <a:srgbClr val="9DB9F2"/>
                      </a:solidFill>
                    </a:lnT>
                    <a:lnB w="12700">
                      <a:solidFill>
                        <a:srgbClr val="9DB9F2"/>
                      </a:solidFill>
                    </a:lnB>
                    <a:solidFill>
                      <a:srgbClr val="0057FF"/>
                    </a:solidFill>
                  </a:tcPr>
                </a:tc>
                <a:tc>
                  <a:txBody>
                    <a:bodyPr/>
                    <a:lstStyle/>
                    <a:p>
                      <a:pPr algn="ctr">
                        <a:spcAft>
                          <a:spcPts val="0"/>
                        </a:spcAft>
                        <a:buNone/>
                      </a:pPr>
                      <a:r>
                        <a:rPr lang="en-US" sz="1900" b="1" i="0" dirty="0">
                          <a:solidFill>
                            <a:srgbClr val="FFFFFF"/>
                          </a:solidFill>
                          <a:latin typeface="Open Sauce"/>
                          <a:ea typeface="Open Sauce"/>
                          <a:cs typeface="Open Sauce"/>
                        </a:rPr>
                        <a:t>LIMITATIONS</a:t>
                      </a:r>
                    </a:p>
                  </a:txBody>
                  <a:tcPr marL="137160" marR="137160" marT="109728" marB="109728" anchor="ctr">
                    <a:lnL w="12700">
                      <a:solidFill>
                        <a:srgbClr val="9DB9F2"/>
                      </a:solidFill>
                    </a:lnL>
                    <a:lnR w="12700">
                      <a:solidFill>
                        <a:srgbClr val="9DB9F2"/>
                      </a:solidFill>
                    </a:lnR>
                    <a:lnT w="12700">
                      <a:solidFill>
                        <a:srgbClr val="9DB9F2"/>
                      </a:solidFill>
                    </a:lnT>
                    <a:lnB w="12700">
                      <a:solidFill>
                        <a:srgbClr val="9DB9F2"/>
                      </a:solidFill>
                    </a:lnB>
                    <a:solidFill>
                      <a:srgbClr val="0057FF"/>
                    </a:solidFill>
                  </a:tcPr>
                </a:tc>
                <a:extLst>
                  <a:ext uri="{0D108BD9-81ED-4DB2-BD59-A6C34878D82A}">
                    <a16:rowId xmlns:a16="http://schemas.microsoft.com/office/drawing/2014/main" val="10000"/>
                  </a:ext>
                </a:extLst>
              </a:tr>
              <a:tr h="5227320">
                <a:tc>
                  <a:txBody>
                    <a:bodyPr/>
                    <a:lstStyle/>
                    <a:p>
                      <a:pPr algn="l">
                        <a:spcAft>
                          <a:spcPts val="600"/>
                        </a:spcAft>
                        <a:buNone/>
                      </a:pPr>
                      <a:r>
                        <a:rPr lang="en-US" sz="2000" b="1" i="0" dirty="0">
                          <a:solidFill>
                            <a:srgbClr val="001C42"/>
                          </a:solidFill>
                          <a:latin typeface="Open Sauce"/>
                          <a:ea typeface="Open Sauce"/>
                          <a:cs typeface="Open Sauce"/>
                        </a:rPr>
                        <a:t>A LIGHTWEIGHT DEEP LEARNING FRAMEWORK FOR BOTNET DETECTING AT THE IOT EDGE</a:t>
                      </a:r>
                    </a:p>
                    <a:p>
                      <a:pPr algn="l">
                        <a:spcAft>
                          <a:spcPts val="600"/>
                        </a:spcAft>
                        <a:buNone/>
                      </a:pPr>
                      <a:r>
                        <a:rPr lang="en-US" sz="2000" b="1" i="0" dirty="0">
                          <a:solidFill>
                            <a:srgbClr val="0057FF"/>
                          </a:solidFill>
                          <a:latin typeface="Open Sauce"/>
                          <a:ea typeface="Open Sauce"/>
                          <a:cs typeface="Open Sauce"/>
                        </a:rPr>
                        <a:t>Authors: </a:t>
                      </a:r>
                      <a:r>
                        <a:rPr lang="en-US" sz="2000" b="0" i="0" dirty="0">
                          <a:solidFill>
                            <a:srgbClr val="001C42"/>
                          </a:solidFill>
                          <a:latin typeface="Open Sauce"/>
                          <a:ea typeface="Open Sauce"/>
                          <a:cs typeface="Open Sauce"/>
                        </a:rPr>
                        <a:t>Wei et al.</a:t>
                      </a:r>
                    </a:p>
                    <a:p>
                      <a:pPr algn="l">
                        <a:spcAft>
                          <a:spcPts val="600"/>
                        </a:spcAft>
                        <a:buNone/>
                      </a:pPr>
                      <a:r>
                        <a:rPr lang="en-US" sz="2000" b="1" i="0" dirty="0">
                          <a:solidFill>
                            <a:srgbClr val="0057FF"/>
                          </a:solidFill>
                          <a:latin typeface="Open Sauce"/>
                          <a:ea typeface="Open Sauce"/>
                          <a:cs typeface="Open Sauce"/>
                        </a:rPr>
                        <a:t>Venue: </a:t>
                      </a:r>
                      <a:r>
                        <a:rPr lang="en-US" sz="2000" b="0" i="0" dirty="0">
                          <a:solidFill>
                            <a:srgbClr val="001C42"/>
                          </a:solidFill>
                          <a:latin typeface="Open Sauce"/>
                          <a:ea typeface="Open Sauce"/>
                          <a:cs typeface="Open Sauce"/>
                        </a:rPr>
                        <a:t>Computers &amp; Security, Vol. 129, 2023</a:t>
                      </a:r>
                    </a:p>
                    <a:p>
                      <a:pPr algn="l">
                        <a:spcAft>
                          <a:spcPts val="600"/>
                        </a:spcAft>
                        <a:buNone/>
                      </a:pPr>
                      <a:r>
                        <a:rPr lang="en-US" sz="2000" b="1" i="0" dirty="0">
                          <a:solidFill>
                            <a:srgbClr val="0057FF"/>
                          </a:solidFill>
                          <a:latin typeface="Open Sauce"/>
                          <a:ea typeface="Open Sauce"/>
                          <a:cs typeface="Open Sauce"/>
                        </a:rPr>
                        <a:t>DOI: </a:t>
                      </a:r>
                      <a:r>
                        <a:rPr lang="en-US" sz="2000" b="0" i="0" dirty="0">
                          <a:solidFill>
                            <a:srgbClr val="001C42"/>
                          </a:solidFill>
                          <a:latin typeface="Open Sauce"/>
                          <a:ea typeface="Open Sauce"/>
                          <a:cs typeface="Open Sauce"/>
                        </a:rPr>
                        <a:t>10.1016/j.cose.2023.103195</a:t>
                      </a:r>
                    </a:p>
                  </a:txBody>
                  <a:tcPr marL="137160" marR="137160" marT="109728" marB="109728">
                    <a:lnL w="12700">
                      <a:solidFill>
                        <a:srgbClr val="9DB9F2"/>
                      </a:solidFill>
                    </a:lnL>
                    <a:lnR w="12700">
                      <a:solidFill>
                        <a:srgbClr val="9DB9F2"/>
                      </a:solidFill>
                    </a:lnR>
                    <a:lnT w="12700">
                      <a:solidFill>
                        <a:srgbClr val="9DB9F2"/>
                      </a:solidFill>
                    </a:lnT>
                    <a:lnB w="12700">
                      <a:solidFill>
                        <a:srgbClr val="9DB9F2"/>
                      </a:solidFill>
                    </a:lnB>
                    <a:solidFill>
                      <a:srgbClr val="EAF1FF"/>
                    </a:solidFill>
                  </a:tcPr>
                </a:tc>
                <a:tc>
                  <a:txBody>
                    <a:bodyPr/>
                    <a:lstStyle/>
                    <a:p>
                      <a:pPr algn="l">
                        <a:spcAft>
                          <a:spcPts val="600"/>
                        </a:spcAft>
                        <a:buNone/>
                      </a:pPr>
                      <a:r>
                        <a:rPr lang="en-US" sz="2000" b="0" i="0" dirty="0">
                          <a:solidFill>
                            <a:srgbClr val="001C42"/>
                          </a:solidFill>
                          <a:latin typeface="Open Sauce"/>
                          <a:ea typeface="Open Sauce"/>
                          <a:cs typeface="Open Sauce"/>
                        </a:rPr>
                        <a:t>Designs a deep-learning botnet detector light enough to run at the IoT edge instead of on cloud hardware. Extracts 21 statistical packet-length features instead of payloads. Two-stage pipeline: an autoencoder filters normal traffic, then a lightweight CNN classifies the suspicious traffic. Deployed and tested on a Raspberry Pi 4B in a real IoT environment.</a:t>
                      </a:r>
                    </a:p>
                  </a:txBody>
                  <a:tcPr marL="137160" marR="137160" marT="109728" marB="109728">
                    <a:lnL w="12700">
                      <a:solidFill>
                        <a:srgbClr val="9DB9F2"/>
                      </a:solidFill>
                    </a:lnL>
                    <a:lnR w="12700">
                      <a:solidFill>
                        <a:srgbClr val="9DB9F2"/>
                      </a:solidFill>
                    </a:lnR>
                    <a:lnT w="12700">
                      <a:solidFill>
                        <a:srgbClr val="9DB9F2"/>
                      </a:solidFill>
                    </a:lnT>
                    <a:lnB w="12700">
                      <a:solidFill>
                        <a:srgbClr val="9DB9F2"/>
                      </a:solidFill>
                    </a:lnB>
                    <a:solidFill>
                      <a:srgbClr val="FFFFFF"/>
                    </a:solidFill>
                  </a:tcPr>
                </a:tc>
                <a:tc>
                  <a:txBody>
                    <a:bodyPr/>
                    <a:lstStyle/>
                    <a:p>
                      <a:pPr marL="342900" indent="-342900" algn="l">
                        <a:spcAft>
                          <a:spcPts val="600"/>
                        </a:spcAft>
                        <a:buFont typeface="Arial"/>
                        <a:buChar char="•"/>
                      </a:pPr>
                      <a:r>
                        <a:rPr lang="en-US" sz="2000" b="1" i="0" dirty="0">
                          <a:solidFill>
                            <a:srgbClr val="0057FF"/>
                          </a:solidFill>
                          <a:latin typeface="Open Sauce"/>
                          <a:ea typeface="Open Sauce"/>
                          <a:cs typeface="Open Sauce"/>
                        </a:rPr>
                        <a:t>Edge deployment: </a:t>
                      </a:r>
                      <a:r>
                        <a:rPr lang="en-US" sz="2000" b="0" i="0" dirty="0">
                          <a:solidFill>
                            <a:srgbClr val="001C42"/>
                          </a:solidFill>
                          <a:latin typeface="Open Sauce"/>
                          <a:ea typeface="Open Sauce"/>
                          <a:cs typeface="Open Sauce"/>
                        </a:rPr>
                        <a:t>compact classifier at the gateway removes cloud-offloading latency</a:t>
                      </a:r>
                    </a:p>
                    <a:p>
                      <a:pPr marL="342900" indent="-342900" algn="l">
                        <a:spcAft>
                          <a:spcPts val="600"/>
                        </a:spcAft>
                        <a:buFont typeface="Arial"/>
                        <a:buChar char="•"/>
                      </a:pPr>
                      <a:r>
                        <a:rPr lang="en-US" sz="2000" b="1" i="0" dirty="0">
                          <a:solidFill>
                            <a:srgbClr val="0057FF"/>
                          </a:solidFill>
                          <a:latin typeface="Open Sauce"/>
                          <a:ea typeface="Open Sauce"/>
                          <a:cs typeface="Open Sauce"/>
                        </a:rPr>
                        <a:t>Low input cost: </a:t>
                      </a:r>
                      <a:r>
                        <a:rPr lang="en-US" sz="2000" b="0" i="0" dirty="0">
                          <a:solidFill>
                            <a:srgbClr val="001C42"/>
                          </a:solidFill>
                          <a:latin typeface="Open Sauce"/>
                          <a:ea typeface="Open Sauce"/>
                          <a:cs typeface="Open Sauce"/>
                        </a:rPr>
                        <a:t>packet-length statistics only, no payload inspection</a:t>
                      </a:r>
                    </a:p>
                    <a:p>
                      <a:pPr marL="342900" indent="-342900" algn="l">
                        <a:spcAft>
                          <a:spcPts val="600"/>
                        </a:spcAft>
                        <a:buFont typeface="Arial"/>
                        <a:buChar char="•"/>
                      </a:pPr>
                      <a:r>
                        <a:rPr lang="en-US" sz="2000" b="1" i="0" dirty="0">
                          <a:solidFill>
                            <a:srgbClr val="0057FF"/>
                          </a:solidFill>
                          <a:latin typeface="Open Sauce"/>
                          <a:ea typeface="Open Sauce"/>
                          <a:cs typeface="Open Sauce"/>
                        </a:rPr>
                        <a:t>Two-stage design: </a:t>
                      </a:r>
                      <a:r>
                        <a:rPr lang="en-US" sz="2000" b="0" i="0" dirty="0">
                          <a:solidFill>
                            <a:srgbClr val="001C42"/>
                          </a:solidFill>
                          <a:latin typeface="Open Sauce"/>
                          <a:ea typeface="Open Sauce"/>
                          <a:cs typeface="Open Sauce"/>
                        </a:rPr>
                        <a:t>autoencoder filter reduces the load on the CNN</a:t>
                      </a:r>
                    </a:p>
                    <a:p>
                      <a:pPr marL="342900" indent="-342900" algn="l">
                        <a:spcAft>
                          <a:spcPts val="600"/>
                        </a:spcAft>
                        <a:buFont typeface="Arial"/>
                        <a:buChar char="•"/>
                      </a:pPr>
                      <a:r>
                        <a:rPr lang="en-US" sz="2000" b="1" i="0" dirty="0">
                          <a:solidFill>
                            <a:srgbClr val="0057FF"/>
                          </a:solidFill>
                          <a:latin typeface="Open Sauce"/>
                          <a:ea typeface="Open Sauce"/>
                          <a:cs typeface="Open Sauce"/>
                        </a:rPr>
                        <a:t>Real hardware: </a:t>
                      </a:r>
                      <a:r>
                        <a:rPr lang="en-US" sz="2000" b="0" i="0" dirty="0">
                          <a:solidFill>
                            <a:srgbClr val="001C42"/>
                          </a:solidFill>
                          <a:latin typeface="Open Sauce"/>
                          <a:ea typeface="Open Sauce"/>
                          <a:cs typeface="Open Sauce"/>
                        </a:rPr>
                        <a:t>validated on a Raspberry Pi 4B; supports benchmarking on CPU, RAM, model size and latency</a:t>
                      </a:r>
                    </a:p>
                  </a:txBody>
                  <a:tcPr marL="137160" marR="137160" marT="109728" marB="109728">
                    <a:lnL w="12700">
                      <a:solidFill>
                        <a:srgbClr val="9DB9F2"/>
                      </a:solidFill>
                    </a:lnL>
                    <a:lnR w="12700">
                      <a:solidFill>
                        <a:srgbClr val="9DB9F2"/>
                      </a:solidFill>
                    </a:lnR>
                    <a:lnT w="12700">
                      <a:solidFill>
                        <a:srgbClr val="9DB9F2"/>
                      </a:solidFill>
                    </a:lnT>
                    <a:lnB w="12700">
                      <a:solidFill>
                        <a:srgbClr val="9DB9F2"/>
                      </a:solidFill>
                    </a:lnB>
                    <a:solidFill>
                      <a:srgbClr val="FFFFFF"/>
                    </a:solidFill>
                  </a:tcPr>
                </a:tc>
                <a:tc>
                  <a:txBody>
                    <a:bodyPr/>
                    <a:lstStyle/>
                    <a:p>
                      <a:pPr marL="342900" indent="-342900" algn="l">
                        <a:spcAft>
                          <a:spcPts val="600"/>
                        </a:spcAft>
                        <a:buFont typeface="Arial"/>
                        <a:buChar char="•"/>
                      </a:pPr>
                      <a:r>
                        <a:rPr lang="en-US" sz="2000" b="1" i="0" dirty="0">
                          <a:solidFill>
                            <a:srgbClr val="0057FF"/>
                          </a:solidFill>
                          <a:latin typeface="Open Sauce"/>
                          <a:ea typeface="Open Sauce"/>
                          <a:cs typeface="Open Sauce"/>
                        </a:rPr>
                        <a:t>Inference cost: </a:t>
                      </a:r>
                      <a:r>
                        <a:rPr lang="en-US" sz="2000" b="0" i="0" dirty="0">
                          <a:solidFill>
                            <a:srgbClr val="001C42"/>
                          </a:solidFill>
                          <a:latin typeface="Open Sauce"/>
                          <a:ea typeface="Open Sauce"/>
                          <a:cs typeface="Open Sauce"/>
                        </a:rPr>
                        <a:t>neural inference still adds CPU, memory and latency overhead</a:t>
                      </a:r>
                    </a:p>
                    <a:p>
                      <a:pPr marL="342900" indent="-342900" algn="l">
                        <a:spcAft>
                          <a:spcPts val="600"/>
                        </a:spcAft>
                        <a:buFont typeface="Arial"/>
                        <a:buChar char="•"/>
                      </a:pPr>
                      <a:r>
                        <a:rPr lang="en-US" sz="2000" b="1" i="0" dirty="0">
                          <a:solidFill>
                            <a:srgbClr val="0057FF"/>
                          </a:solidFill>
                          <a:latin typeface="Open Sauce"/>
                          <a:ea typeface="Open Sauce"/>
                          <a:cs typeface="Open Sauce"/>
                        </a:rPr>
                        <a:t>Resource trade-off: </a:t>
                      </a:r>
                      <a:r>
                        <a:rPr lang="en-US" sz="2000" b="0" i="0" dirty="0">
                          <a:solidFill>
                            <a:srgbClr val="001C42"/>
                          </a:solidFill>
                          <a:latin typeface="Open Sauce"/>
                          <a:ea typeface="Open Sauce"/>
                          <a:cs typeface="Open Sauce"/>
                        </a:rPr>
                        <a:t>higher model complexity raises resource needs</a:t>
                      </a:r>
                    </a:p>
                    <a:p>
                      <a:pPr marL="342900" indent="-342900" algn="l">
                        <a:spcAft>
                          <a:spcPts val="600"/>
                        </a:spcAft>
                        <a:buFont typeface="Arial"/>
                        <a:buChar char="•"/>
                      </a:pPr>
                      <a:r>
                        <a:rPr lang="en-US" sz="2000" b="1" i="0" dirty="0">
                          <a:solidFill>
                            <a:srgbClr val="0057FF"/>
                          </a:solidFill>
                          <a:latin typeface="Open Sauce"/>
                          <a:ea typeface="Open Sauce"/>
                          <a:cs typeface="Open Sauce"/>
                        </a:rPr>
                        <a:t>Static training: </a:t>
                      </a:r>
                      <a:r>
                        <a:rPr lang="en-US" sz="2000" b="0" i="0" dirty="0">
                          <a:solidFill>
                            <a:srgbClr val="001C42"/>
                          </a:solidFill>
                          <a:latin typeface="Open Sauce"/>
                          <a:ea typeface="Open Sauce"/>
                          <a:cs typeface="Open Sauce"/>
                        </a:rPr>
                        <a:t>may degrade when network traffic changes (concept drift)</a:t>
                      </a:r>
                    </a:p>
                    <a:p>
                      <a:pPr marL="342900" indent="-342900" algn="l">
                        <a:spcAft>
                          <a:spcPts val="600"/>
                        </a:spcAft>
                        <a:buFont typeface="Arial"/>
                        <a:buChar char="•"/>
                      </a:pPr>
                      <a:r>
                        <a:rPr lang="en-US" sz="2000" b="1" i="0" dirty="0">
                          <a:solidFill>
                            <a:srgbClr val="0057FF"/>
                          </a:solidFill>
                          <a:latin typeface="Open Sauce"/>
                          <a:ea typeface="Open Sauce"/>
                          <a:cs typeface="Open Sauce"/>
                        </a:rPr>
                        <a:t>Unseen attacks: </a:t>
                      </a:r>
                      <a:r>
                        <a:rPr lang="en-US" sz="2000" b="0" i="0" dirty="0">
                          <a:solidFill>
                            <a:srgbClr val="001C42"/>
                          </a:solidFill>
                          <a:latin typeface="Open Sauce"/>
                          <a:ea typeface="Open Sauce"/>
                          <a:cs typeface="Open Sauce"/>
                        </a:rPr>
                        <a:t>performance on new botnet variants not fully explored</a:t>
                      </a:r>
                    </a:p>
                    <a:p>
                      <a:pPr marL="342900" indent="-342900" algn="l">
                        <a:spcAft>
                          <a:spcPts val="600"/>
                        </a:spcAft>
                        <a:buFont typeface="Arial"/>
                        <a:buChar char="•"/>
                      </a:pPr>
                      <a:r>
                        <a:rPr lang="en-US" sz="2000" b="1" i="0" dirty="0">
                          <a:solidFill>
                            <a:srgbClr val="0057FF"/>
                          </a:solidFill>
                          <a:latin typeface="Open Sauce"/>
                          <a:ea typeface="Open Sauce"/>
                          <a:cs typeface="Open Sauce"/>
                        </a:rPr>
                        <a:t>No security evaluation: </a:t>
                      </a:r>
                      <a:r>
                        <a:rPr lang="en-US" sz="2000" b="0" i="0" dirty="0">
                          <a:solidFill>
                            <a:srgbClr val="001C42"/>
                          </a:solidFill>
                          <a:latin typeface="Open Sauce"/>
                          <a:ea typeface="Open Sauce"/>
                          <a:cs typeface="Open Sauce"/>
                        </a:rPr>
                        <a:t>robustness of the model itself is not examined</a:t>
                      </a:r>
                    </a:p>
                  </a:txBody>
                  <a:tcPr marL="137160" marR="137160" marT="109728" marB="109728">
                    <a:lnL w="12700">
                      <a:solidFill>
                        <a:srgbClr val="9DB9F2"/>
                      </a:solidFill>
                    </a:lnL>
                    <a:lnR w="12700">
                      <a:solidFill>
                        <a:srgbClr val="9DB9F2"/>
                      </a:solidFill>
                    </a:lnR>
                    <a:lnT w="12700">
                      <a:solidFill>
                        <a:srgbClr val="9DB9F2"/>
                      </a:solidFill>
                    </a:lnT>
                    <a:lnB w="12700">
                      <a:solidFill>
                        <a:srgbClr val="9DB9F2"/>
                      </a:solidFill>
                    </a:lnB>
                    <a:solidFill>
                      <a:srgbClr val="FFFFFF"/>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BBBBBB">
                <a:alpha val="100000"/>
              </a:srgbClr>
            </a:gs>
          </a:gsLst>
          <a:lin ang="2700000"/>
        </a:gradFill>
        <a:effectLst/>
      </p:bgPr>
    </p:bg>
    <p:spTree>
      <p:nvGrpSpPr>
        <p:cNvPr id="1" name=""/>
        <p:cNvGrpSpPr/>
        <p:nvPr/>
      </p:nvGrpSpPr>
      <p:grpSpPr>
        <a:xfrm>
          <a:off x="0" y="0"/>
          <a:ext cx="0" cy="0"/>
          <a:chOff x="0" y="0"/>
          <a:chExt cx="0" cy="0"/>
        </a:xfrm>
      </p:grpSpPr>
      <p:sp>
        <p:nvSpPr>
          <p:cNvPr id="18" name="Freeform 18"/>
          <p:cNvSpPr/>
          <p:nvPr/>
        </p:nvSpPr>
        <p:spPr>
          <a:xfrm rot="4278348" flipH="1">
            <a:off x="9820102" y="-77655"/>
            <a:ext cx="13285086" cy="8203541"/>
          </a:xfrm>
          <a:custGeom>
            <a:avLst/>
            <a:gdLst/>
            <a:ahLst/>
            <a:cxnLst/>
            <a:rect l="l" t="t" r="r" b="b"/>
            <a:pathLst>
              <a:path w="13285086" h="8203541">
                <a:moveTo>
                  <a:pt x="13285087" y="0"/>
                </a:moveTo>
                <a:lnTo>
                  <a:pt x="0" y="0"/>
                </a:lnTo>
                <a:lnTo>
                  <a:pt x="0" y="8203541"/>
                </a:lnTo>
                <a:lnTo>
                  <a:pt x="13285087" y="8203541"/>
                </a:lnTo>
                <a:lnTo>
                  <a:pt x="13285087" y="0"/>
                </a:lnTo>
                <a:close/>
              </a:path>
            </a:pathLst>
          </a:custGeom>
          <a:blipFill>
            <a:blip r:embed="rId2"/>
            <a:stretch>
              <a:fillRect/>
            </a:stretch>
          </a:blipFill>
        </p:spPr>
      </p:sp>
      <p:sp>
        <p:nvSpPr>
          <p:cNvPr id="19" name="Freeform 19"/>
          <p:cNvSpPr/>
          <p:nvPr/>
        </p:nvSpPr>
        <p:spPr>
          <a:xfrm rot="-2429207">
            <a:off x="10047236" y="2855960"/>
            <a:ext cx="12128950" cy="7255317"/>
          </a:xfrm>
          <a:custGeom>
            <a:avLst/>
            <a:gdLst/>
            <a:ahLst/>
            <a:cxnLst/>
            <a:rect l="l" t="t" r="r" b="b"/>
            <a:pathLst>
              <a:path w="12128950" h="7255317">
                <a:moveTo>
                  <a:pt x="0" y="0"/>
                </a:moveTo>
                <a:lnTo>
                  <a:pt x="12128950" y="0"/>
                </a:lnTo>
                <a:lnTo>
                  <a:pt x="12128950" y="7255318"/>
                </a:lnTo>
                <a:lnTo>
                  <a:pt x="0" y="7255318"/>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20" name="Freeform 20"/>
          <p:cNvSpPr/>
          <p:nvPr/>
        </p:nvSpPr>
        <p:spPr>
          <a:xfrm>
            <a:off x="16343296" y="177703"/>
            <a:ext cx="1832007" cy="850997"/>
          </a:xfrm>
          <a:custGeom>
            <a:avLst/>
            <a:gdLst/>
            <a:ahLst/>
            <a:cxnLst/>
            <a:rect l="l" t="t" r="r" b="b"/>
            <a:pathLst>
              <a:path w="1832007" h="850997">
                <a:moveTo>
                  <a:pt x="0" y="0"/>
                </a:moveTo>
                <a:lnTo>
                  <a:pt x="1832008" y="0"/>
                </a:lnTo>
                <a:lnTo>
                  <a:pt x="1832008" y="850997"/>
                </a:lnTo>
                <a:lnTo>
                  <a:pt x="0" y="850997"/>
                </a:lnTo>
                <a:lnTo>
                  <a:pt x="0" y="0"/>
                </a:lnTo>
                <a:close/>
              </a:path>
            </a:pathLst>
          </a:custGeom>
          <a:blipFill>
            <a:blip r:embed="rId4"/>
            <a:stretch>
              <a:fillRect/>
            </a:stretch>
          </a:blipFill>
        </p:spPr>
      </p:sp>
      <p:sp>
        <p:nvSpPr>
          <p:cNvPr id="194" name="Title 194"/>
          <p:cNvSpPr txBox="1"/>
          <p:nvPr/>
        </p:nvSpPr>
        <p:spPr>
          <a:xfrm>
            <a:off x="1005840" y="365760"/>
            <a:ext cx="14538960" cy="1280160"/>
          </a:xfrm>
          <a:prstGeom prst="rect">
            <a:avLst/>
          </a:prstGeom>
          <a:noFill/>
          <a:ln>
            <a:noFill/>
          </a:ln>
        </p:spPr>
        <p:txBody>
          <a:bodyPr wrap="square" lIns="0" tIns="0" rIns="0" bIns="0" rtlCol="0" anchor="ctr">
            <a:noAutofit/>
          </a:bodyPr>
          <a:lstStyle/>
          <a:p>
            <a:pPr algn="l">
              <a:spcAft>
                <a:spcPts val="0"/>
              </a:spcAft>
              <a:buNone/>
            </a:pPr>
            <a:r>
              <a:rPr lang="en-US" sz="5600" b="0" i="0" dirty="0">
                <a:gradFill>
                  <a:gsLst>
                    <a:gs pos="0">
                      <a:srgbClr val="0057FF"/>
                    </a:gs>
                    <a:gs pos="100000">
                      <a:srgbClr val="001C42"/>
                    </a:gs>
                  </a:gsLst>
                  <a:lin ang="2700000"/>
                </a:gradFill>
                <a:latin typeface="Intro"/>
                <a:ea typeface="Intro"/>
                <a:cs typeface="Intro"/>
              </a:rPr>
              <a:t>Literature Survey</a:t>
            </a:r>
          </a:p>
        </p:txBody>
      </p:sp>
      <p:graphicFrame>
        <p:nvGraphicFramePr>
          <p:cNvPr id="195" name="Table 195"/>
          <p:cNvGraphicFramePr>
            <a:graphicFrameLocks noGrp="1"/>
          </p:cNvGraphicFramePr>
          <p:nvPr>
            <p:extLst>
              <p:ext uri="{D42A27DB-BD31-4B8C-83A1-F6EECF244321}">
                <p14:modId xmlns:p14="http://schemas.microsoft.com/office/powerpoint/2010/main" val="749945824"/>
              </p:ext>
            </p:extLst>
          </p:nvPr>
        </p:nvGraphicFramePr>
        <p:xfrm>
          <a:off x="1005840" y="1783080"/>
          <a:ext cx="16276320" cy="6030976"/>
        </p:xfrm>
        <a:graphic>
          <a:graphicData uri="http://schemas.openxmlformats.org/drawingml/2006/table">
            <a:tbl>
              <a:tblPr firstRow="1"/>
              <a:tblGrid>
                <a:gridCol w="329184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gridCol w="4389120">
                  <a:extLst>
                    <a:ext uri="{9D8B030D-6E8A-4147-A177-3AD203B41FA5}">
                      <a16:colId xmlns:a16="http://schemas.microsoft.com/office/drawing/2014/main" val="20003"/>
                    </a:ext>
                  </a:extLst>
                </a:gridCol>
              </a:tblGrid>
              <a:tr h="640080">
                <a:tc>
                  <a:txBody>
                    <a:bodyPr/>
                    <a:lstStyle/>
                    <a:p>
                      <a:pPr algn="ctr">
                        <a:spcAft>
                          <a:spcPts val="0"/>
                        </a:spcAft>
                        <a:buNone/>
                      </a:pPr>
                      <a:r>
                        <a:rPr lang="en-US" sz="1900" b="1" i="0" dirty="0">
                          <a:solidFill>
                            <a:srgbClr val="FFFFFF"/>
                          </a:solidFill>
                          <a:latin typeface="Open Sauce"/>
                          <a:ea typeface="Open Sauce"/>
                          <a:cs typeface="Open Sauce"/>
                        </a:rPr>
                        <a:t>PAPER DETAILS</a:t>
                      </a:r>
                    </a:p>
                  </a:txBody>
                  <a:tcPr marL="137160" marR="137160" marT="109728" marB="109728" anchor="ctr">
                    <a:lnL w="12700">
                      <a:solidFill>
                        <a:srgbClr val="9DB9F2"/>
                      </a:solidFill>
                    </a:lnL>
                    <a:lnR w="12700">
                      <a:solidFill>
                        <a:srgbClr val="9DB9F2"/>
                      </a:solidFill>
                    </a:lnR>
                    <a:lnT w="12700">
                      <a:solidFill>
                        <a:srgbClr val="9DB9F2"/>
                      </a:solidFill>
                    </a:lnT>
                    <a:lnB w="12700">
                      <a:solidFill>
                        <a:srgbClr val="9DB9F2"/>
                      </a:solidFill>
                    </a:lnB>
                    <a:solidFill>
                      <a:srgbClr val="0057FF"/>
                    </a:solidFill>
                  </a:tcPr>
                </a:tc>
                <a:tc>
                  <a:txBody>
                    <a:bodyPr/>
                    <a:lstStyle/>
                    <a:p>
                      <a:pPr algn="ctr">
                        <a:spcAft>
                          <a:spcPts val="0"/>
                        </a:spcAft>
                        <a:buNone/>
                      </a:pPr>
                      <a:r>
                        <a:rPr lang="en-US" sz="1900" b="1" i="0" dirty="0">
                          <a:solidFill>
                            <a:srgbClr val="FFFFFF"/>
                          </a:solidFill>
                          <a:latin typeface="Open Sauce"/>
                          <a:ea typeface="Open Sauce"/>
                          <a:cs typeface="Open Sauce"/>
                        </a:rPr>
                        <a:t>OBJECTIVE / TECHNIQUE / MODEL</a:t>
                      </a:r>
                    </a:p>
                  </a:txBody>
                  <a:tcPr marL="137160" marR="137160" marT="109728" marB="109728" anchor="ctr">
                    <a:lnL w="12700">
                      <a:solidFill>
                        <a:srgbClr val="9DB9F2"/>
                      </a:solidFill>
                    </a:lnL>
                    <a:lnR w="12700">
                      <a:solidFill>
                        <a:srgbClr val="9DB9F2"/>
                      </a:solidFill>
                    </a:lnR>
                    <a:lnT w="12700">
                      <a:solidFill>
                        <a:srgbClr val="9DB9F2"/>
                      </a:solidFill>
                    </a:lnT>
                    <a:lnB w="12700">
                      <a:solidFill>
                        <a:srgbClr val="9DB9F2"/>
                      </a:solidFill>
                    </a:lnB>
                    <a:solidFill>
                      <a:srgbClr val="0057FF"/>
                    </a:solidFill>
                  </a:tcPr>
                </a:tc>
                <a:tc>
                  <a:txBody>
                    <a:bodyPr/>
                    <a:lstStyle/>
                    <a:p>
                      <a:pPr algn="ctr">
                        <a:spcAft>
                          <a:spcPts val="0"/>
                        </a:spcAft>
                        <a:buNone/>
                      </a:pPr>
                      <a:r>
                        <a:rPr lang="en-US" sz="1900" b="1" i="0" dirty="0">
                          <a:solidFill>
                            <a:srgbClr val="FFFFFF"/>
                          </a:solidFill>
                          <a:latin typeface="Open Sauce"/>
                          <a:ea typeface="Open Sauce"/>
                          <a:cs typeface="Open Sauce"/>
                        </a:rPr>
                        <a:t>ADVANTAGES</a:t>
                      </a:r>
                    </a:p>
                  </a:txBody>
                  <a:tcPr marL="137160" marR="137160" marT="109728" marB="109728" anchor="ctr">
                    <a:lnL w="12700">
                      <a:solidFill>
                        <a:srgbClr val="9DB9F2"/>
                      </a:solidFill>
                    </a:lnL>
                    <a:lnR w="12700">
                      <a:solidFill>
                        <a:srgbClr val="9DB9F2"/>
                      </a:solidFill>
                    </a:lnR>
                    <a:lnT w="12700">
                      <a:solidFill>
                        <a:srgbClr val="9DB9F2"/>
                      </a:solidFill>
                    </a:lnT>
                    <a:lnB w="12700">
                      <a:solidFill>
                        <a:srgbClr val="9DB9F2"/>
                      </a:solidFill>
                    </a:lnB>
                    <a:solidFill>
                      <a:srgbClr val="0057FF"/>
                    </a:solidFill>
                  </a:tcPr>
                </a:tc>
                <a:tc>
                  <a:txBody>
                    <a:bodyPr/>
                    <a:lstStyle/>
                    <a:p>
                      <a:pPr algn="ctr">
                        <a:spcAft>
                          <a:spcPts val="0"/>
                        </a:spcAft>
                        <a:buNone/>
                      </a:pPr>
                      <a:r>
                        <a:rPr lang="en-US" sz="1900" b="1" i="0" dirty="0">
                          <a:solidFill>
                            <a:srgbClr val="FFFFFF"/>
                          </a:solidFill>
                          <a:latin typeface="Open Sauce"/>
                          <a:ea typeface="Open Sauce"/>
                          <a:cs typeface="Open Sauce"/>
                        </a:rPr>
                        <a:t>LIMITATIONS</a:t>
                      </a:r>
                    </a:p>
                  </a:txBody>
                  <a:tcPr marL="137160" marR="137160" marT="109728" marB="109728" anchor="ctr">
                    <a:lnL w="12700">
                      <a:solidFill>
                        <a:srgbClr val="9DB9F2"/>
                      </a:solidFill>
                    </a:lnL>
                    <a:lnR w="12700">
                      <a:solidFill>
                        <a:srgbClr val="9DB9F2"/>
                      </a:solidFill>
                    </a:lnR>
                    <a:lnT w="12700">
                      <a:solidFill>
                        <a:srgbClr val="9DB9F2"/>
                      </a:solidFill>
                    </a:lnT>
                    <a:lnB w="12700">
                      <a:solidFill>
                        <a:srgbClr val="9DB9F2"/>
                      </a:solidFill>
                    </a:lnB>
                    <a:solidFill>
                      <a:srgbClr val="0057FF"/>
                    </a:solidFill>
                  </a:tcPr>
                </a:tc>
                <a:extLst>
                  <a:ext uri="{0D108BD9-81ED-4DB2-BD59-A6C34878D82A}">
                    <a16:rowId xmlns:a16="http://schemas.microsoft.com/office/drawing/2014/main" val="10000"/>
                  </a:ext>
                </a:extLst>
              </a:tr>
              <a:tr h="5232400">
                <a:tc>
                  <a:txBody>
                    <a:bodyPr/>
                    <a:lstStyle/>
                    <a:p>
                      <a:pPr algn="l">
                        <a:spcAft>
                          <a:spcPts val="600"/>
                        </a:spcAft>
                        <a:buNone/>
                      </a:pPr>
                      <a:r>
                        <a:rPr lang="en-US" sz="2000" b="1" i="0" dirty="0">
                          <a:solidFill>
                            <a:srgbClr val="001C42"/>
                          </a:solidFill>
                          <a:latin typeface="Open Sauce"/>
                          <a:ea typeface="Open Sauce"/>
                          <a:cs typeface="Open Sauce"/>
                        </a:rPr>
                        <a:t>MACHINE LEARNING-BASED EARLY DETECTION OF IOT BOTNETS USING NETWORK-EDGE TRAFFIC</a:t>
                      </a:r>
                    </a:p>
                    <a:p>
                      <a:pPr algn="l">
                        <a:spcAft>
                          <a:spcPts val="600"/>
                        </a:spcAft>
                        <a:buNone/>
                      </a:pPr>
                      <a:r>
                        <a:rPr lang="en-US" sz="2000" b="1" i="0" dirty="0">
                          <a:solidFill>
                            <a:srgbClr val="0057FF"/>
                          </a:solidFill>
                          <a:latin typeface="Open Sauce"/>
                          <a:ea typeface="Open Sauce"/>
                          <a:cs typeface="Open Sauce"/>
                        </a:rPr>
                        <a:t>Authors: </a:t>
                      </a:r>
                      <a:r>
                        <a:rPr lang="en-US" sz="2000" b="0" i="0" dirty="0">
                          <a:solidFill>
                            <a:srgbClr val="001C42"/>
                          </a:solidFill>
                          <a:latin typeface="Open Sauce"/>
                          <a:ea typeface="Open Sauce"/>
                          <a:cs typeface="Open Sauce"/>
                        </a:rPr>
                        <a:t>Kumar et al.</a:t>
                      </a:r>
                    </a:p>
                    <a:p>
                      <a:pPr algn="l">
                        <a:spcAft>
                          <a:spcPts val="600"/>
                        </a:spcAft>
                        <a:buNone/>
                      </a:pPr>
                      <a:r>
                        <a:rPr lang="en-US" sz="2000" b="1" i="0" dirty="0">
                          <a:solidFill>
                            <a:srgbClr val="0057FF"/>
                          </a:solidFill>
                          <a:latin typeface="Open Sauce"/>
                          <a:ea typeface="Open Sauce"/>
                          <a:cs typeface="Open Sauce"/>
                        </a:rPr>
                        <a:t>Venue: </a:t>
                      </a:r>
                      <a:r>
                        <a:rPr lang="en-US" sz="2000" b="0" i="0" dirty="0">
                          <a:solidFill>
                            <a:srgbClr val="001C42"/>
                          </a:solidFill>
                          <a:latin typeface="Open Sauce"/>
                          <a:ea typeface="Open Sauce"/>
                          <a:cs typeface="Open Sauce"/>
                        </a:rPr>
                        <a:t>Computers &amp; Security, Vol. 117, 2022</a:t>
                      </a:r>
                    </a:p>
                    <a:p>
                      <a:pPr algn="l">
                        <a:spcAft>
                          <a:spcPts val="600"/>
                        </a:spcAft>
                        <a:buNone/>
                      </a:pPr>
                      <a:r>
                        <a:rPr lang="en-US" sz="2000" b="1" i="0" dirty="0">
                          <a:solidFill>
                            <a:srgbClr val="0057FF"/>
                          </a:solidFill>
                          <a:latin typeface="Open Sauce"/>
                          <a:ea typeface="Open Sauce"/>
                          <a:cs typeface="Open Sauce"/>
                        </a:rPr>
                        <a:t>DOI: </a:t>
                      </a:r>
                      <a:r>
                        <a:rPr lang="en-US" sz="2000" b="0" i="0" dirty="0">
                          <a:solidFill>
                            <a:srgbClr val="001C42"/>
                          </a:solidFill>
                          <a:latin typeface="Open Sauce"/>
                          <a:ea typeface="Open Sauce"/>
                          <a:cs typeface="Open Sauce"/>
                        </a:rPr>
                        <a:t>10.1016/j.cose.2022.102693</a:t>
                      </a:r>
                    </a:p>
                  </a:txBody>
                  <a:tcPr marL="137160" marR="137160" marT="109728" marB="109728">
                    <a:lnL w="12700">
                      <a:solidFill>
                        <a:srgbClr val="9DB9F2"/>
                      </a:solidFill>
                    </a:lnL>
                    <a:lnR w="12700">
                      <a:solidFill>
                        <a:srgbClr val="9DB9F2"/>
                      </a:solidFill>
                    </a:lnR>
                    <a:lnT w="12700">
                      <a:solidFill>
                        <a:srgbClr val="9DB9F2"/>
                      </a:solidFill>
                    </a:lnT>
                    <a:lnB w="12700">
                      <a:solidFill>
                        <a:srgbClr val="9DB9F2"/>
                      </a:solidFill>
                    </a:lnB>
                    <a:solidFill>
                      <a:srgbClr val="EAF1FF"/>
                    </a:solidFill>
                  </a:tcPr>
                </a:tc>
                <a:tc>
                  <a:txBody>
                    <a:bodyPr/>
                    <a:lstStyle/>
                    <a:p>
                      <a:pPr algn="l">
                        <a:spcAft>
                          <a:spcPts val="600"/>
                        </a:spcAft>
                        <a:buNone/>
                      </a:pPr>
                      <a:r>
                        <a:rPr lang="en-US" sz="2000" b="0" i="0" dirty="0">
                          <a:solidFill>
                            <a:srgbClr val="001C42"/>
                          </a:solidFill>
                          <a:latin typeface="Open Sauce"/>
                          <a:ea typeface="Open Sauce"/>
                          <a:cs typeface="Open Sauce"/>
                        </a:rPr>
                        <a:t>Proposes EDIMA, a lightweight ML framework that runs at a home-network gateway to detect IoT botnets early, before infected devices join larger attacks. Stage 1 applies supervised ML to aggregate traffic to find scanning/botnet activity; stage 2 uses an Autocorrelation Function (ACF) to identify individual infected devices. Implemented in Python and evaluated on a Raspberry Pi with IoT-23 and Kitsune data (Mirai, Echobot).</a:t>
                      </a:r>
                    </a:p>
                  </a:txBody>
                  <a:tcPr marL="137160" marR="137160" marT="109728" marB="109728">
                    <a:lnL w="12700">
                      <a:solidFill>
                        <a:srgbClr val="9DB9F2"/>
                      </a:solidFill>
                    </a:lnL>
                    <a:lnR w="12700">
                      <a:solidFill>
                        <a:srgbClr val="9DB9F2"/>
                      </a:solidFill>
                    </a:lnR>
                    <a:lnT w="12700">
                      <a:solidFill>
                        <a:srgbClr val="9DB9F2"/>
                      </a:solidFill>
                    </a:lnT>
                    <a:lnB w="12700">
                      <a:solidFill>
                        <a:srgbClr val="9DB9F2"/>
                      </a:solidFill>
                    </a:lnB>
                    <a:solidFill>
                      <a:srgbClr val="FFFFFF"/>
                    </a:solidFill>
                  </a:tcPr>
                </a:tc>
                <a:tc>
                  <a:txBody>
                    <a:bodyPr/>
                    <a:lstStyle/>
                    <a:p>
                      <a:pPr marL="342900" indent="-342900" algn="l">
                        <a:spcAft>
                          <a:spcPts val="600"/>
                        </a:spcAft>
                        <a:buFont typeface="Arial"/>
                        <a:buChar char="•"/>
                      </a:pPr>
                      <a:r>
                        <a:rPr lang="en-US" sz="2000" b="1" i="0" dirty="0">
                          <a:solidFill>
                            <a:srgbClr val="0057FF"/>
                          </a:solidFill>
                          <a:latin typeface="Open Sauce"/>
                          <a:ea typeface="Open Sauce"/>
                          <a:cs typeface="Open Sauce"/>
                        </a:rPr>
                        <a:t>Edge traffic capture: </a:t>
                      </a:r>
                      <a:r>
                        <a:rPr lang="en-US" sz="2000" b="0" i="0" dirty="0">
                          <a:solidFill>
                            <a:srgbClr val="001C42"/>
                          </a:solidFill>
                          <a:latin typeface="Open Sauce"/>
                          <a:ea typeface="Open Sauce"/>
                          <a:cs typeface="Open Sauce"/>
                        </a:rPr>
                        <a:t>detection at the network edge instead of sending traffic to a remote server</a:t>
                      </a:r>
                    </a:p>
                    <a:p>
                      <a:pPr marL="342900" indent="-342900" algn="l">
                        <a:spcAft>
                          <a:spcPts val="600"/>
                        </a:spcAft>
                        <a:buFont typeface="Arial"/>
                        <a:buChar char="•"/>
                      </a:pPr>
                      <a:r>
                        <a:rPr lang="en-US" sz="2000" b="1" i="0" dirty="0">
                          <a:solidFill>
                            <a:srgbClr val="0057FF"/>
                          </a:solidFill>
                          <a:latin typeface="Open Sauce"/>
                          <a:ea typeface="Open Sauce"/>
                          <a:cs typeface="Open Sauce"/>
                        </a:rPr>
                        <a:t>Early detection: </a:t>
                      </a:r>
                      <a:r>
                        <a:rPr lang="en-US" sz="2000" b="0" i="0" dirty="0">
                          <a:solidFill>
                            <a:srgbClr val="001C42"/>
                          </a:solidFill>
                          <a:latin typeface="Open Sauce"/>
                          <a:ea typeface="Open Sauce"/>
                          <a:cs typeface="Open Sauce"/>
                        </a:rPr>
                        <a:t>flags infected devices before they take part in attacks</a:t>
                      </a:r>
                    </a:p>
                    <a:p>
                      <a:pPr marL="342900" indent="-342900" algn="l">
                        <a:spcAft>
                          <a:spcPts val="600"/>
                        </a:spcAft>
                        <a:buFont typeface="Arial"/>
                        <a:buChar char="•"/>
                      </a:pPr>
                      <a:r>
                        <a:rPr lang="en-US" sz="2000" b="1" i="0" dirty="0">
                          <a:solidFill>
                            <a:srgbClr val="0057FF"/>
                          </a:solidFill>
                          <a:latin typeface="Open Sauce"/>
                          <a:ea typeface="Open Sauce"/>
                          <a:cs typeface="Open Sauce"/>
                        </a:rPr>
                        <a:t>Low overhead: </a:t>
                      </a:r>
                      <a:r>
                        <a:rPr lang="en-US" sz="2000" b="0" i="0" dirty="0">
                          <a:solidFill>
                            <a:srgbClr val="001C42"/>
                          </a:solidFill>
                          <a:latin typeface="Open Sauce"/>
                          <a:ea typeface="Open Sauce"/>
                          <a:cs typeface="Open Sauce"/>
                        </a:rPr>
                        <a:t>shown on a Raspberry Pi with relatively low delay and memory use</a:t>
                      </a:r>
                    </a:p>
                    <a:p>
                      <a:pPr marL="342900" indent="-342900" algn="l">
                        <a:spcAft>
                          <a:spcPts val="600"/>
                        </a:spcAft>
                        <a:buFont typeface="Arial"/>
                        <a:buChar char="•"/>
                      </a:pPr>
                      <a:r>
                        <a:rPr lang="en-US" sz="2000" b="1" i="0" dirty="0">
                          <a:solidFill>
                            <a:srgbClr val="0057FF"/>
                          </a:solidFill>
                          <a:latin typeface="Open Sauce"/>
                          <a:ea typeface="Open Sauce"/>
                          <a:cs typeface="Open Sauce"/>
                        </a:rPr>
                        <a:t>Realistic data: </a:t>
                      </a:r>
                      <a:r>
                        <a:rPr lang="en-US" sz="2000" b="0" i="0" dirty="0">
                          <a:solidFill>
                            <a:srgbClr val="001C42"/>
                          </a:solidFill>
                          <a:latin typeface="Open Sauce"/>
                          <a:ea typeface="Open Sauce"/>
                          <a:cs typeface="Open Sauce"/>
                        </a:rPr>
                        <a:t>evaluated on public IoT botnet traffic, not only simulation</a:t>
                      </a:r>
                    </a:p>
                  </a:txBody>
                  <a:tcPr marL="137160" marR="137160" marT="109728" marB="109728">
                    <a:lnL w="12700">
                      <a:solidFill>
                        <a:srgbClr val="9DB9F2"/>
                      </a:solidFill>
                    </a:lnL>
                    <a:lnR w="12700">
                      <a:solidFill>
                        <a:srgbClr val="9DB9F2"/>
                      </a:solidFill>
                    </a:lnR>
                    <a:lnT w="12700">
                      <a:solidFill>
                        <a:srgbClr val="9DB9F2"/>
                      </a:solidFill>
                    </a:lnT>
                    <a:lnB w="12700">
                      <a:solidFill>
                        <a:srgbClr val="9DB9F2"/>
                      </a:solidFill>
                    </a:lnB>
                    <a:solidFill>
                      <a:srgbClr val="FFFFFF"/>
                    </a:solidFill>
                  </a:tcPr>
                </a:tc>
                <a:tc>
                  <a:txBody>
                    <a:bodyPr/>
                    <a:lstStyle/>
                    <a:p>
                      <a:pPr marL="342900" indent="-342900" algn="l">
                        <a:spcAft>
                          <a:spcPts val="600"/>
                        </a:spcAft>
                        <a:buFont typeface="Arial"/>
                        <a:buChar char="•"/>
                      </a:pPr>
                      <a:r>
                        <a:rPr lang="en-US" sz="2000" b="1" i="0" dirty="0">
                          <a:solidFill>
                            <a:srgbClr val="0057FF"/>
                          </a:solidFill>
                          <a:latin typeface="Open Sauce"/>
                          <a:ea typeface="Open Sauce"/>
                          <a:cs typeface="Open Sauce"/>
                        </a:rPr>
                        <a:t>Known behaviour: </a:t>
                      </a:r>
                      <a:r>
                        <a:rPr lang="en-US" sz="2000" b="0" i="0" dirty="0">
                          <a:solidFill>
                            <a:srgbClr val="001C42"/>
                          </a:solidFill>
                          <a:latin typeface="Open Sauce"/>
                          <a:ea typeface="Open Sauce"/>
                          <a:cs typeface="Open Sauce"/>
                        </a:rPr>
                        <a:t>mainly recognizes scanning and C&amp;C patterns</a:t>
                      </a:r>
                    </a:p>
                    <a:p>
                      <a:pPr marL="342900" indent="-342900" algn="l">
                        <a:spcAft>
                          <a:spcPts val="600"/>
                        </a:spcAft>
                        <a:buFont typeface="Arial"/>
                        <a:buChar char="•"/>
                      </a:pPr>
                      <a:r>
                        <a:rPr lang="en-US" sz="2000" b="1" i="0" dirty="0">
                          <a:solidFill>
                            <a:srgbClr val="0057FF"/>
                          </a:solidFill>
                          <a:latin typeface="Open Sauce"/>
                          <a:ea typeface="Open Sauce"/>
                          <a:cs typeface="Open Sauce"/>
                        </a:rPr>
                        <a:t>Limited adaptation: </a:t>
                      </a:r>
                      <a:r>
                        <a:rPr lang="en-US" sz="2000" b="0" i="0" dirty="0">
                          <a:solidFill>
                            <a:srgbClr val="001C42"/>
                          </a:solidFill>
                          <a:latin typeface="Open Sauce"/>
                          <a:ea typeface="Open Sauce"/>
                          <a:cs typeface="Open Sauce"/>
                        </a:rPr>
                        <a:t>no continuous concept-drift handling</a:t>
                      </a:r>
                    </a:p>
                    <a:p>
                      <a:pPr marL="342900" indent="-342900" algn="l">
                        <a:spcAft>
                          <a:spcPts val="600"/>
                        </a:spcAft>
                        <a:buFont typeface="Arial"/>
                        <a:buChar char="•"/>
                      </a:pPr>
                      <a:r>
                        <a:rPr lang="en-US" sz="2000" b="1" i="0" dirty="0">
                          <a:solidFill>
                            <a:srgbClr val="0057FF"/>
                          </a:solidFill>
                          <a:latin typeface="Open Sauce"/>
                          <a:ea typeface="Open Sauce"/>
                          <a:cs typeface="Open Sauce"/>
                        </a:rPr>
                        <a:t>False positives: </a:t>
                      </a:r>
                      <a:r>
                        <a:rPr lang="en-US" sz="2000" b="0" i="0" dirty="0">
                          <a:solidFill>
                            <a:srgbClr val="001C42"/>
                          </a:solidFill>
                          <a:latin typeface="Open Sauce"/>
                          <a:ea typeface="Open Sauce"/>
                          <a:cs typeface="Open Sauce"/>
                        </a:rPr>
                        <a:t>new devices and legitimate traffic changes can trigger them</a:t>
                      </a:r>
                    </a:p>
                    <a:p>
                      <a:pPr marL="342900" indent="-342900" algn="l">
                        <a:spcAft>
                          <a:spcPts val="600"/>
                        </a:spcAft>
                        <a:buFont typeface="Arial"/>
                        <a:buChar char="•"/>
                      </a:pPr>
                      <a:r>
                        <a:rPr lang="en-US" sz="2000" b="1" i="0" dirty="0">
                          <a:solidFill>
                            <a:srgbClr val="0057FF"/>
                          </a:solidFill>
                          <a:latin typeface="Open Sauce"/>
                          <a:ea typeface="Open Sauce"/>
                          <a:cs typeface="Open Sauce"/>
                        </a:rPr>
                        <a:t>Unseen botnets: </a:t>
                      </a:r>
                      <a:r>
                        <a:rPr lang="en-US" sz="2000" b="0" i="0" dirty="0">
                          <a:solidFill>
                            <a:srgbClr val="001C42"/>
                          </a:solidFill>
                          <a:latin typeface="Open Sauce"/>
                          <a:ea typeface="Open Sauce"/>
                          <a:cs typeface="Open Sauce"/>
                        </a:rPr>
                        <a:t>new botnet behaviour remains hard to detect</a:t>
                      </a:r>
                    </a:p>
                    <a:p>
                      <a:pPr marL="342900" indent="-342900" algn="l">
                        <a:spcAft>
                          <a:spcPts val="600"/>
                        </a:spcAft>
                        <a:buFont typeface="Arial"/>
                        <a:buChar char="•"/>
                      </a:pPr>
                      <a:r>
                        <a:rPr lang="en-US" sz="2000" b="1" i="0" dirty="0">
                          <a:solidFill>
                            <a:srgbClr val="0057FF"/>
                          </a:solidFill>
                          <a:latin typeface="Open Sauce"/>
                          <a:ea typeface="Open Sauce"/>
                          <a:cs typeface="Open Sauce"/>
                        </a:rPr>
                        <a:t>Hardware: </a:t>
                      </a:r>
                      <a:r>
                        <a:rPr lang="en-US" sz="2000" b="0" i="0" dirty="0">
                          <a:solidFill>
                            <a:srgbClr val="001C42"/>
                          </a:solidFill>
                          <a:latin typeface="Open Sauce"/>
                          <a:ea typeface="Open Sauce"/>
                          <a:cs typeface="Open Sauce"/>
                        </a:rPr>
                        <a:t>tested on one platform; generalization to other devices is open</a:t>
                      </a:r>
                    </a:p>
                  </a:txBody>
                  <a:tcPr marL="137160" marR="137160" marT="109728" marB="109728">
                    <a:lnL w="12700">
                      <a:solidFill>
                        <a:srgbClr val="9DB9F2"/>
                      </a:solidFill>
                    </a:lnL>
                    <a:lnR w="12700">
                      <a:solidFill>
                        <a:srgbClr val="9DB9F2"/>
                      </a:solidFill>
                    </a:lnR>
                    <a:lnT w="12700">
                      <a:solidFill>
                        <a:srgbClr val="9DB9F2"/>
                      </a:solidFill>
                    </a:lnT>
                    <a:lnB w="12700">
                      <a:solidFill>
                        <a:srgbClr val="9DB9F2"/>
                      </a:solidFill>
                    </a:lnB>
                    <a:solidFill>
                      <a:srgbClr val="FFFFFF"/>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BBBBBB">
                <a:alpha val="100000"/>
              </a:srgbClr>
            </a:gs>
          </a:gsLst>
          <a:lin ang="2700000"/>
        </a:gradFill>
        <a:effectLst/>
      </p:bgPr>
    </p:bg>
    <p:spTree>
      <p:nvGrpSpPr>
        <p:cNvPr id="1" name=""/>
        <p:cNvGrpSpPr/>
        <p:nvPr/>
      </p:nvGrpSpPr>
      <p:grpSpPr>
        <a:xfrm>
          <a:off x="0" y="0"/>
          <a:ext cx="0" cy="0"/>
          <a:chOff x="0" y="0"/>
          <a:chExt cx="0" cy="0"/>
        </a:xfrm>
      </p:grpSpPr>
      <p:sp>
        <p:nvSpPr>
          <p:cNvPr id="17" name="Freeform 17"/>
          <p:cNvSpPr/>
          <p:nvPr/>
        </p:nvSpPr>
        <p:spPr>
          <a:xfrm>
            <a:off x="-9554138" y="2164352"/>
            <a:ext cx="19108277" cy="14187896"/>
          </a:xfrm>
          <a:custGeom>
            <a:avLst/>
            <a:gdLst/>
            <a:ahLst/>
            <a:cxnLst/>
            <a:rect l="l" t="t" r="r" b="b"/>
            <a:pathLst>
              <a:path w="19108277" h="14187896">
                <a:moveTo>
                  <a:pt x="0" y="0"/>
                </a:moveTo>
                <a:lnTo>
                  <a:pt x="19108276" y="0"/>
                </a:lnTo>
                <a:lnTo>
                  <a:pt x="19108276" y="14187896"/>
                </a:lnTo>
                <a:lnTo>
                  <a:pt x="0" y="14187896"/>
                </a:lnTo>
                <a:lnTo>
                  <a:pt x="0" y="0"/>
                </a:lnTo>
                <a:close/>
              </a:path>
            </a:pathLst>
          </a:custGeom>
          <a:blipFill>
            <a:blip r:embed="rId2"/>
            <a:stretch>
              <a:fillRect/>
            </a:stretch>
          </a:blipFill>
        </p:spPr>
      </p:sp>
      <p:sp>
        <p:nvSpPr>
          <p:cNvPr id="26" name="Freeform 26"/>
          <p:cNvSpPr/>
          <p:nvPr/>
        </p:nvSpPr>
        <p:spPr>
          <a:xfrm>
            <a:off x="16343296" y="177703"/>
            <a:ext cx="1832007" cy="850997"/>
          </a:xfrm>
          <a:custGeom>
            <a:avLst/>
            <a:gdLst/>
            <a:ahLst/>
            <a:cxnLst/>
            <a:rect l="l" t="t" r="r" b="b"/>
            <a:pathLst>
              <a:path w="1832007" h="850997">
                <a:moveTo>
                  <a:pt x="0" y="0"/>
                </a:moveTo>
                <a:lnTo>
                  <a:pt x="1832008" y="0"/>
                </a:lnTo>
                <a:lnTo>
                  <a:pt x="1832008" y="850997"/>
                </a:lnTo>
                <a:lnTo>
                  <a:pt x="0" y="850997"/>
                </a:lnTo>
                <a:lnTo>
                  <a:pt x="0" y="0"/>
                </a:lnTo>
                <a:close/>
              </a:path>
            </a:pathLst>
          </a:custGeom>
          <a:blipFill>
            <a:blip r:embed="rId3"/>
            <a:stretch>
              <a:fillRect/>
            </a:stretch>
          </a:blipFill>
        </p:spPr>
      </p:sp>
      <p:sp>
        <p:nvSpPr>
          <p:cNvPr id="196" name="Title 196"/>
          <p:cNvSpPr txBox="1"/>
          <p:nvPr/>
        </p:nvSpPr>
        <p:spPr>
          <a:xfrm>
            <a:off x="1005840" y="365760"/>
            <a:ext cx="14538960" cy="1280160"/>
          </a:xfrm>
          <a:prstGeom prst="rect">
            <a:avLst/>
          </a:prstGeom>
          <a:noFill/>
          <a:ln>
            <a:noFill/>
          </a:ln>
        </p:spPr>
        <p:txBody>
          <a:bodyPr wrap="square" lIns="0" tIns="0" rIns="0" bIns="0" rtlCol="0" anchor="ctr">
            <a:noAutofit/>
          </a:bodyPr>
          <a:lstStyle/>
          <a:p>
            <a:pPr algn="l">
              <a:spcAft>
                <a:spcPts val="0"/>
              </a:spcAft>
              <a:buNone/>
            </a:pPr>
            <a:r>
              <a:rPr lang="en-US" sz="5600" b="0" i="0" dirty="0">
                <a:gradFill>
                  <a:gsLst>
                    <a:gs pos="0">
                      <a:srgbClr val="0057FF"/>
                    </a:gs>
                    <a:gs pos="100000">
                      <a:srgbClr val="001C42"/>
                    </a:gs>
                  </a:gsLst>
                  <a:lin ang="2700000"/>
                </a:gradFill>
                <a:latin typeface="Intro"/>
                <a:ea typeface="Intro"/>
                <a:cs typeface="Intro"/>
              </a:rPr>
              <a:t>Literature Survey</a:t>
            </a:r>
          </a:p>
        </p:txBody>
      </p:sp>
      <p:graphicFrame>
        <p:nvGraphicFramePr>
          <p:cNvPr id="197" name="Table 197"/>
          <p:cNvGraphicFramePr>
            <a:graphicFrameLocks noGrp="1"/>
          </p:cNvGraphicFramePr>
          <p:nvPr/>
        </p:nvGraphicFramePr>
        <p:xfrm>
          <a:off x="1005840" y="1783080"/>
          <a:ext cx="16276320" cy="5949696"/>
        </p:xfrm>
        <a:graphic>
          <a:graphicData uri="http://schemas.openxmlformats.org/drawingml/2006/table">
            <a:tbl>
              <a:tblPr firstRow="1"/>
              <a:tblGrid>
                <a:gridCol w="329184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gridCol w="4389120">
                  <a:extLst>
                    <a:ext uri="{9D8B030D-6E8A-4147-A177-3AD203B41FA5}">
                      <a16:colId xmlns:a16="http://schemas.microsoft.com/office/drawing/2014/main" val="20003"/>
                    </a:ext>
                  </a:extLst>
                </a:gridCol>
              </a:tblGrid>
              <a:tr h="640080">
                <a:tc>
                  <a:txBody>
                    <a:bodyPr/>
                    <a:lstStyle/>
                    <a:p>
                      <a:pPr algn="ctr">
                        <a:spcAft>
                          <a:spcPts val="0"/>
                        </a:spcAft>
                        <a:buNone/>
                      </a:pPr>
                      <a:r>
                        <a:rPr lang="en-US" sz="1900" b="1" i="0" dirty="0">
                          <a:solidFill>
                            <a:srgbClr val="FFFFFF"/>
                          </a:solidFill>
                          <a:latin typeface="Open Sauce"/>
                          <a:ea typeface="Open Sauce"/>
                          <a:cs typeface="Open Sauce"/>
                        </a:rPr>
                        <a:t>PAPER DETAILS</a:t>
                      </a:r>
                    </a:p>
                  </a:txBody>
                  <a:tcPr marL="137160" marR="137160" marT="109728" marB="109728" anchor="ctr">
                    <a:lnL w="12700">
                      <a:solidFill>
                        <a:srgbClr val="9DB9F2"/>
                      </a:solidFill>
                    </a:lnL>
                    <a:lnR w="12700">
                      <a:solidFill>
                        <a:srgbClr val="9DB9F2"/>
                      </a:solidFill>
                    </a:lnR>
                    <a:lnT w="12700">
                      <a:solidFill>
                        <a:srgbClr val="9DB9F2"/>
                      </a:solidFill>
                    </a:lnT>
                    <a:lnB w="12700">
                      <a:solidFill>
                        <a:srgbClr val="9DB9F2"/>
                      </a:solidFill>
                    </a:lnB>
                    <a:solidFill>
                      <a:srgbClr val="0057FF"/>
                    </a:solidFill>
                  </a:tcPr>
                </a:tc>
                <a:tc>
                  <a:txBody>
                    <a:bodyPr/>
                    <a:lstStyle/>
                    <a:p>
                      <a:pPr algn="ctr">
                        <a:spcAft>
                          <a:spcPts val="0"/>
                        </a:spcAft>
                        <a:buNone/>
                      </a:pPr>
                      <a:r>
                        <a:rPr lang="en-US" sz="1900" b="1" i="0" dirty="0">
                          <a:solidFill>
                            <a:srgbClr val="FFFFFF"/>
                          </a:solidFill>
                          <a:latin typeface="Open Sauce"/>
                          <a:ea typeface="Open Sauce"/>
                          <a:cs typeface="Open Sauce"/>
                        </a:rPr>
                        <a:t>OBJECTIVE / TECHNIQUE / MODEL</a:t>
                      </a:r>
                    </a:p>
                  </a:txBody>
                  <a:tcPr marL="137160" marR="137160" marT="109728" marB="109728" anchor="ctr">
                    <a:lnL w="12700">
                      <a:solidFill>
                        <a:srgbClr val="9DB9F2"/>
                      </a:solidFill>
                    </a:lnL>
                    <a:lnR w="12700">
                      <a:solidFill>
                        <a:srgbClr val="9DB9F2"/>
                      </a:solidFill>
                    </a:lnR>
                    <a:lnT w="12700">
                      <a:solidFill>
                        <a:srgbClr val="9DB9F2"/>
                      </a:solidFill>
                    </a:lnT>
                    <a:lnB w="12700">
                      <a:solidFill>
                        <a:srgbClr val="9DB9F2"/>
                      </a:solidFill>
                    </a:lnB>
                    <a:solidFill>
                      <a:srgbClr val="0057FF"/>
                    </a:solidFill>
                  </a:tcPr>
                </a:tc>
                <a:tc>
                  <a:txBody>
                    <a:bodyPr/>
                    <a:lstStyle/>
                    <a:p>
                      <a:pPr algn="ctr">
                        <a:spcAft>
                          <a:spcPts val="0"/>
                        </a:spcAft>
                        <a:buNone/>
                      </a:pPr>
                      <a:r>
                        <a:rPr lang="en-US" sz="1900" b="1" i="0" dirty="0">
                          <a:solidFill>
                            <a:srgbClr val="FFFFFF"/>
                          </a:solidFill>
                          <a:latin typeface="Open Sauce"/>
                          <a:ea typeface="Open Sauce"/>
                          <a:cs typeface="Open Sauce"/>
                        </a:rPr>
                        <a:t>ADVANTAGES</a:t>
                      </a:r>
                    </a:p>
                  </a:txBody>
                  <a:tcPr marL="137160" marR="137160" marT="109728" marB="109728" anchor="ctr">
                    <a:lnL w="12700">
                      <a:solidFill>
                        <a:srgbClr val="9DB9F2"/>
                      </a:solidFill>
                    </a:lnL>
                    <a:lnR w="12700">
                      <a:solidFill>
                        <a:srgbClr val="9DB9F2"/>
                      </a:solidFill>
                    </a:lnR>
                    <a:lnT w="12700">
                      <a:solidFill>
                        <a:srgbClr val="9DB9F2"/>
                      </a:solidFill>
                    </a:lnT>
                    <a:lnB w="12700">
                      <a:solidFill>
                        <a:srgbClr val="9DB9F2"/>
                      </a:solidFill>
                    </a:lnB>
                    <a:solidFill>
                      <a:srgbClr val="0057FF"/>
                    </a:solidFill>
                  </a:tcPr>
                </a:tc>
                <a:tc>
                  <a:txBody>
                    <a:bodyPr/>
                    <a:lstStyle/>
                    <a:p>
                      <a:pPr algn="ctr">
                        <a:spcAft>
                          <a:spcPts val="0"/>
                        </a:spcAft>
                        <a:buNone/>
                      </a:pPr>
                      <a:r>
                        <a:rPr lang="en-US" sz="1900" b="1" i="0" dirty="0">
                          <a:solidFill>
                            <a:srgbClr val="FFFFFF"/>
                          </a:solidFill>
                          <a:latin typeface="Open Sauce"/>
                          <a:ea typeface="Open Sauce"/>
                          <a:cs typeface="Open Sauce"/>
                        </a:rPr>
                        <a:t>LIMITATIONS</a:t>
                      </a:r>
                    </a:p>
                  </a:txBody>
                  <a:tcPr marL="137160" marR="137160" marT="109728" marB="109728" anchor="ctr">
                    <a:lnL w="12700">
                      <a:solidFill>
                        <a:srgbClr val="9DB9F2"/>
                      </a:solidFill>
                    </a:lnL>
                    <a:lnR w="12700">
                      <a:solidFill>
                        <a:srgbClr val="9DB9F2"/>
                      </a:solidFill>
                    </a:lnR>
                    <a:lnT w="12700">
                      <a:solidFill>
                        <a:srgbClr val="9DB9F2"/>
                      </a:solidFill>
                    </a:lnT>
                    <a:lnB w="12700">
                      <a:solidFill>
                        <a:srgbClr val="9DB9F2"/>
                      </a:solidFill>
                    </a:lnB>
                    <a:solidFill>
                      <a:srgbClr val="0057FF"/>
                    </a:solidFill>
                  </a:tcPr>
                </a:tc>
                <a:extLst>
                  <a:ext uri="{0D108BD9-81ED-4DB2-BD59-A6C34878D82A}">
                    <a16:rowId xmlns:a16="http://schemas.microsoft.com/office/drawing/2014/main" val="10000"/>
                  </a:ext>
                </a:extLst>
              </a:tr>
              <a:tr h="5151120">
                <a:tc>
                  <a:txBody>
                    <a:bodyPr/>
                    <a:lstStyle/>
                    <a:p>
                      <a:pPr algn="l">
                        <a:spcAft>
                          <a:spcPts val="600"/>
                        </a:spcAft>
                        <a:buNone/>
                      </a:pPr>
                      <a:r>
                        <a:rPr lang="en-US" sz="2000" b="1" i="0" dirty="0">
                          <a:solidFill>
                            <a:srgbClr val="001C42"/>
                          </a:solidFill>
                          <a:latin typeface="Open Sauce"/>
                          <a:ea typeface="Open Sauce"/>
                          <a:cs typeface="Open Sauce"/>
                        </a:rPr>
                        <a:t>AGENTEE: CONFIDENTIAL LLM AGENT EXECUTION ON EDGE DEVICES</a:t>
                      </a:r>
                    </a:p>
                    <a:p>
                      <a:pPr algn="l">
                        <a:spcAft>
                          <a:spcPts val="600"/>
                        </a:spcAft>
                        <a:buNone/>
                      </a:pPr>
                      <a:r>
                        <a:rPr lang="en-US" sz="2000" b="1" i="0" dirty="0">
                          <a:solidFill>
                            <a:srgbClr val="0057FF"/>
                          </a:solidFill>
                          <a:latin typeface="Open Sauce"/>
                          <a:ea typeface="Open Sauce"/>
                          <a:cs typeface="Open Sauce"/>
                        </a:rPr>
                        <a:t>Venue: </a:t>
                      </a:r>
                      <a:r>
                        <a:rPr lang="en-US" sz="2000" b="0" i="0" dirty="0">
                          <a:solidFill>
                            <a:srgbClr val="001C42"/>
                          </a:solidFill>
                          <a:latin typeface="Open Sauce"/>
                          <a:ea typeface="Open Sauce"/>
                          <a:cs typeface="Open Sauce"/>
                        </a:rPr>
                        <a:t>EuroMLSys 2026</a:t>
                      </a:r>
                    </a:p>
                    <a:p>
                      <a:pPr algn="l">
                        <a:spcAft>
                          <a:spcPts val="600"/>
                        </a:spcAft>
                        <a:buNone/>
                      </a:pPr>
                      <a:r>
                        <a:rPr lang="en-US" sz="2000" b="1" i="0" dirty="0">
                          <a:solidFill>
                            <a:srgbClr val="0057FF"/>
                          </a:solidFill>
                          <a:latin typeface="Open Sauce"/>
                          <a:ea typeface="Open Sauce"/>
                          <a:cs typeface="Open Sauce"/>
                        </a:rPr>
                        <a:t>Link: </a:t>
                      </a:r>
                      <a:r>
                        <a:rPr lang="en-US" sz="2000" b="0" i="0" dirty="0">
                          <a:solidFill>
                            <a:srgbClr val="001C42"/>
                          </a:solidFill>
                          <a:latin typeface="Open Sauce"/>
                          <a:ea typeface="Open Sauce"/>
                          <a:cs typeface="Open Sauce"/>
                        </a:rPr>
                        <a:t>dl.acm.org/doi/10.1145/3805621.3807660</a:t>
                      </a:r>
                    </a:p>
                  </a:txBody>
                  <a:tcPr marL="137160" marR="137160" marT="109728" marB="109728">
                    <a:lnL w="12700">
                      <a:solidFill>
                        <a:srgbClr val="9DB9F2"/>
                      </a:solidFill>
                    </a:lnL>
                    <a:lnR w="12700">
                      <a:solidFill>
                        <a:srgbClr val="9DB9F2"/>
                      </a:solidFill>
                    </a:lnR>
                    <a:lnT w="12700">
                      <a:solidFill>
                        <a:srgbClr val="9DB9F2"/>
                      </a:solidFill>
                    </a:lnT>
                    <a:lnB w="12700">
                      <a:solidFill>
                        <a:srgbClr val="9DB9F2"/>
                      </a:solidFill>
                    </a:lnB>
                    <a:solidFill>
                      <a:srgbClr val="EAF1FF"/>
                    </a:solidFill>
                  </a:tcPr>
                </a:tc>
                <a:tc>
                  <a:txBody>
                    <a:bodyPr/>
                    <a:lstStyle/>
                    <a:p>
                      <a:pPr algn="l">
                        <a:spcAft>
                          <a:spcPts val="600"/>
                        </a:spcAft>
                        <a:buNone/>
                      </a:pPr>
                      <a:r>
                        <a:rPr lang="en-US" sz="2000" b="0" i="0" dirty="0">
                          <a:solidFill>
                            <a:srgbClr val="001C42"/>
                          </a:solidFill>
                          <a:latin typeface="Open Sauce"/>
                          <a:ea typeface="Open Sauce"/>
                          <a:cs typeface="Open Sauce"/>
                        </a:rPr>
                        <a:t>Secure framework for running LLM agents directly on edge devices. Agents use external tools, applications and hardware, which adds risks such as sensitive-data exposure, unintended actions and safeguard bypass. AgenTEE uses Arm Confidential Compute Architecture (CCA) and independently attested confidential VMs to protect the agent runtime, model weights, system prompts and sensitive state on untrusted edge infrastructure.</a:t>
                      </a:r>
                    </a:p>
                  </a:txBody>
                  <a:tcPr marL="137160" marR="137160" marT="109728" marB="109728">
                    <a:lnL w="12700">
                      <a:solidFill>
                        <a:srgbClr val="9DB9F2"/>
                      </a:solidFill>
                    </a:lnL>
                    <a:lnR w="12700">
                      <a:solidFill>
                        <a:srgbClr val="9DB9F2"/>
                      </a:solidFill>
                    </a:lnR>
                    <a:lnT w="12700">
                      <a:solidFill>
                        <a:srgbClr val="9DB9F2"/>
                      </a:solidFill>
                    </a:lnT>
                    <a:lnB w="12700">
                      <a:solidFill>
                        <a:srgbClr val="9DB9F2"/>
                      </a:solidFill>
                    </a:lnB>
                    <a:solidFill>
                      <a:srgbClr val="FFFFFF"/>
                    </a:solidFill>
                  </a:tcPr>
                </a:tc>
                <a:tc>
                  <a:txBody>
                    <a:bodyPr/>
                    <a:lstStyle/>
                    <a:p>
                      <a:pPr marL="342900" indent="-342900" algn="l">
                        <a:spcAft>
                          <a:spcPts val="600"/>
                        </a:spcAft>
                        <a:buFont typeface="Arial"/>
                        <a:buChar char="•"/>
                      </a:pPr>
                      <a:r>
                        <a:rPr lang="en-US" sz="2000" b="1" i="0" dirty="0">
                          <a:solidFill>
                            <a:srgbClr val="0057FF"/>
                          </a:solidFill>
                          <a:latin typeface="Open Sauce"/>
                          <a:ea typeface="Open Sauce"/>
                          <a:cs typeface="Open Sauce"/>
                        </a:rPr>
                        <a:t>Strong isolation: </a:t>
                      </a:r>
                      <a:r>
                        <a:rPr lang="en-US" sz="2000" b="0" i="0" dirty="0">
                          <a:solidFill>
                            <a:srgbClr val="001C42"/>
                          </a:solidFill>
                          <a:latin typeface="Open Sauce"/>
                          <a:ea typeface="Open Sauce"/>
                          <a:cs typeface="Open Sauce"/>
                        </a:rPr>
                        <a:t>hardware-backed TEE protects runtime, weights, prompts and state</a:t>
                      </a:r>
                    </a:p>
                    <a:p>
                      <a:pPr marL="342900" indent="-342900" algn="l">
                        <a:spcAft>
                          <a:spcPts val="600"/>
                        </a:spcAft>
                        <a:buFont typeface="Arial"/>
                        <a:buChar char="•"/>
                      </a:pPr>
                      <a:r>
                        <a:rPr lang="en-US" sz="2000" b="1" i="0" dirty="0">
                          <a:solidFill>
                            <a:srgbClr val="0057FF"/>
                          </a:solidFill>
                          <a:latin typeface="Open Sauce"/>
                          <a:ea typeface="Open Sauce"/>
                          <a:cs typeface="Open Sauce"/>
                        </a:rPr>
                        <a:t>Attestation: </a:t>
                      </a:r>
                      <a:r>
                        <a:rPr lang="en-US" sz="2000" b="0" i="0" dirty="0">
                          <a:solidFill>
                            <a:srgbClr val="001C42"/>
                          </a:solidFill>
                          <a:latin typeface="Open Sauce"/>
                          <a:ea typeface="Open Sauce"/>
                          <a:cs typeface="Open Sauce"/>
                        </a:rPr>
                        <a:t>confidential VMs are independently attested</a:t>
                      </a:r>
                    </a:p>
                    <a:p>
                      <a:pPr marL="342900" indent="-342900" algn="l">
                        <a:spcAft>
                          <a:spcPts val="600"/>
                        </a:spcAft>
                        <a:buFont typeface="Arial"/>
                        <a:buChar char="•"/>
                      </a:pPr>
                      <a:r>
                        <a:rPr lang="en-US" sz="2000" b="1" i="0" dirty="0">
                          <a:solidFill>
                            <a:srgbClr val="0057FF"/>
                          </a:solidFill>
                          <a:latin typeface="Open Sauce"/>
                          <a:ea typeface="Open Sauce"/>
                          <a:cs typeface="Open Sauce"/>
                        </a:rPr>
                        <a:t>Low overhead: </a:t>
                      </a:r>
                      <a:r>
                        <a:rPr lang="en-US" sz="2000" b="0" i="0" dirty="0">
                          <a:solidFill>
                            <a:srgbClr val="001C42"/>
                          </a:solidFill>
                          <a:latin typeface="Open Sauce"/>
                          <a:ea typeface="Open Sauce"/>
                          <a:cs typeface="Open Sauce"/>
                        </a:rPr>
                        <a:t>under 5.15% runtime overhead versus conventional OS-level process isolation</a:t>
                      </a:r>
                    </a:p>
                    <a:p>
                      <a:pPr marL="342900" indent="-342900" algn="l">
                        <a:spcAft>
                          <a:spcPts val="600"/>
                        </a:spcAft>
                        <a:buFont typeface="Arial"/>
                        <a:buChar char="•"/>
                      </a:pPr>
                      <a:r>
                        <a:rPr lang="en-US" sz="2000" b="1" i="0" dirty="0">
                          <a:solidFill>
                            <a:srgbClr val="0057FF"/>
                          </a:solidFill>
                          <a:latin typeface="Open Sauce"/>
                          <a:ea typeface="Open Sauce"/>
                          <a:cs typeface="Open Sauce"/>
                        </a:rPr>
                        <a:t>Edge-ready: </a:t>
                      </a:r>
                      <a:r>
                        <a:rPr lang="en-US" sz="2000" b="0" i="0" dirty="0">
                          <a:solidFill>
                            <a:srgbClr val="001C42"/>
                          </a:solidFill>
                          <a:latin typeface="Open Sauce"/>
                          <a:ea typeface="Open Sauce"/>
                          <a:cs typeface="Open Sauce"/>
                        </a:rPr>
                        <a:t>targets deployment on potentially untrusted edge infrastructure</a:t>
                      </a:r>
                    </a:p>
                  </a:txBody>
                  <a:tcPr marL="137160" marR="137160" marT="109728" marB="109728">
                    <a:lnL w="12700">
                      <a:solidFill>
                        <a:srgbClr val="9DB9F2"/>
                      </a:solidFill>
                    </a:lnL>
                    <a:lnR w="12700">
                      <a:solidFill>
                        <a:srgbClr val="9DB9F2"/>
                      </a:solidFill>
                    </a:lnR>
                    <a:lnT w="12700">
                      <a:solidFill>
                        <a:srgbClr val="9DB9F2"/>
                      </a:solidFill>
                    </a:lnT>
                    <a:lnB w="12700">
                      <a:solidFill>
                        <a:srgbClr val="9DB9F2"/>
                      </a:solidFill>
                    </a:lnB>
                    <a:solidFill>
                      <a:srgbClr val="FFFFFF"/>
                    </a:solidFill>
                  </a:tcPr>
                </a:tc>
                <a:tc>
                  <a:txBody>
                    <a:bodyPr/>
                    <a:lstStyle/>
                    <a:p>
                      <a:pPr marL="342900" indent="-342900" algn="l">
                        <a:spcAft>
                          <a:spcPts val="600"/>
                        </a:spcAft>
                        <a:buFont typeface="Arial"/>
                        <a:buChar char="•"/>
                      </a:pPr>
                      <a:r>
                        <a:rPr lang="en-US" sz="2000" b="1" i="0" dirty="0">
                          <a:solidFill>
                            <a:srgbClr val="0057FF"/>
                          </a:solidFill>
                          <a:latin typeface="Open Sauce"/>
                          <a:ea typeface="Open Sauce"/>
                          <a:cs typeface="Open Sauce"/>
                        </a:rPr>
                        <a:t>Execution only: </a:t>
                      </a:r>
                      <a:r>
                        <a:rPr lang="en-US" sz="2000" b="0" i="0" dirty="0">
                          <a:solidFill>
                            <a:srgbClr val="001C42"/>
                          </a:solidFill>
                          <a:latin typeface="Open Sauce"/>
                          <a:ea typeface="Open Sauce"/>
                          <a:cs typeface="Open Sauce"/>
                        </a:rPr>
                        <a:t>secure execution does not guarantee that an agent action is safe in context</a:t>
                      </a:r>
                    </a:p>
                    <a:p>
                      <a:pPr marL="342900" indent="-342900" algn="l">
                        <a:spcAft>
                          <a:spcPts val="600"/>
                        </a:spcAft>
                        <a:buFont typeface="Arial"/>
                        <a:buChar char="•"/>
                      </a:pPr>
                      <a:r>
                        <a:rPr lang="en-US" sz="2000" b="1" i="0" dirty="0">
                          <a:solidFill>
                            <a:srgbClr val="0057FF"/>
                          </a:solidFill>
                          <a:latin typeface="Open Sauce"/>
                          <a:ea typeface="Open Sauce"/>
                          <a:cs typeface="Open Sauce"/>
                        </a:rPr>
                        <a:t>Context blind: </a:t>
                      </a:r>
                      <a:r>
                        <a:rPr lang="en-US" sz="2000" b="0" i="0" dirty="0">
                          <a:solidFill>
                            <a:srgbClr val="001C42"/>
                          </a:solidFill>
                          <a:latin typeface="Open Sauce"/>
                          <a:ea typeface="Open Sauce"/>
                          <a:cs typeface="Open Sauce"/>
                        </a:rPr>
                        <a:t>an authorized action can still be unsafe given the device's current cyber-physical state</a:t>
                      </a:r>
                    </a:p>
                    <a:p>
                      <a:pPr marL="342900" indent="-342900" algn="l">
                        <a:spcAft>
                          <a:spcPts val="600"/>
                        </a:spcAft>
                        <a:buFont typeface="Arial"/>
                        <a:buChar char="•"/>
                      </a:pPr>
                      <a:r>
                        <a:rPr lang="en-US" sz="2000" b="1" i="0" dirty="0">
                          <a:solidFill>
                            <a:srgbClr val="0057FF"/>
                          </a:solidFill>
                          <a:latin typeface="Open Sauce"/>
                          <a:ea typeface="Open Sauce"/>
                          <a:cs typeface="Open Sauce"/>
                        </a:rPr>
                        <a:t>Different scope: </a:t>
                      </a:r>
                      <a:r>
                        <a:rPr lang="en-US" sz="2000" b="0" i="0" dirty="0">
                          <a:solidFill>
                            <a:srgbClr val="001C42"/>
                          </a:solidFill>
                          <a:latin typeface="Open Sauce"/>
                          <a:ea typeface="Open Sauce"/>
                          <a:cs typeface="Open Sauce"/>
                        </a:rPr>
                        <a:t>targets LLM agents, not classical ML network-intrusion classifiers</a:t>
                      </a:r>
                    </a:p>
                    <a:p>
                      <a:pPr marL="342900" indent="-342900" algn="l">
                        <a:spcAft>
                          <a:spcPts val="600"/>
                        </a:spcAft>
                        <a:buFont typeface="Arial"/>
                        <a:buChar char="•"/>
                      </a:pPr>
                      <a:r>
                        <a:rPr lang="en-US" sz="2000" b="1" i="0" dirty="0">
                          <a:solidFill>
                            <a:srgbClr val="0057FF"/>
                          </a:solidFill>
                          <a:latin typeface="Open Sauce"/>
                          <a:ea typeface="Open Sauce"/>
                          <a:cs typeface="Open Sauce"/>
                        </a:rPr>
                        <a:t>Open direction: </a:t>
                      </a:r>
                      <a:r>
                        <a:rPr lang="en-US" sz="2000" b="0" i="0" dirty="0">
                          <a:solidFill>
                            <a:srgbClr val="001C42"/>
                          </a:solidFill>
                          <a:latin typeface="Open Sauce"/>
                          <a:ea typeface="Open Sauce"/>
                          <a:cs typeface="Open Sauce"/>
                        </a:rPr>
                        <a:t>context-aware safety verification of LLM actions on constrained edge devices</a:t>
                      </a:r>
                    </a:p>
                  </a:txBody>
                  <a:tcPr marL="137160" marR="137160" marT="109728" marB="109728">
                    <a:lnL w="12700">
                      <a:solidFill>
                        <a:srgbClr val="9DB9F2"/>
                      </a:solidFill>
                    </a:lnL>
                    <a:lnR w="12700">
                      <a:solidFill>
                        <a:srgbClr val="9DB9F2"/>
                      </a:solidFill>
                    </a:lnR>
                    <a:lnT w="12700">
                      <a:solidFill>
                        <a:srgbClr val="9DB9F2"/>
                      </a:solidFill>
                    </a:lnT>
                    <a:lnB w="12700">
                      <a:solidFill>
                        <a:srgbClr val="9DB9F2"/>
                      </a:solidFill>
                    </a:lnB>
                    <a:solidFill>
                      <a:srgbClr val="FFFFFF"/>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BBBBBB">
                <a:alpha val="100000"/>
              </a:srgbClr>
            </a:gs>
          </a:gsLst>
          <a:lin ang="2700000"/>
        </a:gradFill>
        <a:effectLst/>
      </p:bgPr>
    </p:bg>
    <p:spTree>
      <p:nvGrpSpPr>
        <p:cNvPr id="1" name=""/>
        <p:cNvGrpSpPr/>
        <p:nvPr/>
      </p:nvGrpSpPr>
      <p:grpSpPr>
        <a:xfrm>
          <a:off x="0" y="0"/>
          <a:ext cx="0" cy="0"/>
          <a:chOff x="0" y="0"/>
          <a:chExt cx="0" cy="0"/>
        </a:xfrm>
      </p:grpSpPr>
      <p:sp>
        <p:nvSpPr>
          <p:cNvPr id="17" name="Freeform 17"/>
          <p:cNvSpPr/>
          <p:nvPr/>
        </p:nvSpPr>
        <p:spPr>
          <a:xfrm>
            <a:off x="-9554138" y="2164352"/>
            <a:ext cx="19108277" cy="14187896"/>
          </a:xfrm>
          <a:custGeom>
            <a:avLst/>
            <a:gdLst/>
            <a:ahLst/>
            <a:cxnLst/>
            <a:rect l="l" t="t" r="r" b="b"/>
            <a:pathLst>
              <a:path w="19108277" h="14187896">
                <a:moveTo>
                  <a:pt x="0" y="0"/>
                </a:moveTo>
                <a:lnTo>
                  <a:pt x="19108276" y="0"/>
                </a:lnTo>
                <a:lnTo>
                  <a:pt x="19108276" y="14187896"/>
                </a:lnTo>
                <a:lnTo>
                  <a:pt x="0" y="14187896"/>
                </a:lnTo>
                <a:lnTo>
                  <a:pt x="0" y="0"/>
                </a:lnTo>
                <a:close/>
              </a:path>
            </a:pathLst>
          </a:custGeom>
          <a:blipFill>
            <a:blip r:embed="rId2"/>
            <a:stretch>
              <a:fillRect/>
            </a:stretch>
          </a:blipFill>
        </p:spPr>
      </p:sp>
      <p:sp>
        <p:nvSpPr>
          <p:cNvPr id="26" name="Freeform 26"/>
          <p:cNvSpPr/>
          <p:nvPr/>
        </p:nvSpPr>
        <p:spPr>
          <a:xfrm>
            <a:off x="16343296" y="177703"/>
            <a:ext cx="1832007" cy="850997"/>
          </a:xfrm>
          <a:custGeom>
            <a:avLst/>
            <a:gdLst/>
            <a:ahLst/>
            <a:cxnLst/>
            <a:rect l="l" t="t" r="r" b="b"/>
            <a:pathLst>
              <a:path w="1832007" h="850997">
                <a:moveTo>
                  <a:pt x="0" y="0"/>
                </a:moveTo>
                <a:lnTo>
                  <a:pt x="1832008" y="0"/>
                </a:lnTo>
                <a:lnTo>
                  <a:pt x="1832008" y="850997"/>
                </a:lnTo>
                <a:lnTo>
                  <a:pt x="0" y="850997"/>
                </a:lnTo>
                <a:lnTo>
                  <a:pt x="0" y="0"/>
                </a:lnTo>
                <a:close/>
              </a:path>
            </a:pathLst>
          </a:custGeom>
          <a:blipFill>
            <a:blip r:embed="rId3"/>
            <a:stretch>
              <a:fillRect/>
            </a:stretch>
          </a:blipFill>
        </p:spPr>
      </p:sp>
      <p:sp>
        <p:nvSpPr>
          <p:cNvPr id="200" name="Title 200"/>
          <p:cNvSpPr txBox="1"/>
          <p:nvPr/>
        </p:nvSpPr>
        <p:spPr>
          <a:xfrm>
            <a:off x="1005840" y="365760"/>
            <a:ext cx="14538960" cy="1280160"/>
          </a:xfrm>
          <a:prstGeom prst="rect">
            <a:avLst/>
          </a:prstGeom>
          <a:noFill/>
          <a:ln>
            <a:noFill/>
          </a:ln>
        </p:spPr>
        <p:txBody>
          <a:bodyPr wrap="square" lIns="0" tIns="0" rIns="0" bIns="0" rtlCol="0" anchor="ctr">
            <a:noAutofit/>
          </a:bodyPr>
          <a:lstStyle/>
          <a:p>
            <a:pPr algn="l">
              <a:spcAft>
                <a:spcPts val="0"/>
              </a:spcAft>
              <a:buNone/>
            </a:pPr>
            <a:r>
              <a:rPr lang="en-US" sz="5600" b="0" i="0" dirty="0">
                <a:gradFill>
                  <a:gsLst>
                    <a:gs pos="0">
                      <a:srgbClr val="0057FF"/>
                    </a:gs>
                    <a:gs pos="100000">
                      <a:srgbClr val="001C42"/>
                    </a:gs>
                  </a:gsLst>
                  <a:lin ang="2700000"/>
                </a:gradFill>
                <a:latin typeface="Intro"/>
                <a:ea typeface="Intro"/>
                <a:cs typeface="Intro"/>
              </a:rPr>
              <a:t>Literature Survey</a:t>
            </a:r>
          </a:p>
        </p:txBody>
      </p:sp>
      <p:graphicFrame>
        <p:nvGraphicFramePr>
          <p:cNvPr id="201" name="Table 201"/>
          <p:cNvGraphicFramePr>
            <a:graphicFrameLocks noGrp="1"/>
          </p:cNvGraphicFramePr>
          <p:nvPr/>
        </p:nvGraphicFramePr>
        <p:xfrm>
          <a:off x="1005840" y="1783080"/>
          <a:ext cx="16276320" cy="5818632"/>
        </p:xfrm>
        <a:graphic>
          <a:graphicData uri="http://schemas.openxmlformats.org/drawingml/2006/table">
            <a:tbl>
              <a:tblPr firstRow="1"/>
              <a:tblGrid>
                <a:gridCol w="329184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gridCol w="4389120">
                  <a:extLst>
                    <a:ext uri="{9D8B030D-6E8A-4147-A177-3AD203B41FA5}">
                      <a16:colId xmlns:a16="http://schemas.microsoft.com/office/drawing/2014/main" val="20003"/>
                    </a:ext>
                  </a:extLst>
                </a:gridCol>
              </a:tblGrid>
              <a:tr h="640080">
                <a:tc>
                  <a:txBody>
                    <a:bodyPr/>
                    <a:lstStyle/>
                    <a:p>
                      <a:pPr algn="ctr">
                        <a:spcAft>
                          <a:spcPts val="0"/>
                        </a:spcAft>
                        <a:buNone/>
                      </a:pPr>
                      <a:r>
                        <a:rPr lang="en-US" sz="1900" b="1" i="0" dirty="0">
                          <a:solidFill>
                            <a:srgbClr val="FFFFFF"/>
                          </a:solidFill>
                          <a:latin typeface="Open Sauce"/>
                          <a:ea typeface="Open Sauce"/>
                          <a:cs typeface="Open Sauce"/>
                        </a:rPr>
                        <a:t>PAPER DETAILS</a:t>
                      </a:r>
                    </a:p>
                  </a:txBody>
                  <a:tcPr marL="137160" marR="137160" marT="109728" marB="109728" anchor="ctr">
                    <a:lnL w="12700">
                      <a:solidFill>
                        <a:srgbClr val="9DB9F2"/>
                      </a:solidFill>
                    </a:lnL>
                    <a:lnR w="12700">
                      <a:solidFill>
                        <a:srgbClr val="9DB9F2"/>
                      </a:solidFill>
                    </a:lnR>
                    <a:lnT w="12700">
                      <a:solidFill>
                        <a:srgbClr val="9DB9F2"/>
                      </a:solidFill>
                    </a:lnT>
                    <a:lnB w="12700">
                      <a:solidFill>
                        <a:srgbClr val="9DB9F2"/>
                      </a:solidFill>
                    </a:lnB>
                    <a:solidFill>
                      <a:srgbClr val="0057FF"/>
                    </a:solidFill>
                  </a:tcPr>
                </a:tc>
                <a:tc>
                  <a:txBody>
                    <a:bodyPr/>
                    <a:lstStyle/>
                    <a:p>
                      <a:pPr algn="ctr">
                        <a:spcAft>
                          <a:spcPts val="0"/>
                        </a:spcAft>
                        <a:buNone/>
                      </a:pPr>
                      <a:r>
                        <a:rPr lang="en-US" sz="1900" b="1" i="0" dirty="0">
                          <a:solidFill>
                            <a:srgbClr val="FFFFFF"/>
                          </a:solidFill>
                          <a:latin typeface="Open Sauce"/>
                          <a:ea typeface="Open Sauce"/>
                          <a:cs typeface="Open Sauce"/>
                        </a:rPr>
                        <a:t>OBJECTIVE / TECHNIQUE / MODEL</a:t>
                      </a:r>
                    </a:p>
                  </a:txBody>
                  <a:tcPr marL="137160" marR="137160" marT="109728" marB="109728" anchor="ctr">
                    <a:lnL w="12700">
                      <a:solidFill>
                        <a:srgbClr val="9DB9F2"/>
                      </a:solidFill>
                    </a:lnL>
                    <a:lnR w="12700">
                      <a:solidFill>
                        <a:srgbClr val="9DB9F2"/>
                      </a:solidFill>
                    </a:lnR>
                    <a:lnT w="12700">
                      <a:solidFill>
                        <a:srgbClr val="9DB9F2"/>
                      </a:solidFill>
                    </a:lnT>
                    <a:lnB w="12700">
                      <a:solidFill>
                        <a:srgbClr val="9DB9F2"/>
                      </a:solidFill>
                    </a:lnB>
                    <a:solidFill>
                      <a:srgbClr val="0057FF"/>
                    </a:solidFill>
                  </a:tcPr>
                </a:tc>
                <a:tc>
                  <a:txBody>
                    <a:bodyPr/>
                    <a:lstStyle/>
                    <a:p>
                      <a:pPr algn="ctr">
                        <a:spcAft>
                          <a:spcPts val="0"/>
                        </a:spcAft>
                        <a:buNone/>
                      </a:pPr>
                      <a:r>
                        <a:rPr lang="en-US" sz="1900" b="1" i="0" dirty="0">
                          <a:solidFill>
                            <a:srgbClr val="FFFFFF"/>
                          </a:solidFill>
                          <a:latin typeface="Open Sauce"/>
                          <a:ea typeface="Open Sauce"/>
                          <a:cs typeface="Open Sauce"/>
                        </a:rPr>
                        <a:t>ADVANTAGES</a:t>
                      </a:r>
                    </a:p>
                  </a:txBody>
                  <a:tcPr marL="137160" marR="137160" marT="109728" marB="109728" anchor="ctr">
                    <a:lnL w="12700">
                      <a:solidFill>
                        <a:srgbClr val="9DB9F2"/>
                      </a:solidFill>
                    </a:lnL>
                    <a:lnR w="12700">
                      <a:solidFill>
                        <a:srgbClr val="9DB9F2"/>
                      </a:solidFill>
                    </a:lnR>
                    <a:lnT w="12700">
                      <a:solidFill>
                        <a:srgbClr val="9DB9F2"/>
                      </a:solidFill>
                    </a:lnT>
                    <a:lnB w="12700">
                      <a:solidFill>
                        <a:srgbClr val="9DB9F2"/>
                      </a:solidFill>
                    </a:lnB>
                    <a:solidFill>
                      <a:srgbClr val="0057FF"/>
                    </a:solidFill>
                  </a:tcPr>
                </a:tc>
                <a:tc>
                  <a:txBody>
                    <a:bodyPr/>
                    <a:lstStyle/>
                    <a:p>
                      <a:pPr algn="ctr">
                        <a:spcAft>
                          <a:spcPts val="0"/>
                        </a:spcAft>
                        <a:buNone/>
                      </a:pPr>
                      <a:r>
                        <a:rPr lang="en-US" sz="1900" b="1" i="0" dirty="0">
                          <a:solidFill>
                            <a:srgbClr val="FFFFFF"/>
                          </a:solidFill>
                          <a:latin typeface="Open Sauce"/>
                          <a:ea typeface="Open Sauce"/>
                          <a:cs typeface="Open Sauce"/>
                        </a:rPr>
                        <a:t>LIMITATIONS</a:t>
                      </a:r>
                    </a:p>
                  </a:txBody>
                  <a:tcPr marL="137160" marR="137160" marT="109728" marB="109728" anchor="ctr">
                    <a:lnL w="12700">
                      <a:solidFill>
                        <a:srgbClr val="9DB9F2"/>
                      </a:solidFill>
                    </a:lnL>
                    <a:lnR w="12700">
                      <a:solidFill>
                        <a:srgbClr val="9DB9F2"/>
                      </a:solidFill>
                    </a:lnR>
                    <a:lnT w="12700">
                      <a:solidFill>
                        <a:srgbClr val="9DB9F2"/>
                      </a:solidFill>
                    </a:lnT>
                    <a:lnB w="12700">
                      <a:solidFill>
                        <a:srgbClr val="9DB9F2"/>
                      </a:solidFill>
                    </a:lnB>
                    <a:solidFill>
                      <a:srgbClr val="0057FF"/>
                    </a:solidFill>
                  </a:tcPr>
                </a:tc>
                <a:extLst>
                  <a:ext uri="{0D108BD9-81ED-4DB2-BD59-A6C34878D82A}">
                    <a16:rowId xmlns:a16="http://schemas.microsoft.com/office/drawing/2014/main" val="10000"/>
                  </a:ext>
                </a:extLst>
              </a:tr>
              <a:tr h="4302760">
                <a:tc>
                  <a:txBody>
                    <a:bodyPr/>
                    <a:lstStyle/>
                    <a:p>
                      <a:pPr algn="l">
                        <a:spcAft>
                          <a:spcPts val="600"/>
                        </a:spcAft>
                        <a:buNone/>
                      </a:pPr>
                      <a:r>
                        <a:rPr lang="en-US" sz="2000" b="1" i="0" dirty="0">
                          <a:solidFill>
                            <a:srgbClr val="001C42"/>
                          </a:solidFill>
                          <a:latin typeface="Open Sauce"/>
                          <a:ea typeface="Open Sauce"/>
                          <a:cs typeface="Open Sauce"/>
                        </a:rPr>
                        <a:t>HARDWARE-ENABLED SOVEREIGNTY: SECURING MILITARY SYSTEMS THROUGH A NOVEL AND RESILIENT DEFENSE ARCHITECTURE</a:t>
                      </a:r>
                    </a:p>
                    <a:p>
                      <a:pPr algn="l">
                        <a:spcAft>
                          <a:spcPts val="600"/>
                        </a:spcAft>
                        <a:buNone/>
                      </a:pPr>
                      <a:r>
                        <a:rPr lang="en-US" sz="2000" b="1" i="0" dirty="0">
                          <a:solidFill>
                            <a:srgbClr val="0057FF"/>
                          </a:solidFill>
                          <a:latin typeface="Open Sauce"/>
                          <a:ea typeface="Open Sauce"/>
                          <a:cs typeface="Open Sauce"/>
                        </a:rPr>
                        <a:t>Venue: </a:t>
                      </a:r>
                      <a:r>
                        <a:rPr lang="en-US" sz="2000" b="0" i="0" dirty="0">
                          <a:solidFill>
                            <a:srgbClr val="001C42"/>
                          </a:solidFill>
                          <a:latin typeface="Open Sauce"/>
                          <a:ea typeface="Open Sauce"/>
                          <a:cs typeface="Open Sauce"/>
                        </a:rPr>
                        <a:t>IEEE CyCon 2026, Tallinn</a:t>
                      </a:r>
                    </a:p>
                    <a:p>
                      <a:pPr algn="l">
                        <a:spcAft>
                          <a:spcPts val="600"/>
                        </a:spcAft>
                        <a:buNone/>
                      </a:pPr>
                      <a:r>
                        <a:rPr lang="en-US" sz="2000" b="1" i="0" dirty="0">
                          <a:solidFill>
                            <a:srgbClr val="0057FF"/>
                          </a:solidFill>
                          <a:latin typeface="Open Sauce"/>
                          <a:ea typeface="Open Sauce"/>
                          <a:cs typeface="Open Sauce"/>
                        </a:rPr>
                        <a:t>DOI: </a:t>
                      </a:r>
                      <a:r>
                        <a:rPr lang="en-US" sz="2000" b="0" i="0" dirty="0">
                          <a:solidFill>
                            <a:srgbClr val="001C42"/>
                          </a:solidFill>
                          <a:latin typeface="Open Sauce"/>
                          <a:ea typeface="Open Sauce"/>
                          <a:cs typeface="Open Sauce"/>
                        </a:rPr>
                        <a:t>10.23919/CyCon70911.2026.11609427</a:t>
                      </a:r>
                    </a:p>
                    <a:p>
                      <a:pPr algn="l">
                        <a:spcAft>
                          <a:spcPts val="600"/>
                        </a:spcAft>
                        <a:buNone/>
                      </a:pPr>
                      <a:r>
                        <a:rPr lang="en-US" sz="2000" b="1" i="0" dirty="0">
                          <a:solidFill>
                            <a:srgbClr val="0057FF"/>
                          </a:solidFill>
                          <a:latin typeface="Open Sauce"/>
                          <a:ea typeface="Open Sauce"/>
                          <a:cs typeface="Open Sauce"/>
                        </a:rPr>
                        <a:t>Authors: </a:t>
                      </a:r>
                      <a:r>
                        <a:rPr lang="en-US" sz="2000" b="0" i="0" dirty="0">
                          <a:solidFill>
                            <a:srgbClr val="001C42"/>
                          </a:solidFill>
                          <a:latin typeface="Open Sauce"/>
                          <a:ea typeface="Open Sauce"/>
                          <a:cs typeface="Open Sauce"/>
                        </a:rPr>
                        <a:t>Helmut Schmidt University, Hamburg</a:t>
                      </a:r>
                    </a:p>
                  </a:txBody>
                  <a:tcPr marL="137160" marR="137160" marT="109728" marB="109728">
                    <a:lnL w="12700">
                      <a:solidFill>
                        <a:srgbClr val="9DB9F2"/>
                      </a:solidFill>
                    </a:lnL>
                    <a:lnR w="12700">
                      <a:solidFill>
                        <a:srgbClr val="9DB9F2"/>
                      </a:solidFill>
                    </a:lnR>
                    <a:lnT w="12700">
                      <a:solidFill>
                        <a:srgbClr val="9DB9F2"/>
                      </a:solidFill>
                    </a:lnT>
                    <a:lnB w="12700">
                      <a:solidFill>
                        <a:srgbClr val="9DB9F2"/>
                      </a:solidFill>
                    </a:lnB>
                    <a:solidFill>
                      <a:srgbClr val="EAF1FF"/>
                    </a:solidFill>
                  </a:tcPr>
                </a:tc>
                <a:tc>
                  <a:txBody>
                    <a:bodyPr/>
                    <a:lstStyle/>
                    <a:p>
                      <a:pPr algn="l">
                        <a:spcAft>
                          <a:spcPts val="600"/>
                        </a:spcAft>
                        <a:buNone/>
                      </a:pPr>
                      <a:r>
                        <a:rPr lang="en-US" sz="2000" b="0" i="0" dirty="0">
                          <a:solidFill>
                            <a:srgbClr val="001C42"/>
                          </a:solidFill>
                          <a:latin typeface="Open Sauce"/>
                          <a:ea typeface="Open Sauce"/>
                          <a:cs typeface="Open Sauce"/>
                        </a:rPr>
                        <a:t>SOSA is a hardware network guard on an FPGA with a custom Application-Specific Processor (ASP) stripped of standard software vulnerabilities. It sits inline between a military device and the network switch and inspects the bytes of every packet. On unauthorized access, such as an unknown IP address, it can disconnect or quarantine the device.</a:t>
                      </a:r>
                    </a:p>
                  </a:txBody>
                  <a:tcPr marL="137160" marR="137160" marT="109728" marB="109728">
                    <a:lnL w="12700">
                      <a:solidFill>
                        <a:srgbClr val="9DB9F2"/>
                      </a:solidFill>
                    </a:lnL>
                    <a:lnR w="12700">
                      <a:solidFill>
                        <a:srgbClr val="9DB9F2"/>
                      </a:solidFill>
                    </a:lnR>
                    <a:lnT w="12700">
                      <a:solidFill>
                        <a:srgbClr val="9DB9F2"/>
                      </a:solidFill>
                    </a:lnT>
                    <a:lnB w="12700">
                      <a:solidFill>
                        <a:srgbClr val="9DB9F2"/>
                      </a:solidFill>
                    </a:lnB>
                    <a:solidFill>
                      <a:srgbClr val="FFFFFF"/>
                    </a:solidFill>
                  </a:tcPr>
                </a:tc>
                <a:tc>
                  <a:txBody>
                    <a:bodyPr/>
                    <a:lstStyle/>
                    <a:p>
                      <a:pPr marL="342900" indent="-342900" algn="l">
                        <a:spcAft>
                          <a:spcPts val="600"/>
                        </a:spcAft>
                        <a:buFont typeface="Arial"/>
                        <a:buChar char="•"/>
                      </a:pPr>
                      <a:r>
                        <a:rPr lang="en-US" sz="2000" b="1" i="0" dirty="0">
                          <a:solidFill>
                            <a:srgbClr val="0057FF"/>
                          </a:solidFill>
                          <a:latin typeface="Open Sauce"/>
                          <a:ea typeface="Open Sauce"/>
                          <a:cs typeface="Open Sauce"/>
                        </a:rPr>
                        <a:t>Very low latency: </a:t>
                      </a:r>
                      <a:r>
                        <a:rPr lang="en-US" sz="2000" b="0" i="0" dirty="0">
                          <a:solidFill>
                            <a:srgbClr val="001C42"/>
                          </a:solidFill>
                          <a:latin typeface="Open Sauce"/>
                          <a:ea typeface="Open Sauce"/>
                          <a:cs typeface="Open Sauce"/>
                        </a:rPr>
                        <a:t>80 ns real-time packet inspection</a:t>
                      </a:r>
                    </a:p>
                    <a:p>
                      <a:pPr marL="342900" indent="-342900" algn="l">
                        <a:spcAft>
                          <a:spcPts val="600"/>
                        </a:spcAft>
                        <a:buFont typeface="Arial"/>
                        <a:buChar char="•"/>
                      </a:pPr>
                      <a:r>
                        <a:rPr lang="en-US" sz="2000" b="1" i="0" dirty="0">
                          <a:solidFill>
                            <a:srgbClr val="0057FF"/>
                          </a:solidFill>
                          <a:latin typeface="Open Sauce"/>
                          <a:ea typeface="Open Sauce"/>
                          <a:cs typeface="Open Sauce"/>
                        </a:rPr>
                        <a:t>Retrofit-friendly: </a:t>
                      </a:r>
                      <a:r>
                        <a:rPr lang="en-US" sz="2000" b="0" i="0" dirty="0">
                          <a:solidFill>
                            <a:srgbClr val="001C42"/>
                          </a:solidFill>
                          <a:latin typeface="Open Sauce"/>
                          <a:ea typeface="Open Sauce"/>
                          <a:cs typeface="Open Sauce"/>
                        </a:rPr>
                        <a:t>no patches or OS changes on legacy assets</a:t>
                      </a:r>
                    </a:p>
                    <a:p>
                      <a:pPr marL="342900" indent="-342900" algn="l">
                        <a:spcAft>
                          <a:spcPts val="600"/>
                        </a:spcAft>
                        <a:buFont typeface="Arial"/>
                        <a:buChar char="•"/>
                      </a:pPr>
                      <a:r>
                        <a:rPr lang="en-US" sz="2000" b="1" i="0" dirty="0">
                          <a:solidFill>
                            <a:srgbClr val="0057FF"/>
                          </a:solidFill>
                          <a:latin typeface="Open Sauce"/>
                          <a:ea typeface="Open Sauce"/>
                          <a:cs typeface="Open Sauce"/>
                        </a:rPr>
                        <a:t>Hardened: </a:t>
                      </a:r>
                      <a:r>
                        <a:rPr lang="en-US" sz="2000" b="0" i="0" dirty="0">
                          <a:solidFill>
                            <a:srgbClr val="001C42"/>
                          </a:solidFill>
                          <a:latin typeface="Open Sauce"/>
                          <a:ea typeface="Open Sauce"/>
                          <a:cs typeface="Open Sauce"/>
                        </a:rPr>
                        <a:t>no standard software attack surface</a:t>
                      </a:r>
                    </a:p>
                    <a:p>
                      <a:pPr marL="342900" indent="-342900" algn="l">
                        <a:spcAft>
                          <a:spcPts val="600"/>
                        </a:spcAft>
                        <a:buFont typeface="Arial"/>
                        <a:buChar char="•"/>
                      </a:pPr>
                      <a:r>
                        <a:rPr lang="en-US" sz="2000" b="1" i="0" dirty="0">
                          <a:solidFill>
                            <a:srgbClr val="0057FF"/>
                          </a:solidFill>
                          <a:latin typeface="Open Sauce"/>
                          <a:ea typeface="Open Sauce"/>
                          <a:cs typeface="Open Sauce"/>
                        </a:rPr>
                        <a:t>Automated response: </a:t>
                      </a:r>
                      <a:r>
                        <a:rPr lang="en-US" sz="2000" b="0" i="0" dirty="0">
                          <a:solidFill>
                            <a:srgbClr val="001C42"/>
                          </a:solidFill>
                          <a:latin typeface="Open Sauce"/>
                          <a:ea typeface="Open Sauce"/>
                          <a:cs typeface="Open Sauce"/>
                        </a:rPr>
                        <a:t>physical quarantine and lateral-movement prevention</a:t>
                      </a:r>
                    </a:p>
                  </a:txBody>
                  <a:tcPr marL="137160" marR="137160" marT="109728" marB="109728">
                    <a:lnL w="12700">
                      <a:solidFill>
                        <a:srgbClr val="9DB9F2"/>
                      </a:solidFill>
                    </a:lnL>
                    <a:lnR w="12700">
                      <a:solidFill>
                        <a:srgbClr val="9DB9F2"/>
                      </a:solidFill>
                    </a:lnR>
                    <a:lnT w="12700">
                      <a:solidFill>
                        <a:srgbClr val="9DB9F2"/>
                      </a:solidFill>
                    </a:lnT>
                    <a:lnB w="12700">
                      <a:solidFill>
                        <a:srgbClr val="9DB9F2"/>
                      </a:solidFill>
                    </a:lnB>
                    <a:solidFill>
                      <a:srgbClr val="FFFFFF"/>
                    </a:solidFill>
                  </a:tcPr>
                </a:tc>
                <a:tc>
                  <a:txBody>
                    <a:bodyPr/>
                    <a:lstStyle/>
                    <a:p>
                      <a:pPr marL="342900" indent="-342900" algn="l">
                        <a:spcAft>
                          <a:spcPts val="600"/>
                        </a:spcAft>
                        <a:buFont typeface="Arial"/>
                        <a:buChar char="•"/>
                      </a:pPr>
                      <a:r>
                        <a:rPr lang="en-US" sz="2000" b="1" i="0" dirty="0">
                          <a:solidFill>
                            <a:srgbClr val="0057FF"/>
                          </a:solidFill>
                          <a:latin typeface="Open Sauce"/>
                          <a:ea typeface="Open Sauce"/>
                          <a:cs typeface="Open Sauce"/>
                        </a:rPr>
                        <a:t>Not ML-based: </a:t>
                      </a:r>
                      <a:r>
                        <a:rPr lang="en-US" sz="2000" b="0" i="0" dirty="0">
                          <a:solidFill>
                            <a:srgbClr val="001C42"/>
                          </a:solidFill>
                          <a:latin typeface="Open Sauce"/>
                          <a:ea typeface="Open Sauce"/>
                          <a:cs typeface="Open Sauce"/>
                        </a:rPr>
                        <a:t>rule-style inspection, not a learned detector</a:t>
                      </a:r>
                    </a:p>
                    <a:p>
                      <a:pPr marL="342900" indent="-342900" algn="l">
                        <a:spcAft>
                          <a:spcPts val="600"/>
                        </a:spcAft>
                        <a:buFont typeface="Arial"/>
                        <a:buChar char="•"/>
                      </a:pPr>
                      <a:r>
                        <a:rPr lang="en-US" sz="2000" b="1" i="0" dirty="0">
                          <a:solidFill>
                            <a:srgbClr val="0057FF"/>
                          </a:solidFill>
                          <a:latin typeface="Open Sauce"/>
                          <a:ea typeface="Open Sauce"/>
                          <a:cs typeface="Open Sauce"/>
                        </a:rPr>
                        <a:t>Custom hardware: </a:t>
                      </a:r>
                      <a:r>
                        <a:rPr lang="en-US" sz="2000" b="0" i="0" dirty="0">
                          <a:solidFill>
                            <a:srgbClr val="001C42"/>
                          </a:solidFill>
                          <a:latin typeface="Open Sauce"/>
                          <a:ea typeface="Open Sauce"/>
                          <a:cs typeface="Open Sauce"/>
                        </a:rPr>
                        <a:t>FPGA design is costly to adopt on small IoT nodes</a:t>
                      </a:r>
                    </a:p>
                    <a:p>
                      <a:pPr marL="342900" indent="-342900" algn="l">
                        <a:spcAft>
                          <a:spcPts val="600"/>
                        </a:spcAft>
                        <a:buFont typeface="Arial"/>
                        <a:buChar char="•"/>
                      </a:pPr>
                      <a:r>
                        <a:rPr lang="en-US" sz="2000" b="1" i="0" dirty="0">
                          <a:solidFill>
                            <a:srgbClr val="0057FF"/>
                          </a:solidFill>
                          <a:latin typeface="Open Sauce"/>
                          <a:ea typeface="Open Sauce"/>
                          <a:cs typeface="Open Sauce"/>
                        </a:rPr>
                        <a:t>Military focus: </a:t>
                      </a:r>
                      <a:r>
                        <a:rPr lang="en-US" sz="2000" b="0" i="0" dirty="0">
                          <a:solidFill>
                            <a:srgbClr val="001C42"/>
                          </a:solidFill>
                          <a:latin typeface="Open Sauce"/>
                          <a:ea typeface="Open Sauce"/>
                          <a:cs typeface="Open Sauce"/>
                        </a:rPr>
                        <a:t>built for naval and combat platforms, not general IoT</a:t>
                      </a:r>
                    </a:p>
                    <a:p>
                      <a:pPr marL="342900" indent="-342900" algn="l">
                        <a:spcAft>
                          <a:spcPts val="600"/>
                        </a:spcAft>
                        <a:buFont typeface="Arial"/>
                        <a:buChar char="•"/>
                      </a:pPr>
                      <a:r>
                        <a:rPr lang="en-US" sz="2000" b="1" i="0" dirty="0">
                          <a:solidFill>
                            <a:srgbClr val="0057FF"/>
                          </a:solidFill>
                          <a:latin typeface="Open Sauce"/>
                          <a:ea typeface="Open Sauce"/>
                          <a:cs typeface="Open Sauce"/>
                        </a:rPr>
                        <a:t>Model security: </a:t>
                      </a:r>
                      <a:r>
                        <a:rPr lang="en-US" sz="2000" b="0" i="0" dirty="0">
                          <a:solidFill>
                            <a:srgbClr val="001C42"/>
                          </a:solidFill>
                          <a:latin typeface="Open Sauce"/>
                          <a:ea typeface="Open Sauce"/>
                          <a:cs typeface="Open Sauce"/>
                        </a:rPr>
                        <a:t>does not address ML evasion or model tampering</a:t>
                      </a:r>
                    </a:p>
                  </a:txBody>
                  <a:tcPr marL="137160" marR="137160" marT="109728" marB="109728">
                    <a:lnL w="12700">
                      <a:solidFill>
                        <a:srgbClr val="9DB9F2"/>
                      </a:solidFill>
                    </a:lnL>
                    <a:lnR w="12700">
                      <a:solidFill>
                        <a:srgbClr val="9DB9F2"/>
                      </a:solidFill>
                    </a:lnR>
                    <a:lnT w="12700">
                      <a:solidFill>
                        <a:srgbClr val="9DB9F2"/>
                      </a:solidFill>
                    </a:lnT>
                    <a:lnB w="12700">
                      <a:solidFill>
                        <a:srgbClr val="9DB9F2"/>
                      </a:solidFill>
                    </a:lnB>
                    <a:solidFill>
                      <a:srgbClr val="FFFFFF"/>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BBBBBB">
                <a:alpha val="100000"/>
              </a:srgbClr>
            </a:gs>
          </a:gsLst>
          <a:lin ang="2700000"/>
        </a:gradFill>
        <a:effectLst/>
      </p:bgPr>
    </p:bg>
    <p:spTree>
      <p:nvGrpSpPr>
        <p:cNvPr id="1" name=""/>
        <p:cNvGrpSpPr/>
        <p:nvPr/>
      </p:nvGrpSpPr>
      <p:grpSpPr>
        <a:xfrm>
          <a:off x="0" y="0"/>
          <a:ext cx="0" cy="0"/>
          <a:chOff x="0" y="0"/>
          <a:chExt cx="0" cy="0"/>
        </a:xfrm>
      </p:grpSpPr>
      <p:sp>
        <p:nvSpPr>
          <p:cNvPr id="18" name="Freeform 18"/>
          <p:cNvSpPr/>
          <p:nvPr/>
        </p:nvSpPr>
        <p:spPr>
          <a:xfrm rot="4278348" flipH="1">
            <a:off x="9820102" y="-77655"/>
            <a:ext cx="13285086" cy="8203541"/>
          </a:xfrm>
          <a:custGeom>
            <a:avLst/>
            <a:gdLst/>
            <a:ahLst/>
            <a:cxnLst/>
            <a:rect l="l" t="t" r="r" b="b"/>
            <a:pathLst>
              <a:path w="13285086" h="8203541">
                <a:moveTo>
                  <a:pt x="13285087" y="0"/>
                </a:moveTo>
                <a:lnTo>
                  <a:pt x="0" y="0"/>
                </a:lnTo>
                <a:lnTo>
                  <a:pt x="0" y="8203541"/>
                </a:lnTo>
                <a:lnTo>
                  <a:pt x="13285087" y="8203541"/>
                </a:lnTo>
                <a:lnTo>
                  <a:pt x="13285087" y="0"/>
                </a:lnTo>
                <a:close/>
              </a:path>
            </a:pathLst>
          </a:custGeom>
          <a:blipFill>
            <a:blip r:embed="rId2"/>
            <a:stretch>
              <a:fillRect/>
            </a:stretch>
          </a:blipFill>
        </p:spPr>
      </p:sp>
      <p:sp>
        <p:nvSpPr>
          <p:cNvPr id="19" name="Freeform 19"/>
          <p:cNvSpPr/>
          <p:nvPr/>
        </p:nvSpPr>
        <p:spPr>
          <a:xfrm rot="-2429207">
            <a:off x="10047236" y="2855960"/>
            <a:ext cx="12128950" cy="7255317"/>
          </a:xfrm>
          <a:custGeom>
            <a:avLst/>
            <a:gdLst/>
            <a:ahLst/>
            <a:cxnLst/>
            <a:rect l="l" t="t" r="r" b="b"/>
            <a:pathLst>
              <a:path w="12128950" h="7255317">
                <a:moveTo>
                  <a:pt x="0" y="0"/>
                </a:moveTo>
                <a:lnTo>
                  <a:pt x="12128950" y="0"/>
                </a:lnTo>
                <a:lnTo>
                  <a:pt x="12128950" y="7255318"/>
                </a:lnTo>
                <a:lnTo>
                  <a:pt x="0" y="7255318"/>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20" name="Freeform 20"/>
          <p:cNvSpPr/>
          <p:nvPr/>
        </p:nvSpPr>
        <p:spPr>
          <a:xfrm>
            <a:off x="16343296" y="177703"/>
            <a:ext cx="1832007" cy="850997"/>
          </a:xfrm>
          <a:custGeom>
            <a:avLst/>
            <a:gdLst/>
            <a:ahLst/>
            <a:cxnLst/>
            <a:rect l="l" t="t" r="r" b="b"/>
            <a:pathLst>
              <a:path w="1832007" h="850997">
                <a:moveTo>
                  <a:pt x="0" y="0"/>
                </a:moveTo>
                <a:lnTo>
                  <a:pt x="1832008" y="0"/>
                </a:lnTo>
                <a:lnTo>
                  <a:pt x="1832008" y="850997"/>
                </a:lnTo>
                <a:lnTo>
                  <a:pt x="0" y="850997"/>
                </a:lnTo>
                <a:lnTo>
                  <a:pt x="0" y="0"/>
                </a:lnTo>
                <a:close/>
              </a:path>
            </a:pathLst>
          </a:custGeom>
          <a:blipFill>
            <a:blip r:embed="rId4"/>
            <a:stretch>
              <a:fillRect/>
            </a:stretch>
          </a:blipFill>
        </p:spPr>
      </p:sp>
      <p:sp>
        <p:nvSpPr>
          <p:cNvPr id="198" name="Title 198"/>
          <p:cNvSpPr txBox="1"/>
          <p:nvPr/>
        </p:nvSpPr>
        <p:spPr>
          <a:xfrm>
            <a:off x="1005840" y="365760"/>
            <a:ext cx="14538960" cy="1280160"/>
          </a:xfrm>
          <a:prstGeom prst="rect">
            <a:avLst/>
          </a:prstGeom>
          <a:noFill/>
          <a:ln>
            <a:noFill/>
          </a:ln>
        </p:spPr>
        <p:txBody>
          <a:bodyPr wrap="square" lIns="0" tIns="0" rIns="0" bIns="0" rtlCol="0" anchor="ctr">
            <a:noAutofit/>
          </a:bodyPr>
          <a:lstStyle/>
          <a:p>
            <a:pPr algn="l">
              <a:spcAft>
                <a:spcPts val="0"/>
              </a:spcAft>
              <a:buNone/>
            </a:pPr>
            <a:r>
              <a:rPr lang="en-US" sz="5600" b="0" i="0" dirty="0">
                <a:gradFill>
                  <a:gsLst>
                    <a:gs pos="0">
                      <a:srgbClr val="0057FF"/>
                    </a:gs>
                    <a:gs pos="100000">
                      <a:srgbClr val="001C42"/>
                    </a:gs>
                  </a:gsLst>
                  <a:lin ang="2700000"/>
                </a:gradFill>
                <a:latin typeface="Intro"/>
                <a:ea typeface="Intro"/>
                <a:cs typeface="Intro"/>
              </a:rPr>
              <a:t>Literature Survey</a:t>
            </a:r>
          </a:p>
        </p:txBody>
      </p:sp>
      <p:graphicFrame>
        <p:nvGraphicFramePr>
          <p:cNvPr id="199" name="Table 199"/>
          <p:cNvGraphicFramePr>
            <a:graphicFrameLocks noGrp="1"/>
          </p:cNvGraphicFramePr>
          <p:nvPr/>
        </p:nvGraphicFramePr>
        <p:xfrm>
          <a:off x="1005840" y="1783080"/>
          <a:ext cx="16276320" cy="8247888"/>
        </p:xfrm>
        <a:graphic>
          <a:graphicData uri="http://schemas.openxmlformats.org/drawingml/2006/table">
            <a:tbl>
              <a:tblPr firstRow="1"/>
              <a:tblGrid>
                <a:gridCol w="329184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gridCol w="4389120">
                  <a:extLst>
                    <a:ext uri="{9D8B030D-6E8A-4147-A177-3AD203B41FA5}">
                      <a16:colId xmlns:a16="http://schemas.microsoft.com/office/drawing/2014/main" val="20003"/>
                    </a:ext>
                  </a:extLst>
                </a:gridCol>
              </a:tblGrid>
              <a:tr h="640080">
                <a:tc>
                  <a:txBody>
                    <a:bodyPr/>
                    <a:lstStyle/>
                    <a:p>
                      <a:pPr algn="ctr">
                        <a:spcAft>
                          <a:spcPts val="0"/>
                        </a:spcAft>
                        <a:buNone/>
                      </a:pPr>
                      <a:r>
                        <a:rPr lang="en-US" sz="1900" b="1" i="0" dirty="0">
                          <a:solidFill>
                            <a:srgbClr val="FFFFFF"/>
                          </a:solidFill>
                          <a:latin typeface="Open Sauce"/>
                          <a:ea typeface="Open Sauce"/>
                          <a:cs typeface="Open Sauce"/>
                        </a:rPr>
                        <a:t>PAPER DETAILS</a:t>
                      </a:r>
                    </a:p>
                  </a:txBody>
                  <a:tcPr marL="137160" marR="137160" marT="109728" marB="109728" anchor="ctr">
                    <a:lnL w="12700">
                      <a:solidFill>
                        <a:srgbClr val="9DB9F2"/>
                      </a:solidFill>
                    </a:lnL>
                    <a:lnR w="12700">
                      <a:solidFill>
                        <a:srgbClr val="9DB9F2"/>
                      </a:solidFill>
                    </a:lnR>
                    <a:lnT w="12700">
                      <a:solidFill>
                        <a:srgbClr val="9DB9F2"/>
                      </a:solidFill>
                    </a:lnT>
                    <a:lnB w="12700">
                      <a:solidFill>
                        <a:srgbClr val="9DB9F2"/>
                      </a:solidFill>
                    </a:lnB>
                    <a:solidFill>
                      <a:srgbClr val="0057FF"/>
                    </a:solidFill>
                  </a:tcPr>
                </a:tc>
                <a:tc>
                  <a:txBody>
                    <a:bodyPr/>
                    <a:lstStyle/>
                    <a:p>
                      <a:pPr algn="ctr">
                        <a:spcAft>
                          <a:spcPts val="0"/>
                        </a:spcAft>
                        <a:buNone/>
                      </a:pPr>
                      <a:r>
                        <a:rPr lang="en-US" sz="1900" b="1" i="0" dirty="0">
                          <a:solidFill>
                            <a:srgbClr val="FFFFFF"/>
                          </a:solidFill>
                          <a:latin typeface="Open Sauce"/>
                          <a:ea typeface="Open Sauce"/>
                          <a:cs typeface="Open Sauce"/>
                        </a:rPr>
                        <a:t>OBJECTIVE / TECHNIQUE / MODEL</a:t>
                      </a:r>
                    </a:p>
                  </a:txBody>
                  <a:tcPr marL="137160" marR="137160" marT="109728" marB="109728" anchor="ctr">
                    <a:lnL w="12700">
                      <a:solidFill>
                        <a:srgbClr val="9DB9F2"/>
                      </a:solidFill>
                    </a:lnL>
                    <a:lnR w="12700">
                      <a:solidFill>
                        <a:srgbClr val="9DB9F2"/>
                      </a:solidFill>
                    </a:lnR>
                    <a:lnT w="12700">
                      <a:solidFill>
                        <a:srgbClr val="9DB9F2"/>
                      </a:solidFill>
                    </a:lnT>
                    <a:lnB w="12700">
                      <a:solidFill>
                        <a:srgbClr val="9DB9F2"/>
                      </a:solidFill>
                    </a:lnB>
                    <a:solidFill>
                      <a:srgbClr val="0057FF"/>
                    </a:solidFill>
                  </a:tcPr>
                </a:tc>
                <a:tc>
                  <a:txBody>
                    <a:bodyPr/>
                    <a:lstStyle/>
                    <a:p>
                      <a:pPr algn="ctr">
                        <a:spcAft>
                          <a:spcPts val="0"/>
                        </a:spcAft>
                        <a:buNone/>
                      </a:pPr>
                      <a:r>
                        <a:rPr lang="en-US" sz="1900" b="1" i="0" dirty="0">
                          <a:solidFill>
                            <a:srgbClr val="FFFFFF"/>
                          </a:solidFill>
                          <a:latin typeface="Open Sauce"/>
                          <a:ea typeface="Open Sauce"/>
                          <a:cs typeface="Open Sauce"/>
                        </a:rPr>
                        <a:t>ADVANTAGES</a:t>
                      </a:r>
                    </a:p>
                  </a:txBody>
                  <a:tcPr marL="137160" marR="137160" marT="109728" marB="109728" anchor="ctr">
                    <a:lnL w="12700">
                      <a:solidFill>
                        <a:srgbClr val="9DB9F2"/>
                      </a:solidFill>
                    </a:lnL>
                    <a:lnR w="12700">
                      <a:solidFill>
                        <a:srgbClr val="9DB9F2"/>
                      </a:solidFill>
                    </a:lnR>
                    <a:lnT w="12700">
                      <a:solidFill>
                        <a:srgbClr val="9DB9F2"/>
                      </a:solidFill>
                    </a:lnT>
                    <a:lnB w="12700">
                      <a:solidFill>
                        <a:srgbClr val="9DB9F2"/>
                      </a:solidFill>
                    </a:lnB>
                    <a:solidFill>
                      <a:srgbClr val="0057FF"/>
                    </a:solidFill>
                  </a:tcPr>
                </a:tc>
                <a:tc>
                  <a:txBody>
                    <a:bodyPr/>
                    <a:lstStyle/>
                    <a:p>
                      <a:pPr algn="ctr">
                        <a:spcAft>
                          <a:spcPts val="0"/>
                        </a:spcAft>
                        <a:buNone/>
                      </a:pPr>
                      <a:r>
                        <a:rPr lang="en-US" sz="1900" b="1" i="0" dirty="0">
                          <a:solidFill>
                            <a:srgbClr val="FFFFFF"/>
                          </a:solidFill>
                          <a:latin typeface="Open Sauce"/>
                          <a:ea typeface="Open Sauce"/>
                          <a:cs typeface="Open Sauce"/>
                        </a:rPr>
                        <a:t>LIMITATIONS</a:t>
                      </a:r>
                    </a:p>
                  </a:txBody>
                  <a:tcPr marL="137160" marR="137160" marT="109728" marB="109728" anchor="ctr">
                    <a:lnL w="12700">
                      <a:solidFill>
                        <a:srgbClr val="9DB9F2"/>
                      </a:solidFill>
                    </a:lnL>
                    <a:lnR w="12700">
                      <a:solidFill>
                        <a:srgbClr val="9DB9F2"/>
                      </a:solidFill>
                    </a:lnR>
                    <a:lnT w="12700">
                      <a:solidFill>
                        <a:srgbClr val="9DB9F2"/>
                      </a:solidFill>
                    </a:lnT>
                    <a:lnB w="12700">
                      <a:solidFill>
                        <a:srgbClr val="9DB9F2"/>
                      </a:solidFill>
                    </a:lnB>
                    <a:solidFill>
                      <a:srgbClr val="0057FF"/>
                    </a:solidFill>
                  </a:tcPr>
                </a:tc>
                <a:extLst>
                  <a:ext uri="{0D108BD9-81ED-4DB2-BD59-A6C34878D82A}">
                    <a16:rowId xmlns:a16="http://schemas.microsoft.com/office/drawing/2014/main" val="10000"/>
                  </a:ext>
                </a:extLst>
              </a:tr>
              <a:tr h="3525520">
                <a:tc>
                  <a:txBody>
                    <a:bodyPr/>
                    <a:lstStyle/>
                    <a:p>
                      <a:pPr algn="l">
                        <a:spcAft>
                          <a:spcPts val="600"/>
                        </a:spcAft>
                        <a:buNone/>
                      </a:pPr>
                      <a:r>
                        <a:rPr lang="en-US" sz="2000" b="1" i="0" dirty="0">
                          <a:solidFill>
                            <a:srgbClr val="001C42"/>
                          </a:solidFill>
                          <a:latin typeface="Open Sauce"/>
                          <a:ea typeface="Open Sauce"/>
                          <a:cs typeface="Open Sauce"/>
                        </a:rPr>
                        <a:t>CLASS IMBALANCE AND CONCEPT DRIFT INVARIANT ONLINE BOTNET THREAT DETECTION FRAMEWORK FOR HETEROGENEOUS IOT EDGE</a:t>
                      </a:r>
                    </a:p>
                    <a:p>
                      <a:pPr algn="l">
                        <a:spcAft>
                          <a:spcPts val="600"/>
                        </a:spcAft>
                        <a:buNone/>
                      </a:pPr>
                      <a:r>
                        <a:rPr lang="en-US" sz="2000" b="1" i="0" dirty="0">
                          <a:solidFill>
                            <a:srgbClr val="0057FF"/>
                          </a:solidFill>
                          <a:latin typeface="Open Sauce"/>
                          <a:ea typeface="Open Sauce"/>
                          <a:cs typeface="Open Sauce"/>
                        </a:rPr>
                        <a:t>Venue: </a:t>
                      </a:r>
                      <a:r>
                        <a:rPr lang="en-US" sz="2000" b="0" i="0" dirty="0">
                          <a:solidFill>
                            <a:srgbClr val="001C42"/>
                          </a:solidFill>
                          <a:latin typeface="Open Sauce"/>
                          <a:ea typeface="Open Sauce"/>
                          <a:cs typeface="Open Sauce"/>
                        </a:rPr>
                        <a:t>Computers &amp; Security, 2024</a:t>
                      </a:r>
                    </a:p>
                    <a:p>
                      <a:pPr algn="l">
                        <a:spcAft>
                          <a:spcPts val="600"/>
                        </a:spcAft>
                        <a:buNone/>
                      </a:pPr>
                      <a:r>
                        <a:rPr lang="en-US" sz="2000" b="1" i="0" dirty="0">
                          <a:solidFill>
                            <a:srgbClr val="0057FF"/>
                          </a:solidFill>
                          <a:latin typeface="Open Sauce"/>
                          <a:ea typeface="Open Sauce"/>
                          <a:cs typeface="Open Sauce"/>
                        </a:rPr>
                        <a:t>DOI: </a:t>
                      </a:r>
                      <a:r>
                        <a:rPr lang="en-US" sz="2000" b="0" i="0" dirty="0">
                          <a:solidFill>
                            <a:srgbClr val="001C42"/>
                          </a:solidFill>
                          <a:latin typeface="Open Sauce"/>
                          <a:ea typeface="Open Sauce"/>
                          <a:cs typeface="Open Sauce"/>
                        </a:rPr>
                        <a:t>10.1016/j.cose.2024.103820</a:t>
                      </a:r>
                    </a:p>
                  </a:txBody>
                  <a:tcPr marL="137160" marR="137160" marT="109728" marB="109728">
                    <a:lnL w="12700">
                      <a:solidFill>
                        <a:srgbClr val="9DB9F2"/>
                      </a:solidFill>
                    </a:lnL>
                    <a:lnR w="12700">
                      <a:solidFill>
                        <a:srgbClr val="9DB9F2"/>
                      </a:solidFill>
                    </a:lnR>
                    <a:lnT w="12700">
                      <a:solidFill>
                        <a:srgbClr val="9DB9F2"/>
                      </a:solidFill>
                    </a:lnT>
                    <a:lnB w="12700">
                      <a:solidFill>
                        <a:srgbClr val="9DB9F2"/>
                      </a:solidFill>
                    </a:lnB>
                    <a:solidFill>
                      <a:srgbClr val="EAF1FF"/>
                    </a:solidFill>
                  </a:tcPr>
                </a:tc>
                <a:tc>
                  <a:txBody>
                    <a:bodyPr/>
                    <a:lstStyle/>
                    <a:p>
                      <a:pPr algn="l">
                        <a:spcAft>
                          <a:spcPts val="600"/>
                        </a:spcAft>
                        <a:buNone/>
                      </a:pPr>
                      <a:r>
                        <a:rPr lang="en-US" sz="2000" b="0" i="0" dirty="0">
                          <a:solidFill>
                            <a:srgbClr val="001C42"/>
                          </a:solidFill>
                          <a:latin typeface="Open Sauce"/>
                          <a:ea typeface="Open Sauce"/>
                          <a:cs typeface="Open Sauce"/>
                        </a:rPr>
                        <a:t>Proposes ONIDS, an online botnet detector for heterogeneous IoT edge handling both class imbalance and concept drift. Uses Beta-distribution traffic inference with an online Extreme Learning Machine learner (ELMO) so it works on small samples with low memory and compute.</a:t>
                      </a:r>
                    </a:p>
                  </a:txBody>
                  <a:tcPr marL="137160" marR="137160" marT="109728" marB="109728">
                    <a:lnL w="12700">
                      <a:solidFill>
                        <a:srgbClr val="9DB9F2"/>
                      </a:solidFill>
                    </a:lnL>
                    <a:lnR w="12700">
                      <a:solidFill>
                        <a:srgbClr val="9DB9F2"/>
                      </a:solidFill>
                    </a:lnR>
                    <a:lnT w="12700">
                      <a:solidFill>
                        <a:srgbClr val="9DB9F2"/>
                      </a:solidFill>
                    </a:lnT>
                    <a:lnB w="12700">
                      <a:solidFill>
                        <a:srgbClr val="9DB9F2"/>
                      </a:solidFill>
                    </a:lnB>
                    <a:solidFill>
                      <a:srgbClr val="FFFFFF"/>
                    </a:solidFill>
                  </a:tcPr>
                </a:tc>
                <a:tc>
                  <a:txBody>
                    <a:bodyPr/>
                    <a:lstStyle/>
                    <a:p>
                      <a:pPr marL="342900" indent="-342900" algn="l">
                        <a:spcAft>
                          <a:spcPts val="600"/>
                        </a:spcAft>
                        <a:buFont typeface="Arial"/>
                        <a:buChar char="•"/>
                      </a:pPr>
                      <a:r>
                        <a:rPr lang="en-US" sz="2000" b="1" i="0" dirty="0">
                          <a:solidFill>
                            <a:srgbClr val="0057FF"/>
                          </a:solidFill>
                          <a:latin typeface="Open Sauce"/>
                          <a:ea typeface="Open Sauce"/>
                          <a:cs typeface="Open Sauce"/>
                        </a:rPr>
                        <a:t>Adapts online: </a:t>
                      </a:r>
                      <a:r>
                        <a:rPr lang="en-US" sz="2000" b="0" i="0" dirty="0">
                          <a:solidFill>
                            <a:srgbClr val="001C42"/>
                          </a:solidFill>
                          <a:latin typeface="Open Sauce"/>
                          <a:ea typeface="Open Sauce"/>
                          <a:cs typeface="Open Sauce"/>
                        </a:rPr>
                        <a:t>keeps detecting as traffic changes</a:t>
                      </a:r>
                    </a:p>
                    <a:p>
                      <a:pPr marL="342900" indent="-342900" algn="l">
                        <a:spcAft>
                          <a:spcPts val="600"/>
                        </a:spcAft>
                        <a:buFont typeface="Arial"/>
                        <a:buChar char="•"/>
                      </a:pPr>
                      <a:r>
                        <a:rPr lang="en-US" sz="2000" b="1" i="0" dirty="0">
                          <a:solidFill>
                            <a:srgbClr val="0057FF"/>
                          </a:solidFill>
                          <a:latin typeface="Open Sauce"/>
                          <a:ea typeface="Open Sauce"/>
                          <a:cs typeface="Open Sauce"/>
                        </a:rPr>
                        <a:t>Handles imbalance: </a:t>
                      </a:r>
                      <a:r>
                        <a:rPr lang="en-US" sz="2000" b="0" i="0" dirty="0">
                          <a:solidFill>
                            <a:srgbClr val="001C42"/>
                          </a:solidFill>
                          <a:latin typeface="Open Sauce"/>
                          <a:ea typeface="Open Sauce"/>
                          <a:cs typeface="Open Sauce"/>
                        </a:rPr>
                        <a:t>benign traffic far outnumbers malicious</a:t>
                      </a:r>
                    </a:p>
                    <a:p>
                      <a:pPr marL="342900" indent="-342900" algn="l">
                        <a:spcAft>
                          <a:spcPts val="600"/>
                        </a:spcAft>
                        <a:buFont typeface="Arial"/>
                        <a:buChar char="•"/>
                      </a:pPr>
                      <a:r>
                        <a:rPr lang="en-US" sz="2000" b="1" i="0" dirty="0">
                          <a:solidFill>
                            <a:srgbClr val="0057FF"/>
                          </a:solidFill>
                          <a:latin typeface="Open Sauce"/>
                          <a:ea typeface="Open Sauce"/>
                          <a:cs typeface="Open Sauce"/>
                        </a:rPr>
                        <a:t>Edge-friendly: </a:t>
                      </a:r>
                      <a:r>
                        <a:rPr lang="en-US" sz="2000" b="0" i="0" dirty="0">
                          <a:solidFill>
                            <a:srgbClr val="001C42"/>
                          </a:solidFill>
                          <a:latin typeface="Open Sauce"/>
                          <a:ea typeface="Open Sauce"/>
                          <a:cs typeface="Open Sauce"/>
                        </a:rPr>
                        <a:t>small samples, low memory and compute</a:t>
                      </a:r>
                    </a:p>
                  </a:txBody>
                  <a:tcPr marL="137160" marR="137160" marT="109728" marB="109728">
                    <a:lnL w="12700">
                      <a:solidFill>
                        <a:srgbClr val="9DB9F2"/>
                      </a:solidFill>
                    </a:lnL>
                    <a:lnR w="12700">
                      <a:solidFill>
                        <a:srgbClr val="9DB9F2"/>
                      </a:solidFill>
                    </a:lnR>
                    <a:lnT w="12700">
                      <a:solidFill>
                        <a:srgbClr val="9DB9F2"/>
                      </a:solidFill>
                    </a:lnT>
                    <a:lnB w="12700">
                      <a:solidFill>
                        <a:srgbClr val="9DB9F2"/>
                      </a:solidFill>
                    </a:lnB>
                    <a:solidFill>
                      <a:srgbClr val="FFFFFF"/>
                    </a:solidFill>
                  </a:tcPr>
                </a:tc>
                <a:tc>
                  <a:txBody>
                    <a:bodyPr/>
                    <a:lstStyle/>
                    <a:p>
                      <a:pPr marL="342900" indent="-342900" algn="l">
                        <a:spcAft>
                          <a:spcPts val="600"/>
                        </a:spcAft>
                        <a:buFont typeface="Arial"/>
                        <a:buChar char="•"/>
                      </a:pPr>
                      <a:r>
                        <a:rPr lang="en-US" sz="2000" b="1" i="0" dirty="0">
                          <a:solidFill>
                            <a:srgbClr val="0057FF"/>
                          </a:solidFill>
                          <a:latin typeface="Open Sauce"/>
                          <a:ea typeface="Open Sauce"/>
                          <a:cs typeface="Open Sauce"/>
                        </a:rPr>
                        <a:t>Hardware: </a:t>
                      </a:r>
                      <a:r>
                        <a:rPr lang="en-US" sz="2000" b="0" i="0" dirty="0">
                          <a:solidFill>
                            <a:srgbClr val="001C42"/>
                          </a:solidFill>
                          <a:latin typeface="Open Sauce"/>
                          <a:ea typeface="Open Sauce"/>
                          <a:cs typeface="Open Sauce"/>
                        </a:rPr>
                        <a:t>needs validation on more physical edge devices</a:t>
                      </a:r>
                    </a:p>
                    <a:p>
                      <a:pPr marL="342900" indent="-342900" algn="l">
                        <a:spcAft>
                          <a:spcPts val="600"/>
                        </a:spcAft>
                        <a:buFont typeface="Arial"/>
                        <a:buChar char="•"/>
                      </a:pPr>
                      <a:r>
                        <a:rPr lang="en-US" sz="2000" b="1" i="0" dirty="0">
                          <a:solidFill>
                            <a:srgbClr val="0057FF"/>
                          </a:solidFill>
                          <a:latin typeface="Open Sauce"/>
                          <a:ea typeface="Open Sauce"/>
                          <a:cs typeface="Open Sauce"/>
                        </a:rPr>
                        <a:t>Unseen botnets: </a:t>
                      </a:r>
                      <a:r>
                        <a:rPr lang="en-US" sz="2000" b="0" i="0" dirty="0">
                          <a:solidFill>
                            <a:srgbClr val="001C42"/>
                          </a:solidFill>
                          <a:latin typeface="Open Sauce"/>
                          <a:ea typeface="Open Sauce"/>
                          <a:cs typeface="Open Sauce"/>
                        </a:rPr>
                        <a:t>more tests with attacks absent from training</a:t>
                      </a:r>
                    </a:p>
                    <a:p>
                      <a:pPr marL="342900" indent="-342900" algn="l">
                        <a:spcAft>
                          <a:spcPts val="600"/>
                        </a:spcAft>
                        <a:buFont typeface="Arial"/>
                        <a:buChar char="•"/>
                      </a:pPr>
                      <a:r>
                        <a:rPr lang="en-US" sz="2000" b="1" i="0" dirty="0">
                          <a:solidFill>
                            <a:srgbClr val="0057FF"/>
                          </a:solidFill>
                          <a:latin typeface="Open Sauce"/>
                          <a:ea typeface="Open Sauce"/>
                          <a:cs typeface="Open Sauce"/>
                        </a:rPr>
                        <a:t>Energy cost: </a:t>
                      </a:r>
                      <a:r>
                        <a:rPr lang="en-US" sz="2000" b="0" i="0" dirty="0">
                          <a:solidFill>
                            <a:srgbClr val="001C42"/>
                          </a:solidFill>
                          <a:latin typeface="Open Sauce"/>
                          <a:ea typeface="Open Sauce"/>
                          <a:cs typeface="Open Sauce"/>
                        </a:rPr>
                        <a:t>not yet measured for low-power devices</a:t>
                      </a:r>
                    </a:p>
                  </a:txBody>
                  <a:tcPr marL="137160" marR="137160" marT="109728" marB="109728">
                    <a:lnL w="12700">
                      <a:solidFill>
                        <a:srgbClr val="9DB9F2"/>
                      </a:solidFill>
                    </a:lnL>
                    <a:lnR w="12700">
                      <a:solidFill>
                        <a:srgbClr val="9DB9F2"/>
                      </a:solidFill>
                    </a:lnR>
                    <a:lnT w="12700">
                      <a:solidFill>
                        <a:srgbClr val="9DB9F2"/>
                      </a:solidFill>
                    </a:lnT>
                    <a:lnB w="12700">
                      <a:solidFill>
                        <a:srgbClr val="9DB9F2"/>
                      </a:solidFill>
                    </a:lnB>
                    <a:solidFill>
                      <a:srgbClr val="FFFFFF"/>
                    </a:solidFill>
                  </a:tcPr>
                </a:tc>
                <a:extLst>
                  <a:ext uri="{0D108BD9-81ED-4DB2-BD59-A6C34878D82A}">
                    <a16:rowId xmlns:a16="http://schemas.microsoft.com/office/drawing/2014/main" val="10001"/>
                  </a:ext>
                </a:extLst>
              </a:tr>
              <a:tr h="2905760">
                <a:tc>
                  <a:txBody>
                    <a:bodyPr/>
                    <a:lstStyle/>
                    <a:p>
                      <a:pPr algn="l">
                        <a:spcAft>
                          <a:spcPts val="600"/>
                        </a:spcAft>
                        <a:buNone/>
                      </a:pPr>
                      <a:r>
                        <a:rPr lang="en-US" sz="2000" b="1" i="0" dirty="0">
                          <a:solidFill>
                            <a:srgbClr val="001C42"/>
                          </a:solidFill>
                          <a:latin typeface="Open Sauce"/>
                          <a:ea typeface="Open Sauce"/>
                          <a:cs typeface="Open Sauce"/>
                        </a:rPr>
                        <a:t>LIGHTWEIGHT CYBERSECURITY FRAMEWORK FOR SMART HOME IOT DEVICES</a:t>
                      </a:r>
                    </a:p>
                    <a:p>
                      <a:pPr algn="l">
                        <a:spcAft>
                          <a:spcPts val="600"/>
                        </a:spcAft>
                        <a:buNone/>
                      </a:pPr>
                      <a:r>
                        <a:rPr lang="en-US" sz="2000" b="1" i="0" dirty="0">
                          <a:solidFill>
                            <a:srgbClr val="0057FF"/>
                          </a:solidFill>
                          <a:latin typeface="Open Sauce"/>
                          <a:ea typeface="Open Sauce"/>
                          <a:cs typeface="Open Sauce"/>
                        </a:rPr>
                        <a:t>Venue: </a:t>
                      </a:r>
                      <a:r>
                        <a:rPr lang="en-US" sz="2000" b="0" i="0" dirty="0">
                          <a:solidFill>
                            <a:srgbClr val="001C42"/>
                          </a:solidFill>
                          <a:latin typeface="Open Sauce"/>
                          <a:ea typeface="Open Sauce"/>
                          <a:cs typeface="Open Sauce"/>
                        </a:rPr>
                        <a:t>IEEE FET 2026</a:t>
                      </a:r>
                    </a:p>
                    <a:p>
                      <a:pPr algn="l">
                        <a:spcAft>
                          <a:spcPts val="600"/>
                        </a:spcAft>
                        <a:buNone/>
                      </a:pPr>
                      <a:r>
                        <a:rPr lang="en-US" sz="2000" b="1" i="0" dirty="0">
                          <a:solidFill>
                            <a:srgbClr val="0057FF"/>
                          </a:solidFill>
                          <a:latin typeface="Open Sauce"/>
                          <a:ea typeface="Open Sauce"/>
                          <a:cs typeface="Open Sauce"/>
                        </a:rPr>
                        <a:t>DOI: </a:t>
                      </a:r>
                      <a:r>
                        <a:rPr lang="en-US" sz="2000" b="0" i="0" dirty="0">
                          <a:solidFill>
                            <a:srgbClr val="001C42"/>
                          </a:solidFill>
                          <a:latin typeface="Open Sauce"/>
                          <a:ea typeface="Open Sauce"/>
                          <a:cs typeface="Open Sauce"/>
                        </a:rPr>
                        <a:t>10.1109/FET68771.2026.11601537</a:t>
                      </a:r>
                    </a:p>
                  </a:txBody>
                  <a:tcPr marL="137160" marR="137160" marT="109728" marB="109728">
                    <a:lnL w="12700">
                      <a:solidFill>
                        <a:srgbClr val="9DB9F2"/>
                      </a:solidFill>
                    </a:lnL>
                    <a:lnR w="12700">
                      <a:solidFill>
                        <a:srgbClr val="9DB9F2"/>
                      </a:solidFill>
                    </a:lnR>
                    <a:lnT w="12700">
                      <a:solidFill>
                        <a:srgbClr val="9DB9F2"/>
                      </a:solidFill>
                    </a:lnT>
                    <a:lnB w="12700">
                      <a:solidFill>
                        <a:srgbClr val="9DB9F2"/>
                      </a:solidFill>
                    </a:lnB>
                    <a:solidFill>
                      <a:srgbClr val="EAF1FF"/>
                    </a:solidFill>
                  </a:tcPr>
                </a:tc>
                <a:tc>
                  <a:txBody>
                    <a:bodyPr/>
                    <a:lstStyle/>
                    <a:p>
                      <a:pPr algn="l">
                        <a:spcAft>
                          <a:spcPts val="600"/>
                        </a:spcAft>
                        <a:buNone/>
                      </a:pPr>
                      <a:r>
                        <a:rPr lang="en-US" sz="2000" b="0" i="0" dirty="0">
                          <a:solidFill>
                            <a:srgbClr val="001C42"/>
                          </a:solidFill>
                          <a:latin typeface="Open Sauce"/>
                          <a:ea typeface="Open Sauce"/>
                          <a:cs typeface="Open Sauce"/>
                        </a:rPr>
                        <a:t>Replaces heavy TLS/DTLS handshakes with Elliptic Curve Cryptography (ECC) and a gateway-assisted 3-tier architecture that spreads security tasks by each layer's compute capability.</a:t>
                      </a:r>
                    </a:p>
                  </a:txBody>
                  <a:tcPr marL="137160" marR="137160" marT="109728" marB="109728">
                    <a:lnL w="12700">
                      <a:solidFill>
                        <a:srgbClr val="9DB9F2"/>
                      </a:solidFill>
                    </a:lnL>
                    <a:lnR w="12700">
                      <a:solidFill>
                        <a:srgbClr val="9DB9F2"/>
                      </a:solidFill>
                    </a:lnR>
                    <a:lnT w="12700">
                      <a:solidFill>
                        <a:srgbClr val="9DB9F2"/>
                      </a:solidFill>
                    </a:lnT>
                    <a:lnB w="12700">
                      <a:solidFill>
                        <a:srgbClr val="9DB9F2"/>
                      </a:solidFill>
                    </a:lnB>
                    <a:solidFill>
                      <a:srgbClr val="FFFFFF"/>
                    </a:solidFill>
                  </a:tcPr>
                </a:tc>
                <a:tc>
                  <a:txBody>
                    <a:bodyPr/>
                    <a:lstStyle/>
                    <a:p>
                      <a:pPr marL="342900" indent="-342900" algn="l">
                        <a:spcAft>
                          <a:spcPts val="600"/>
                        </a:spcAft>
                        <a:buFont typeface="Arial"/>
                        <a:buChar char="•"/>
                      </a:pPr>
                      <a:r>
                        <a:rPr lang="en-US" sz="2000" b="1" i="0" dirty="0">
                          <a:solidFill>
                            <a:srgbClr val="0057FF"/>
                          </a:solidFill>
                          <a:latin typeface="Open Sauce"/>
                          <a:ea typeface="Open Sauce"/>
                          <a:cs typeface="Open Sauce"/>
                        </a:rPr>
                        <a:t>Low overhead: </a:t>
                      </a:r>
                      <a:r>
                        <a:rPr lang="en-US" sz="2000" b="0" i="0" dirty="0">
                          <a:solidFill>
                            <a:srgbClr val="001C42"/>
                          </a:solidFill>
                          <a:latin typeface="Open Sauce"/>
                          <a:ea typeface="Open Sauce"/>
                          <a:cs typeface="Open Sauce"/>
                        </a:rPr>
                        <a:t>avoids costly handshakes, saves battery</a:t>
                      </a:r>
                    </a:p>
                    <a:p>
                      <a:pPr marL="342900" indent="-342900" algn="l">
                        <a:spcAft>
                          <a:spcPts val="600"/>
                        </a:spcAft>
                        <a:buFont typeface="Arial"/>
                        <a:buChar char="•"/>
                      </a:pPr>
                      <a:r>
                        <a:rPr lang="en-US" sz="2000" b="1" i="0" dirty="0">
                          <a:solidFill>
                            <a:srgbClr val="0057FF"/>
                          </a:solidFill>
                          <a:latin typeface="Open Sauce"/>
                          <a:ea typeface="Open Sauce"/>
                          <a:cs typeface="Open Sauce"/>
                        </a:rPr>
                        <a:t>Scalable: </a:t>
                      </a:r>
                      <a:r>
                        <a:rPr lang="en-US" sz="2000" b="0" i="0" dirty="0">
                          <a:solidFill>
                            <a:srgbClr val="001C42"/>
                          </a:solidFill>
                          <a:latin typeface="Open Sauce"/>
                          <a:ea typeface="Open Sauce"/>
                          <a:cs typeface="Open Sauce"/>
                        </a:rPr>
                        <a:t>heavy work moves to the gateway</a:t>
                      </a:r>
                    </a:p>
                    <a:p>
                      <a:pPr marL="342900" indent="-342900" algn="l">
                        <a:spcAft>
                          <a:spcPts val="600"/>
                        </a:spcAft>
                        <a:buFont typeface="Arial"/>
                        <a:buChar char="•"/>
                      </a:pPr>
                      <a:r>
                        <a:rPr lang="en-US" sz="2000" b="1" i="0" dirty="0">
                          <a:solidFill>
                            <a:srgbClr val="0057FF"/>
                          </a:solidFill>
                          <a:latin typeface="Open Sauce"/>
                          <a:ea typeface="Open Sauce"/>
                          <a:cs typeface="Open Sauce"/>
                        </a:rPr>
                        <a:t>Broad fit: </a:t>
                      </a:r>
                      <a:r>
                        <a:rPr lang="en-US" sz="2000" b="0" i="0" dirty="0">
                          <a:solidFill>
                            <a:srgbClr val="001C42"/>
                          </a:solidFill>
                          <a:latin typeface="Open Sauce"/>
                          <a:ea typeface="Open Sauce"/>
                          <a:cs typeface="Open Sauce"/>
                        </a:rPr>
                        <a:t>smart home, metering, healthcare, WSNs</a:t>
                      </a:r>
                    </a:p>
                  </a:txBody>
                  <a:tcPr marL="137160" marR="137160" marT="109728" marB="109728">
                    <a:lnL w="12700">
                      <a:solidFill>
                        <a:srgbClr val="9DB9F2"/>
                      </a:solidFill>
                    </a:lnL>
                    <a:lnR w="12700">
                      <a:solidFill>
                        <a:srgbClr val="9DB9F2"/>
                      </a:solidFill>
                    </a:lnR>
                    <a:lnT w="12700">
                      <a:solidFill>
                        <a:srgbClr val="9DB9F2"/>
                      </a:solidFill>
                    </a:lnT>
                    <a:lnB w="12700">
                      <a:solidFill>
                        <a:srgbClr val="9DB9F2"/>
                      </a:solidFill>
                    </a:lnB>
                    <a:solidFill>
                      <a:srgbClr val="FFFFFF"/>
                    </a:solidFill>
                  </a:tcPr>
                </a:tc>
                <a:tc>
                  <a:txBody>
                    <a:bodyPr/>
                    <a:lstStyle/>
                    <a:p>
                      <a:pPr marL="342900" indent="-342900" algn="l">
                        <a:spcAft>
                          <a:spcPts val="600"/>
                        </a:spcAft>
                        <a:buFont typeface="Arial"/>
                        <a:buChar char="•"/>
                      </a:pPr>
                      <a:r>
                        <a:rPr lang="en-US" sz="2000" b="1" i="0" dirty="0">
                          <a:solidFill>
                            <a:srgbClr val="0057FF"/>
                          </a:solidFill>
                          <a:latin typeface="Open Sauce"/>
                          <a:ea typeface="Open Sauce"/>
                          <a:cs typeface="Open Sauce"/>
                        </a:rPr>
                        <a:t>Single point of failure: </a:t>
                      </a:r>
                      <a:r>
                        <a:rPr lang="en-US" sz="2000" b="0" i="0" dirty="0">
                          <a:solidFill>
                            <a:srgbClr val="001C42"/>
                          </a:solidFill>
                          <a:latin typeface="Open Sauce"/>
                          <a:ea typeface="Open Sauce"/>
                          <a:cs typeface="Open Sauce"/>
                        </a:rPr>
                        <a:t>a compromised gateway exposes all devices</a:t>
                      </a:r>
                    </a:p>
                    <a:p>
                      <a:pPr marL="342900" indent="-342900" algn="l">
                        <a:spcAft>
                          <a:spcPts val="600"/>
                        </a:spcAft>
                        <a:buFont typeface="Arial"/>
                        <a:buChar char="•"/>
                      </a:pPr>
                      <a:r>
                        <a:rPr lang="en-US" sz="2000" b="1" i="0" dirty="0">
                          <a:solidFill>
                            <a:srgbClr val="0057FF"/>
                          </a:solidFill>
                          <a:latin typeface="Open Sauce"/>
                          <a:ea typeface="Open Sauce"/>
                          <a:cs typeface="Open Sauce"/>
                        </a:rPr>
                        <a:t>No physical protection: </a:t>
                      </a:r>
                      <a:r>
                        <a:rPr lang="en-US" sz="2000" b="0" i="0" dirty="0">
                          <a:solidFill>
                            <a:srgbClr val="001C42"/>
                          </a:solidFill>
                          <a:latin typeface="Open Sauce"/>
                          <a:ea typeface="Open Sauce"/>
                          <a:cs typeface="Open Sauce"/>
                        </a:rPr>
                        <a:t>no defense against side-channel or hardware tampering</a:t>
                      </a:r>
                    </a:p>
                    <a:p>
                      <a:pPr marL="342900" indent="-342900" algn="l">
                        <a:spcAft>
                          <a:spcPts val="600"/>
                        </a:spcAft>
                        <a:buFont typeface="Arial"/>
                        <a:buChar char="•"/>
                      </a:pPr>
                      <a:r>
                        <a:rPr lang="en-US" sz="2000" b="1" i="0" dirty="0">
                          <a:solidFill>
                            <a:srgbClr val="0057FF"/>
                          </a:solidFill>
                          <a:latin typeface="Open Sauce"/>
                          <a:ea typeface="Open Sauce"/>
                          <a:cs typeface="Open Sauce"/>
                        </a:rPr>
                        <a:t>Conceptual validation: </a:t>
                      </a:r>
                      <a:r>
                        <a:rPr lang="en-US" sz="2000" b="0" i="0" dirty="0">
                          <a:solidFill>
                            <a:srgbClr val="001C42"/>
                          </a:solidFill>
                          <a:latin typeface="Open Sauce"/>
                          <a:ea typeface="Open Sauce"/>
                          <a:cs typeface="Open Sauce"/>
                        </a:rPr>
                        <a:t>needs empirical benchmarking</a:t>
                      </a:r>
                    </a:p>
                  </a:txBody>
                  <a:tcPr marL="137160" marR="137160" marT="109728" marB="109728">
                    <a:lnL w="12700">
                      <a:solidFill>
                        <a:srgbClr val="9DB9F2"/>
                      </a:solidFill>
                    </a:lnL>
                    <a:lnR w="12700">
                      <a:solidFill>
                        <a:srgbClr val="9DB9F2"/>
                      </a:solidFill>
                    </a:lnR>
                    <a:lnT w="12700">
                      <a:solidFill>
                        <a:srgbClr val="9DB9F2"/>
                      </a:solidFill>
                    </a:lnT>
                    <a:lnB w="12700">
                      <a:solidFill>
                        <a:srgbClr val="9DB9F2"/>
                      </a:solidFill>
                    </a:lnB>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gs>
            <a:gs pos="100000">
              <a:schemeClr val="bg1">
                <a:lumMod val="75000"/>
              </a:scheme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rot="1352014" flipH="1">
            <a:off x="-4774282" y="2546422"/>
            <a:ext cx="12920274" cy="7728673"/>
          </a:xfrm>
          <a:custGeom>
            <a:avLst/>
            <a:gdLst/>
            <a:ahLst/>
            <a:cxnLst/>
            <a:rect l="l" t="t" r="r" b="b"/>
            <a:pathLst>
              <a:path w="12920274" h="7728673">
                <a:moveTo>
                  <a:pt x="12920274" y="0"/>
                </a:moveTo>
                <a:lnTo>
                  <a:pt x="0" y="0"/>
                </a:lnTo>
                <a:lnTo>
                  <a:pt x="0" y="7728673"/>
                </a:lnTo>
                <a:lnTo>
                  <a:pt x="12920274" y="7728673"/>
                </a:lnTo>
                <a:lnTo>
                  <a:pt x="12920274" y="0"/>
                </a:lnTo>
                <a:close/>
              </a:path>
            </a:pathLst>
          </a:custGeom>
          <a:blipFill>
            <a:blip>
              <a:extLst>
                <a:ext uri="{96DAC541-7B7A-43D3-8B79-37D633B846F1}">
                  <asvg:svgBlip xmlns:asvg="http://schemas.microsoft.com/office/drawing/2016/SVG/main" r:embed="rId2"/>
                </a:ext>
              </a:extLst>
            </a:blip>
            <a:stretch>
              <a:fillRect/>
            </a:stretch>
          </a:blipFill>
        </p:spPr>
      </p:sp>
      <p:sp>
        <p:nvSpPr>
          <p:cNvPr id="7" name="Freeform 7"/>
          <p:cNvSpPr/>
          <p:nvPr/>
        </p:nvSpPr>
        <p:spPr>
          <a:xfrm rot="-5952431">
            <a:off x="10724792" y="-6092583"/>
            <a:ext cx="11940692" cy="7373377"/>
          </a:xfrm>
          <a:custGeom>
            <a:avLst/>
            <a:gdLst/>
            <a:ahLst/>
            <a:cxnLst/>
            <a:rect l="l" t="t" r="r" b="b"/>
            <a:pathLst>
              <a:path w="11940692" h="7373377">
                <a:moveTo>
                  <a:pt x="0" y="0"/>
                </a:moveTo>
                <a:lnTo>
                  <a:pt x="11940692" y="0"/>
                </a:lnTo>
                <a:lnTo>
                  <a:pt x="11940692" y="7373377"/>
                </a:lnTo>
                <a:lnTo>
                  <a:pt x="0" y="7373377"/>
                </a:lnTo>
                <a:lnTo>
                  <a:pt x="0" y="0"/>
                </a:lnTo>
                <a:close/>
              </a:path>
            </a:pathLst>
          </a:custGeom>
          <a:blipFill>
            <a:blip r:embed="rId3"/>
            <a:stretch>
              <a:fillRect/>
            </a:stretch>
          </a:blipFill>
        </p:spPr>
      </p:sp>
      <p:sp>
        <p:nvSpPr>
          <p:cNvPr id="8" name="Freeform 8"/>
          <p:cNvSpPr/>
          <p:nvPr/>
        </p:nvSpPr>
        <p:spPr>
          <a:xfrm>
            <a:off x="16343296" y="177703"/>
            <a:ext cx="1832007" cy="850997"/>
          </a:xfrm>
          <a:custGeom>
            <a:avLst/>
            <a:gdLst/>
            <a:ahLst/>
            <a:cxnLst/>
            <a:rect l="l" t="t" r="r" b="b"/>
            <a:pathLst>
              <a:path w="1832007" h="850997">
                <a:moveTo>
                  <a:pt x="0" y="0"/>
                </a:moveTo>
                <a:lnTo>
                  <a:pt x="1832008" y="0"/>
                </a:lnTo>
                <a:lnTo>
                  <a:pt x="1832008" y="850997"/>
                </a:lnTo>
                <a:lnTo>
                  <a:pt x="0" y="850997"/>
                </a:lnTo>
                <a:lnTo>
                  <a:pt x="0" y="0"/>
                </a:lnTo>
                <a:close/>
              </a:path>
            </a:pathLst>
          </a:custGeom>
          <a:blipFill>
            <a:blip r:embed="rId4"/>
            <a:stretch>
              <a:fillRect/>
            </a:stretch>
          </a:blipFill>
        </p:spPr>
      </p:sp>
      <p:sp>
        <p:nvSpPr>
          <p:cNvPr id="203" name="Use case 203"/>
          <p:cNvSpPr/>
          <p:nvPr/>
        </p:nvSpPr>
        <p:spPr>
          <a:xfrm>
            <a:off x="1020256" y="1920240"/>
            <a:ext cx="5184648" cy="3383280"/>
          </a:xfrm>
          <a:prstGeom prst="roundRect">
            <a:avLst>
              <a:gd name="adj" fmla="val 8000"/>
            </a:avLst>
          </a:prstGeom>
          <a:gradFill>
            <a:gsLst>
              <a:gs pos="0">
                <a:srgbClr val="0057FF">
                  <a:alpha val="100000"/>
                </a:srgbClr>
              </a:gs>
              <a:gs pos="100000">
                <a:srgbClr val="001C42">
                  <a:alpha val="100000"/>
                </a:srgbClr>
              </a:gs>
            </a:gsLst>
            <a:lin ang="2700000" scaled="0"/>
          </a:gradFill>
          <a:ln w="19050">
            <a:solidFill>
              <a:srgbClr val="FFFFFF"/>
            </a:solidFill>
          </a:ln>
        </p:spPr>
        <p:txBody>
          <a:bodyPr wrap="square" lIns="320040" tIns="228600" rIns="320040" bIns="182880" rtlCol="0" anchor="t">
            <a:noAutofit/>
          </a:bodyPr>
          <a:lstStyle/>
          <a:p>
            <a:endParaRPr lang="en-US"/>
          </a:p>
        </p:txBody>
      </p:sp>
      <p:sp>
        <p:nvSpPr>
          <p:cNvPr id="204" name="Badge 204"/>
          <p:cNvSpPr/>
          <p:nvPr/>
        </p:nvSpPr>
        <p:spPr>
          <a:xfrm>
            <a:off x="1280160" y="2194560"/>
            <a:ext cx="731520" cy="731520"/>
          </a:xfrm>
          <a:prstGeom prst="ellipse">
            <a:avLst/>
          </a:prstGeom>
          <a:solidFill>
            <a:srgbClr val="FFFFFF"/>
          </a:solidFill>
          <a:ln>
            <a:noFill/>
          </a:ln>
        </p:spPr>
        <p:txBody>
          <a:bodyPr wrap="square" lIns="0" tIns="0" rIns="0" bIns="0" rtlCol="0" anchor="ctr">
            <a:noAutofit/>
          </a:bodyPr>
          <a:lstStyle/>
          <a:p>
            <a:pPr algn="ctr">
              <a:spcAft>
                <a:spcPts val="0"/>
              </a:spcAft>
              <a:buNone/>
            </a:pPr>
            <a:r>
              <a:rPr lang="en-US" sz="2400" b="1" i="0" dirty="0">
                <a:solidFill>
                  <a:srgbClr val="0057FF"/>
                </a:solidFill>
                <a:latin typeface="Open Sauce"/>
                <a:ea typeface="Open Sauce"/>
                <a:cs typeface="Open Sauce"/>
              </a:rPr>
              <a:t>1</a:t>
            </a:r>
          </a:p>
        </p:txBody>
      </p:sp>
      <p:sp>
        <p:nvSpPr>
          <p:cNvPr id="205" name="Text 205"/>
          <p:cNvSpPr txBox="1"/>
          <p:nvPr/>
        </p:nvSpPr>
        <p:spPr>
          <a:xfrm>
            <a:off x="2240280" y="2194560"/>
            <a:ext cx="3721608" cy="731520"/>
          </a:xfrm>
          <a:prstGeom prst="rect">
            <a:avLst/>
          </a:prstGeom>
          <a:noFill/>
          <a:ln>
            <a:noFill/>
          </a:ln>
        </p:spPr>
        <p:txBody>
          <a:bodyPr wrap="square" lIns="0" tIns="0" rIns="0" bIns="0" rtlCol="0" anchor="ctr">
            <a:noAutofit/>
          </a:bodyPr>
          <a:lstStyle/>
          <a:p>
            <a:pPr algn="l">
              <a:spcAft>
                <a:spcPts val="0"/>
              </a:spcAft>
              <a:buNone/>
            </a:pPr>
            <a:r>
              <a:rPr lang="en-US" sz="2500" b="1" i="0" dirty="0">
                <a:solidFill>
                  <a:srgbClr val="FFFFFF"/>
                </a:solidFill>
                <a:latin typeface="Open Sauce"/>
                <a:ea typeface="Open Sauce"/>
                <a:cs typeface="Open Sauce"/>
              </a:rPr>
              <a:t>Industrial IoT</a:t>
            </a:r>
          </a:p>
        </p:txBody>
      </p:sp>
      <p:sp>
        <p:nvSpPr>
          <p:cNvPr id="206" name="Text 206"/>
          <p:cNvSpPr txBox="1"/>
          <p:nvPr/>
        </p:nvSpPr>
        <p:spPr>
          <a:xfrm>
            <a:off x="1325880" y="3200400"/>
            <a:ext cx="4544568" cy="2011680"/>
          </a:xfrm>
          <a:prstGeom prst="rect">
            <a:avLst/>
          </a:prstGeom>
          <a:noFill/>
          <a:ln>
            <a:noFill/>
          </a:ln>
        </p:spPr>
        <p:txBody>
          <a:bodyPr wrap="square" lIns="0" tIns="0" rIns="0" bIns="0" rtlCol="0" anchor="t">
            <a:noAutofit/>
          </a:bodyPr>
          <a:lstStyle/>
          <a:p>
            <a:pPr algn="l">
              <a:spcAft>
                <a:spcPts val="0"/>
              </a:spcAft>
              <a:buNone/>
            </a:pPr>
            <a:r>
              <a:rPr lang="en-US" sz="2300" b="0" i="0" dirty="0">
                <a:solidFill>
                  <a:srgbClr val="FFFFFF"/>
                </a:solidFill>
                <a:latin typeface="Open Sauce"/>
                <a:ea typeface="Open Sauce"/>
                <a:cs typeface="Open Sauce"/>
              </a:rPr>
              <a:t>Detect malicious network activity between sensors, controllers, and industrial systems at the edge.</a:t>
            </a:r>
          </a:p>
        </p:txBody>
      </p:sp>
      <p:sp>
        <p:nvSpPr>
          <p:cNvPr id="207" name="Use case 207"/>
          <p:cNvSpPr/>
          <p:nvPr/>
        </p:nvSpPr>
        <p:spPr>
          <a:xfrm>
            <a:off x="6556248" y="1920240"/>
            <a:ext cx="5184648" cy="3383280"/>
          </a:xfrm>
          <a:prstGeom prst="roundRect">
            <a:avLst>
              <a:gd name="adj" fmla="val 8000"/>
            </a:avLst>
          </a:prstGeom>
          <a:gradFill>
            <a:gsLst>
              <a:gs pos="0">
                <a:srgbClr val="0057FF">
                  <a:alpha val="100000"/>
                </a:srgbClr>
              </a:gs>
              <a:gs pos="100000">
                <a:srgbClr val="001C42">
                  <a:alpha val="100000"/>
                </a:srgbClr>
              </a:gs>
            </a:gsLst>
            <a:lin ang="2700000" scaled="0"/>
          </a:gradFill>
          <a:ln w="19050">
            <a:solidFill>
              <a:srgbClr val="FFFFFF"/>
            </a:solidFill>
          </a:ln>
        </p:spPr>
        <p:txBody>
          <a:bodyPr wrap="square" lIns="320040" tIns="228600" rIns="320040" bIns="182880" rtlCol="0" anchor="t">
            <a:noAutofit/>
          </a:bodyPr>
          <a:lstStyle/>
          <a:p>
            <a:endParaRPr lang="en-US"/>
          </a:p>
        </p:txBody>
      </p:sp>
      <p:sp>
        <p:nvSpPr>
          <p:cNvPr id="208" name="Badge 208"/>
          <p:cNvSpPr/>
          <p:nvPr/>
        </p:nvSpPr>
        <p:spPr>
          <a:xfrm>
            <a:off x="6830568" y="2194560"/>
            <a:ext cx="731520" cy="731520"/>
          </a:xfrm>
          <a:prstGeom prst="ellipse">
            <a:avLst/>
          </a:prstGeom>
          <a:solidFill>
            <a:srgbClr val="FFFFFF"/>
          </a:solidFill>
          <a:ln>
            <a:noFill/>
          </a:ln>
        </p:spPr>
        <p:txBody>
          <a:bodyPr wrap="square" lIns="0" tIns="0" rIns="0" bIns="0" rtlCol="0" anchor="ctr">
            <a:noAutofit/>
          </a:bodyPr>
          <a:lstStyle/>
          <a:p>
            <a:pPr algn="ctr">
              <a:spcAft>
                <a:spcPts val="0"/>
              </a:spcAft>
              <a:buNone/>
            </a:pPr>
            <a:r>
              <a:rPr lang="en-US" sz="2400" b="1" i="0" dirty="0">
                <a:solidFill>
                  <a:srgbClr val="0057FF"/>
                </a:solidFill>
                <a:latin typeface="Open Sauce"/>
                <a:ea typeface="Open Sauce"/>
                <a:cs typeface="Open Sauce"/>
              </a:rPr>
              <a:t>2</a:t>
            </a:r>
          </a:p>
        </p:txBody>
      </p:sp>
      <p:sp>
        <p:nvSpPr>
          <p:cNvPr id="209" name="Text 209"/>
          <p:cNvSpPr txBox="1"/>
          <p:nvPr/>
        </p:nvSpPr>
        <p:spPr>
          <a:xfrm>
            <a:off x="7790688" y="2194560"/>
            <a:ext cx="3721608" cy="731520"/>
          </a:xfrm>
          <a:prstGeom prst="rect">
            <a:avLst/>
          </a:prstGeom>
          <a:noFill/>
          <a:ln>
            <a:noFill/>
          </a:ln>
        </p:spPr>
        <p:txBody>
          <a:bodyPr wrap="square" lIns="0" tIns="0" rIns="0" bIns="0" rtlCol="0" anchor="ctr">
            <a:noAutofit/>
          </a:bodyPr>
          <a:lstStyle/>
          <a:p>
            <a:pPr algn="l">
              <a:spcAft>
                <a:spcPts val="0"/>
              </a:spcAft>
              <a:buNone/>
            </a:pPr>
            <a:r>
              <a:rPr lang="en-US" sz="2500" b="1" i="0" dirty="0">
                <a:solidFill>
                  <a:srgbClr val="FFFFFF"/>
                </a:solidFill>
                <a:latin typeface="Open Sauce"/>
                <a:ea typeface="Open Sauce"/>
                <a:cs typeface="Open Sauce"/>
              </a:rPr>
              <a:t>Smart Manufacturing</a:t>
            </a:r>
          </a:p>
        </p:txBody>
      </p:sp>
      <p:sp>
        <p:nvSpPr>
          <p:cNvPr id="210" name="Text 210"/>
          <p:cNvSpPr txBox="1"/>
          <p:nvPr/>
        </p:nvSpPr>
        <p:spPr>
          <a:xfrm>
            <a:off x="6876288" y="3200400"/>
            <a:ext cx="4544568" cy="2011680"/>
          </a:xfrm>
          <a:prstGeom prst="rect">
            <a:avLst/>
          </a:prstGeom>
          <a:noFill/>
          <a:ln>
            <a:noFill/>
          </a:ln>
        </p:spPr>
        <p:txBody>
          <a:bodyPr wrap="square" lIns="0" tIns="0" rIns="0" bIns="0" rtlCol="0" anchor="t">
            <a:noAutofit/>
          </a:bodyPr>
          <a:lstStyle/>
          <a:p>
            <a:pPr algn="l">
              <a:spcAft>
                <a:spcPts val="0"/>
              </a:spcAft>
              <a:buNone/>
            </a:pPr>
            <a:r>
              <a:rPr lang="en-US" sz="2300" b="0" i="0" dirty="0">
                <a:solidFill>
                  <a:srgbClr val="FFFFFF"/>
                </a:solidFill>
                <a:latin typeface="Open Sauce"/>
                <a:ea typeface="Open Sauce"/>
                <a:cs typeface="Open Sauce"/>
              </a:rPr>
              <a:t>Provide real-time intrusion detection for connected machines and production systems.</a:t>
            </a:r>
          </a:p>
        </p:txBody>
      </p:sp>
      <p:sp>
        <p:nvSpPr>
          <p:cNvPr id="211" name="Use case 211"/>
          <p:cNvSpPr/>
          <p:nvPr/>
        </p:nvSpPr>
        <p:spPr>
          <a:xfrm>
            <a:off x="12106656" y="1920240"/>
            <a:ext cx="5175504" cy="3383280"/>
          </a:xfrm>
          <a:prstGeom prst="roundRect">
            <a:avLst>
              <a:gd name="adj" fmla="val 8000"/>
            </a:avLst>
          </a:prstGeom>
          <a:gradFill>
            <a:gsLst>
              <a:gs pos="0">
                <a:srgbClr val="0057FF">
                  <a:alpha val="100000"/>
                </a:srgbClr>
              </a:gs>
              <a:gs pos="100000">
                <a:srgbClr val="001C42">
                  <a:alpha val="100000"/>
                </a:srgbClr>
              </a:gs>
            </a:gsLst>
            <a:lin ang="2700000" scaled="0"/>
          </a:gradFill>
          <a:ln w="19050">
            <a:solidFill>
              <a:srgbClr val="FFFFFF"/>
            </a:solidFill>
          </a:ln>
        </p:spPr>
        <p:txBody>
          <a:bodyPr wrap="square" lIns="320040" tIns="228600" rIns="320040" bIns="182880" rtlCol="0" anchor="t">
            <a:noAutofit/>
          </a:bodyPr>
          <a:lstStyle/>
          <a:p>
            <a:endParaRPr lang="en-US"/>
          </a:p>
        </p:txBody>
      </p:sp>
      <p:sp>
        <p:nvSpPr>
          <p:cNvPr id="212" name="Badge 212"/>
          <p:cNvSpPr/>
          <p:nvPr/>
        </p:nvSpPr>
        <p:spPr>
          <a:xfrm>
            <a:off x="12380976" y="2194560"/>
            <a:ext cx="731520" cy="731520"/>
          </a:xfrm>
          <a:prstGeom prst="ellipse">
            <a:avLst/>
          </a:prstGeom>
          <a:solidFill>
            <a:srgbClr val="FFFFFF"/>
          </a:solidFill>
          <a:ln>
            <a:noFill/>
          </a:ln>
        </p:spPr>
        <p:txBody>
          <a:bodyPr wrap="square" lIns="0" tIns="0" rIns="0" bIns="0" rtlCol="0" anchor="ctr">
            <a:noAutofit/>
          </a:bodyPr>
          <a:lstStyle/>
          <a:p>
            <a:pPr algn="ctr">
              <a:spcAft>
                <a:spcPts val="0"/>
              </a:spcAft>
              <a:buNone/>
            </a:pPr>
            <a:r>
              <a:rPr lang="en-US" sz="2400" b="1" i="0" dirty="0">
                <a:solidFill>
                  <a:srgbClr val="0057FF"/>
                </a:solidFill>
                <a:latin typeface="Open Sauce"/>
                <a:ea typeface="Open Sauce"/>
                <a:cs typeface="Open Sauce"/>
              </a:rPr>
              <a:t>3</a:t>
            </a:r>
          </a:p>
        </p:txBody>
      </p:sp>
      <p:sp>
        <p:nvSpPr>
          <p:cNvPr id="213" name="Text 213"/>
          <p:cNvSpPr txBox="1"/>
          <p:nvPr/>
        </p:nvSpPr>
        <p:spPr>
          <a:xfrm>
            <a:off x="13341096" y="2194560"/>
            <a:ext cx="3712464" cy="731520"/>
          </a:xfrm>
          <a:prstGeom prst="rect">
            <a:avLst/>
          </a:prstGeom>
          <a:noFill/>
          <a:ln>
            <a:noFill/>
          </a:ln>
        </p:spPr>
        <p:txBody>
          <a:bodyPr wrap="square" lIns="0" tIns="0" rIns="0" bIns="0" rtlCol="0" anchor="ctr">
            <a:noAutofit/>
          </a:bodyPr>
          <a:lstStyle/>
          <a:p>
            <a:pPr algn="l">
              <a:spcAft>
                <a:spcPts val="0"/>
              </a:spcAft>
              <a:buNone/>
            </a:pPr>
            <a:r>
              <a:rPr lang="en-US" sz="2500" b="1" i="0" dirty="0">
                <a:solidFill>
                  <a:srgbClr val="FFFFFF"/>
                </a:solidFill>
                <a:latin typeface="Open Sauce"/>
                <a:ea typeface="Open Sauce"/>
                <a:cs typeface="Open Sauce"/>
              </a:rPr>
              <a:t>IoT Gateways</a:t>
            </a:r>
          </a:p>
        </p:txBody>
      </p:sp>
      <p:sp>
        <p:nvSpPr>
          <p:cNvPr id="214" name="Text 214"/>
          <p:cNvSpPr txBox="1"/>
          <p:nvPr/>
        </p:nvSpPr>
        <p:spPr>
          <a:xfrm>
            <a:off x="12426696" y="3200400"/>
            <a:ext cx="4535424" cy="2011680"/>
          </a:xfrm>
          <a:prstGeom prst="rect">
            <a:avLst/>
          </a:prstGeom>
          <a:noFill/>
          <a:ln>
            <a:noFill/>
          </a:ln>
        </p:spPr>
        <p:txBody>
          <a:bodyPr wrap="square" lIns="0" tIns="0" rIns="0" bIns="0" rtlCol="0" anchor="t">
            <a:noAutofit/>
          </a:bodyPr>
          <a:lstStyle/>
          <a:p>
            <a:pPr algn="l">
              <a:spcAft>
                <a:spcPts val="0"/>
              </a:spcAft>
              <a:buNone/>
            </a:pPr>
            <a:r>
              <a:rPr lang="en-US" sz="2300" b="0" i="0" dirty="0">
                <a:solidFill>
                  <a:srgbClr val="FFFFFF"/>
                </a:solidFill>
                <a:latin typeface="Open Sauce"/>
                <a:ea typeface="Open Sauce"/>
                <a:cs typeface="Open Sauce"/>
              </a:rPr>
              <a:t>Protect edge gateways that process traffic from multiple IoT devices without relying on cloud-based detection.</a:t>
            </a:r>
          </a:p>
        </p:txBody>
      </p:sp>
      <p:sp>
        <p:nvSpPr>
          <p:cNvPr id="215" name="Use case 215"/>
          <p:cNvSpPr/>
          <p:nvPr/>
        </p:nvSpPr>
        <p:spPr>
          <a:xfrm>
            <a:off x="1005840" y="5669280"/>
            <a:ext cx="7955280" cy="3383280"/>
          </a:xfrm>
          <a:prstGeom prst="roundRect">
            <a:avLst>
              <a:gd name="adj" fmla="val 8000"/>
            </a:avLst>
          </a:prstGeom>
          <a:gradFill>
            <a:gsLst>
              <a:gs pos="0">
                <a:srgbClr val="0057FF">
                  <a:alpha val="100000"/>
                </a:srgbClr>
              </a:gs>
              <a:gs pos="100000">
                <a:srgbClr val="001C42">
                  <a:alpha val="100000"/>
                </a:srgbClr>
              </a:gs>
            </a:gsLst>
            <a:lin ang="2700000" scaled="0"/>
          </a:gradFill>
          <a:ln w="19050">
            <a:solidFill>
              <a:srgbClr val="FFFFFF"/>
            </a:solidFill>
          </a:ln>
        </p:spPr>
        <p:txBody>
          <a:bodyPr wrap="square" lIns="320040" tIns="228600" rIns="320040" bIns="182880" rtlCol="0" anchor="t">
            <a:noAutofit/>
          </a:bodyPr>
          <a:lstStyle/>
          <a:p>
            <a:endParaRPr lang="en-US"/>
          </a:p>
        </p:txBody>
      </p:sp>
      <p:sp>
        <p:nvSpPr>
          <p:cNvPr id="216" name="Badge 216"/>
          <p:cNvSpPr/>
          <p:nvPr/>
        </p:nvSpPr>
        <p:spPr>
          <a:xfrm>
            <a:off x="1280160" y="5943600"/>
            <a:ext cx="731520" cy="731520"/>
          </a:xfrm>
          <a:prstGeom prst="ellipse">
            <a:avLst/>
          </a:prstGeom>
          <a:solidFill>
            <a:srgbClr val="FFFFFF"/>
          </a:solidFill>
          <a:ln>
            <a:noFill/>
          </a:ln>
        </p:spPr>
        <p:txBody>
          <a:bodyPr wrap="square" lIns="0" tIns="0" rIns="0" bIns="0" rtlCol="0" anchor="ctr">
            <a:noAutofit/>
          </a:bodyPr>
          <a:lstStyle/>
          <a:p>
            <a:pPr algn="ctr">
              <a:spcAft>
                <a:spcPts val="0"/>
              </a:spcAft>
              <a:buNone/>
            </a:pPr>
            <a:r>
              <a:rPr lang="en-US" sz="2400" b="1" i="0" dirty="0">
                <a:solidFill>
                  <a:srgbClr val="0057FF"/>
                </a:solidFill>
                <a:latin typeface="Open Sauce"/>
                <a:ea typeface="Open Sauce"/>
                <a:cs typeface="Open Sauce"/>
              </a:rPr>
              <a:t>4</a:t>
            </a:r>
          </a:p>
        </p:txBody>
      </p:sp>
      <p:sp>
        <p:nvSpPr>
          <p:cNvPr id="217" name="Text 217"/>
          <p:cNvSpPr txBox="1"/>
          <p:nvPr/>
        </p:nvSpPr>
        <p:spPr>
          <a:xfrm>
            <a:off x="2240280" y="5943600"/>
            <a:ext cx="6492240" cy="731520"/>
          </a:xfrm>
          <a:prstGeom prst="rect">
            <a:avLst/>
          </a:prstGeom>
          <a:noFill/>
          <a:ln>
            <a:noFill/>
          </a:ln>
        </p:spPr>
        <p:txBody>
          <a:bodyPr wrap="square" lIns="0" tIns="0" rIns="0" bIns="0" rtlCol="0" anchor="ctr">
            <a:noAutofit/>
          </a:bodyPr>
          <a:lstStyle/>
          <a:p>
            <a:pPr algn="l">
              <a:spcAft>
                <a:spcPts val="0"/>
              </a:spcAft>
              <a:buNone/>
            </a:pPr>
            <a:r>
              <a:rPr lang="en-US" sz="2500" b="1" i="0" dirty="0">
                <a:solidFill>
                  <a:srgbClr val="FFFFFF"/>
                </a:solidFill>
                <a:latin typeface="Open Sauce"/>
                <a:ea typeface="Open Sauce"/>
                <a:cs typeface="Open Sauce"/>
              </a:rPr>
              <a:t>Smart Infrastructure</a:t>
            </a:r>
          </a:p>
        </p:txBody>
      </p:sp>
      <p:sp>
        <p:nvSpPr>
          <p:cNvPr id="218" name="Text 218"/>
          <p:cNvSpPr txBox="1"/>
          <p:nvPr/>
        </p:nvSpPr>
        <p:spPr>
          <a:xfrm>
            <a:off x="1325880" y="6949440"/>
            <a:ext cx="7315200" cy="2011680"/>
          </a:xfrm>
          <a:prstGeom prst="rect">
            <a:avLst/>
          </a:prstGeom>
          <a:noFill/>
          <a:ln>
            <a:noFill/>
          </a:ln>
        </p:spPr>
        <p:txBody>
          <a:bodyPr wrap="square" lIns="0" tIns="0" rIns="0" bIns="0" rtlCol="0" anchor="t">
            <a:noAutofit/>
          </a:bodyPr>
          <a:lstStyle/>
          <a:p>
            <a:pPr algn="l">
              <a:spcAft>
                <a:spcPts val="0"/>
              </a:spcAft>
              <a:buNone/>
            </a:pPr>
            <a:r>
              <a:rPr lang="en-US" sz="2300" b="0" i="0" dirty="0">
                <a:solidFill>
                  <a:srgbClr val="FFFFFF"/>
                </a:solidFill>
                <a:latin typeface="Open Sauce"/>
                <a:ea typeface="Open Sauce"/>
                <a:cs typeface="Open Sauce"/>
              </a:rPr>
              <a:t>Monitor connected devices such as building-management and environmental-control systems.</a:t>
            </a:r>
          </a:p>
        </p:txBody>
      </p:sp>
      <p:sp>
        <p:nvSpPr>
          <p:cNvPr id="219" name="Use case 219"/>
          <p:cNvSpPr/>
          <p:nvPr/>
        </p:nvSpPr>
        <p:spPr>
          <a:xfrm>
            <a:off x="9326880" y="5669280"/>
            <a:ext cx="7955280" cy="3383280"/>
          </a:xfrm>
          <a:prstGeom prst="roundRect">
            <a:avLst>
              <a:gd name="adj" fmla="val 8000"/>
            </a:avLst>
          </a:prstGeom>
          <a:gradFill>
            <a:gsLst>
              <a:gs pos="0">
                <a:srgbClr val="0057FF">
                  <a:alpha val="100000"/>
                </a:srgbClr>
              </a:gs>
              <a:gs pos="87000">
                <a:srgbClr val="001C42">
                  <a:alpha val="100000"/>
                </a:srgbClr>
              </a:gs>
            </a:gsLst>
            <a:lin ang="2700000" scaled="0"/>
          </a:gradFill>
          <a:ln w="19050">
            <a:solidFill>
              <a:srgbClr val="FFFFFF"/>
            </a:solidFill>
          </a:ln>
        </p:spPr>
        <p:txBody>
          <a:bodyPr wrap="square" lIns="320040" tIns="228600" rIns="320040" bIns="182880" rtlCol="0" anchor="t">
            <a:noAutofit/>
          </a:bodyPr>
          <a:lstStyle/>
          <a:p>
            <a:endParaRPr lang="en-US"/>
          </a:p>
        </p:txBody>
      </p:sp>
      <p:sp>
        <p:nvSpPr>
          <p:cNvPr id="220" name="Badge 220"/>
          <p:cNvSpPr/>
          <p:nvPr/>
        </p:nvSpPr>
        <p:spPr>
          <a:xfrm>
            <a:off x="9601200" y="5943600"/>
            <a:ext cx="731520" cy="731520"/>
          </a:xfrm>
          <a:prstGeom prst="ellipse">
            <a:avLst/>
          </a:prstGeom>
          <a:solidFill>
            <a:srgbClr val="FFFFFF"/>
          </a:solidFill>
          <a:ln>
            <a:noFill/>
          </a:ln>
        </p:spPr>
        <p:txBody>
          <a:bodyPr wrap="square" lIns="0" tIns="0" rIns="0" bIns="0" rtlCol="0" anchor="ctr">
            <a:noAutofit/>
          </a:bodyPr>
          <a:lstStyle/>
          <a:p>
            <a:pPr algn="ctr">
              <a:spcAft>
                <a:spcPts val="0"/>
              </a:spcAft>
              <a:buNone/>
            </a:pPr>
            <a:r>
              <a:rPr lang="en-US" sz="2400" b="1" i="0" dirty="0">
                <a:solidFill>
                  <a:srgbClr val="0057FF"/>
                </a:solidFill>
                <a:latin typeface="Open Sauce"/>
                <a:ea typeface="Open Sauce"/>
                <a:cs typeface="Open Sauce"/>
              </a:rPr>
              <a:t>5</a:t>
            </a:r>
          </a:p>
        </p:txBody>
      </p:sp>
      <p:sp>
        <p:nvSpPr>
          <p:cNvPr id="221" name="Text 221"/>
          <p:cNvSpPr txBox="1"/>
          <p:nvPr/>
        </p:nvSpPr>
        <p:spPr>
          <a:xfrm>
            <a:off x="10561320" y="5943600"/>
            <a:ext cx="6492240" cy="731520"/>
          </a:xfrm>
          <a:prstGeom prst="rect">
            <a:avLst/>
          </a:prstGeom>
          <a:noFill/>
          <a:ln>
            <a:noFill/>
          </a:ln>
        </p:spPr>
        <p:txBody>
          <a:bodyPr wrap="square" lIns="0" tIns="0" rIns="0" bIns="0" rtlCol="0" anchor="ctr">
            <a:noAutofit/>
          </a:bodyPr>
          <a:lstStyle/>
          <a:p>
            <a:pPr algn="l">
              <a:spcAft>
                <a:spcPts val="0"/>
              </a:spcAft>
              <a:buNone/>
            </a:pPr>
            <a:r>
              <a:rPr lang="en-US" sz="2500" b="1" i="0" dirty="0">
                <a:solidFill>
                  <a:srgbClr val="FFFFFF"/>
                </a:solidFill>
                <a:latin typeface="Open Sauce"/>
                <a:ea typeface="Open Sauce"/>
                <a:cs typeface="Open Sauce"/>
              </a:rPr>
              <a:t>Resource-Constrained Devices</a:t>
            </a:r>
          </a:p>
        </p:txBody>
      </p:sp>
      <p:sp>
        <p:nvSpPr>
          <p:cNvPr id="222" name="Text 222"/>
          <p:cNvSpPr txBox="1"/>
          <p:nvPr/>
        </p:nvSpPr>
        <p:spPr>
          <a:xfrm>
            <a:off x="9646920" y="6949440"/>
            <a:ext cx="7315200" cy="2011680"/>
          </a:xfrm>
          <a:prstGeom prst="rect">
            <a:avLst/>
          </a:prstGeom>
          <a:noFill/>
          <a:ln>
            <a:noFill/>
          </a:ln>
        </p:spPr>
        <p:txBody>
          <a:bodyPr wrap="square" lIns="0" tIns="0" rIns="0" bIns="0" rtlCol="0" anchor="t">
            <a:noAutofit/>
          </a:bodyPr>
          <a:lstStyle/>
          <a:p>
            <a:pPr algn="l">
              <a:spcAft>
                <a:spcPts val="0"/>
              </a:spcAft>
              <a:buNone/>
            </a:pPr>
            <a:r>
              <a:rPr lang="en-US" sz="2300" b="0" i="0" dirty="0">
                <a:solidFill>
                  <a:srgbClr val="FFFFFF"/>
                </a:solidFill>
                <a:latin typeface="Open Sauce"/>
                <a:ea typeface="Open Sauce"/>
                <a:cs typeface="Open Sauce"/>
              </a:rPr>
              <a:t>Enable ML-based IDS deployment on devices with limited CPU, RAM, storage, and processing capacity.</a:t>
            </a:r>
          </a:p>
        </p:txBody>
      </p:sp>
      <p:sp>
        <p:nvSpPr>
          <p:cNvPr id="9" name="Title 194">
            <a:extLst>
              <a:ext uri="{FF2B5EF4-FFF2-40B4-BE49-F238E27FC236}">
                <a16:creationId xmlns:a16="http://schemas.microsoft.com/office/drawing/2014/main" id="{18907A02-6045-270B-C2AD-E705A50FA5A7}"/>
              </a:ext>
            </a:extLst>
          </p:cNvPr>
          <p:cNvSpPr txBox="1"/>
          <p:nvPr/>
        </p:nvSpPr>
        <p:spPr>
          <a:xfrm>
            <a:off x="1005840" y="365760"/>
            <a:ext cx="14538960" cy="1280160"/>
          </a:xfrm>
          <a:prstGeom prst="rect">
            <a:avLst/>
          </a:prstGeom>
          <a:noFill/>
          <a:ln>
            <a:noFill/>
          </a:ln>
        </p:spPr>
        <p:txBody>
          <a:bodyPr wrap="square" lIns="0" tIns="0" rIns="0" bIns="0" rtlCol="0" anchor="ctr">
            <a:noAutofit/>
          </a:bodyPr>
          <a:lstStyle/>
          <a:p>
            <a:pPr algn="l">
              <a:spcAft>
                <a:spcPts val="0"/>
              </a:spcAft>
              <a:buNone/>
            </a:pPr>
            <a:r>
              <a:rPr lang="en-US" sz="5600" b="0" i="0" dirty="0">
                <a:gradFill>
                  <a:gsLst>
                    <a:gs pos="0">
                      <a:srgbClr val="0057FF"/>
                    </a:gs>
                    <a:gs pos="100000">
                      <a:srgbClr val="001C42"/>
                    </a:gs>
                  </a:gsLst>
                  <a:lin ang="2700000"/>
                </a:gradFill>
                <a:latin typeface="Intro"/>
                <a:ea typeface="Intro"/>
                <a:cs typeface="Intro"/>
              </a:rPr>
              <a:t>APPLICATION USE CASE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BBBBBB">
                <a:alpha val="100000"/>
              </a:srgbClr>
            </a:gs>
          </a:gsLst>
          <a:lin ang="2700000"/>
        </a:gradFill>
        <a:effectLst/>
      </p:bgPr>
    </p:bg>
    <p:spTree>
      <p:nvGrpSpPr>
        <p:cNvPr id="1" name=""/>
        <p:cNvGrpSpPr/>
        <p:nvPr/>
      </p:nvGrpSpPr>
      <p:grpSpPr>
        <a:xfrm>
          <a:off x="0" y="0"/>
          <a:ext cx="0" cy="0"/>
          <a:chOff x="0" y="0"/>
          <a:chExt cx="0" cy="0"/>
        </a:xfrm>
      </p:grpSpPr>
      <p:sp>
        <p:nvSpPr>
          <p:cNvPr id="17" name="Freeform 17"/>
          <p:cNvSpPr/>
          <p:nvPr/>
        </p:nvSpPr>
        <p:spPr>
          <a:xfrm>
            <a:off x="-9554138" y="2164352"/>
            <a:ext cx="19108277" cy="14187896"/>
          </a:xfrm>
          <a:custGeom>
            <a:avLst/>
            <a:gdLst/>
            <a:ahLst/>
            <a:cxnLst/>
            <a:rect l="l" t="t" r="r" b="b"/>
            <a:pathLst>
              <a:path w="19108277" h="14187896">
                <a:moveTo>
                  <a:pt x="0" y="0"/>
                </a:moveTo>
                <a:lnTo>
                  <a:pt x="19108276" y="0"/>
                </a:lnTo>
                <a:lnTo>
                  <a:pt x="19108276" y="14187896"/>
                </a:lnTo>
                <a:lnTo>
                  <a:pt x="0" y="14187896"/>
                </a:lnTo>
                <a:lnTo>
                  <a:pt x="0" y="0"/>
                </a:lnTo>
                <a:close/>
              </a:path>
            </a:pathLst>
          </a:custGeom>
          <a:blipFill>
            <a:blip r:embed="rId2"/>
            <a:stretch>
              <a:fillRect/>
            </a:stretch>
          </a:blipFill>
        </p:spPr>
      </p:sp>
      <p:sp>
        <p:nvSpPr>
          <p:cNvPr id="26" name="Freeform 26"/>
          <p:cNvSpPr/>
          <p:nvPr/>
        </p:nvSpPr>
        <p:spPr>
          <a:xfrm>
            <a:off x="16343296" y="177703"/>
            <a:ext cx="1832007" cy="850997"/>
          </a:xfrm>
          <a:custGeom>
            <a:avLst/>
            <a:gdLst/>
            <a:ahLst/>
            <a:cxnLst/>
            <a:rect l="l" t="t" r="r" b="b"/>
            <a:pathLst>
              <a:path w="1832007" h="850997">
                <a:moveTo>
                  <a:pt x="0" y="0"/>
                </a:moveTo>
                <a:lnTo>
                  <a:pt x="1832008" y="0"/>
                </a:lnTo>
                <a:lnTo>
                  <a:pt x="1832008" y="850997"/>
                </a:lnTo>
                <a:lnTo>
                  <a:pt x="0" y="850997"/>
                </a:lnTo>
                <a:lnTo>
                  <a:pt x="0" y="0"/>
                </a:lnTo>
                <a:close/>
              </a:path>
            </a:pathLst>
          </a:custGeom>
          <a:blipFill>
            <a:blip r:embed="rId3"/>
            <a:stretch>
              <a:fillRect/>
            </a:stretch>
          </a:blipFill>
        </p:spPr>
      </p:sp>
      <p:sp>
        <p:nvSpPr>
          <p:cNvPr id="223" name="Title 223"/>
          <p:cNvSpPr txBox="1"/>
          <p:nvPr/>
        </p:nvSpPr>
        <p:spPr>
          <a:xfrm>
            <a:off x="1005840" y="365760"/>
            <a:ext cx="14538960" cy="1280160"/>
          </a:xfrm>
          <a:prstGeom prst="rect">
            <a:avLst/>
          </a:prstGeom>
          <a:noFill/>
          <a:ln>
            <a:noFill/>
          </a:ln>
        </p:spPr>
        <p:txBody>
          <a:bodyPr wrap="square" lIns="0" tIns="0" rIns="0" bIns="0" rtlCol="0" anchor="ctr">
            <a:noAutofit/>
          </a:bodyPr>
          <a:lstStyle/>
          <a:p>
            <a:pPr algn="l">
              <a:spcAft>
                <a:spcPts val="0"/>
              </a:spcAft>
              <a:buNone/>
            </a:pPr>
            <a:r>
              <a:rPr lang="en-US" sz="5600" b="0" i="0" dirty="0">
                <a:gradFill>
                  <a:gsLst>
                    <a:gs pos="0">
                      <a:srgbClr val="0057FF"/>
                    </a:gs>
                    <a:gs pos="100000">
                      <a:srgbClr val="001C42"/>
                    </a:gs>
                  </a:gsLst>
                  <a:lin ang="2700000"/>
                </a:gradFill>
                <a:latin typeface="Intro"/>
                <a:ea typeface="Intro"/>
                <a:cs typeface="Intro"/>
              </a:rPr>
              <a:t>Expected Deliverables: Capstone I</a:t>
            </a:r>
          </a:p>
        </p:txBody>
      </p:sp>
      <p:sp>
        <p:nvSpPr>
          <p:cNvPr id="224" name="Deliverable 224"/>
          <p:cNvSpPr/>
          <p:nvPr/>
        </p:nvSpPr>
        <p:spPr>
          <a:xfrm>
            <a:off x="1005840" y="1920240"/>
            <a:ext cx="9875520" cy="1097280"/>
          </a:xfrm>
          <a:prstGeom prst="roundRect">
            <a:avLst>
              <a:gd name="adj" fmla="val 22000"/>
            </a:avLst>
          </a:prstGeom>
          <a:solidFill>
            <a:srgbClr val="FFFFFF">
              <a:alpha val="74000"/>
            </a:srgbClr>
          </a:solidFill>
          <a:ln w="19050">
            <a:gradFill>
              <a:gsLst>
                <a:gs pos="0">
                  <a:srgbClr val="0057FF"/>
                </a:gs>
                <a:gs pos="100000">
                  <a:srgbClr val="001C42"/>
                </a:gs>
              </a:gsLst>
              <a:lin ang="2700000"/>
            </a:gradFill>
          </a:ln>
        </p:spPr>
        <p:txBody>
          <a:bodyPr wrap="square" lIns="320040" tIns="228600" rIns="320040" bIns="182880" rtlCol="0" anchor="t">
            <a:noAutofit/>
          </a:bodyPr>
          <a:lstStyle/>
          <a:p>
            <a:endParaRPr lang="en-US"/>
          </a:p>
        </p:txBody>
      </p:sp>
      <p:sp>
        <p:nvSpPr>
          <p:cNvPr id="225" name="Badge 225"/>
          <p:cNvSpPr/>
          <p:nvPr/>
        </p:nvSpPr>
        <p:spPr>
          <a:xfrm>
            <a:off x="1280160" y="2103120"/>
            <a:ext cx="731520" cy="731520"/>
          </a:xfrm>
          <a:prstGeom prst="ellipse">
            <a:avLst/>
          </a:prstGeom>
          <a:solidFill>
            <a:srgbClr val="0057FF"/>
          </a:solidFill>
          <a:ln>
            <a:noFill/>
          </a:ln>
        </p:spPr>
        <p:txBody>
          <a:bodyPr wrap="square" lIns="0" tIns="0" rIns="0" bIns="0" rtlCol="0" anchor="ctr">
            <a:noAutofit/>
          </a:bodyPr>
          <a:lstStyle/>
          <a:p>
            <a:pPr algn="ctr">
              <a:spcAft>
                <a:spcPts val="0"/>
              </a:spcAft>
              <a:buNone/>
            </a:pPr>
            <a:r>
              <a:rPr lang="en-US" sz="2200" b="1" i="0" dirty="0">
                <a:solidFill>
                  <a:srgbClr val="FFFFFF"/>
                </a:solidFill>
                <a:latin typeface="Open Sauce"/>
                <a:ea typeface="Open Sauce"/>
                <a:cs typeface="Open Sauce"/>
              </a:rPr>
              <a:t>1</a:t>
            </a:r>
          </a:p>
        </p:txBody>
      </p:sp>
      <p:sp>
        <p:nvSpPr>
          <p:cNvPr id="226" name="Text 226"/>
          <p:cNvSpPr txBox="1"/>
          <p:nvPr/>
        </p:nvSpPr>
        <p:spPr>
          <a:xfrm>
            <a:off x="2377440" y="1993392"/>
            <a:ext cx="8229600" cy="950976"/>
          </a:xfrm>
          <a:prstGeom prst="rect">
            <a:avLst/>
          </a:prstGeom>
          <a:noFill/>
          <a:ln>
            <a:noFill/>
          </a:ln>
        </p:spPr>
        <p:txBody>
          <a:bodyPr wrap="square" lIns="0" tIns="0" rIns="0" bIns="0" rtlCol="0" anchor="ctr">
            <a:noAutofit/>
          </a:bodyPr>
          <a:lstStyle/>
          <a:p>
            <a:pPr algn="l">
              <a:spcAft>
                <a:spcPts val="0"/>
              </a:spcAft>
              <a:buNone/>
            </a:pPr>
            <a:r>
              <a:rPr lang="en-US" sz="2200" b="0" i="0" dirty="0">
                <a:solidFill>
                  <a:srgbClr val="001C42"/>
                </a:solidFill>
                <a:latin typeface="Open Sauce"/>
                <a:ea typeface="Open Sauce"/>
                <a:cs typeface="Open Sauce"/>
              </a:rPr>
              <a:t>Background Study</a:t>
            </a:r>
          </a:p>
        </p:txBody>
      </p:sp>
      <p:sp>
        <p:nvSpPr>
          <p:cNvPr id="227" name="Deliverable 227"/>
          <p:cNvSpPr/>
          <p:nvPr/>
        </p:nvSpPr>
        <p:spPr>
          <a:xfrm>
            <a:off x="1005840" y="3246120"/>
            <a:ext cx="9875520" cy="1097280"/>
          </a:xfrm>
          <a:prstGeom prst="roundRect">
            <a:avLst>
              <a:gd name="adj" fmla="val 22000"/>
            </a:avLst>
          </a:prstGeom>
          <a:solidFill>
            <a:srgbClr val="FFFFFF">
              <a:alpha val="74000"/>
            </a:srgbClr>
          </a:solidFill>
          <a:ln w="19050">
            <a:gradFill>
              <a:gsLst>
                <a:gs pos="0">
                  <a:srgbClr val="0057FF"/>
                </a:gs>
                <a:gs pos="100000">
                  <a:srgbClr val="001C42"/>
                </a:gs>
              </a:gsLst>
              <a:lin ang="2700000"/>
            </a:gradFill>
          </a:ln>
        </p:spPr>
        <p:txBody>
          <a:bodyPr wrap="square" lIns="320040" tIns="228600" rIns="320040" bIns="182880" rtlCol="0" anchor="t">
            <a:noAutofit/>
          </a:bodyPr>
          <a:lstStyle/>
          <a:p>
            <a:endParaRPr lang="en-US"/>
          </a:p>
        </p:txBody>
      </p:sp>
      <p:sp>
        <p:nvSpPr>
          <p:cNvPr id="228" name="Badge 228"/>
          <p:cNvSpPr/>
          <p:nvPr/>
        </p:nvSpPr>
        <p:spPr>
          <a:xfrm>
            <a:off x="1280160" y="3429000"/>
            <a:ext cx="731520" cy="731520"/>
          </a:xfrm>
          <a:prstGeom prst="ellipse">
            <a:avLst/>
          </a:prstGeom>
          <a:solidFill>
            <a:srgbClr val="0057FF"/>
          </a:solidFill>
          <a:ln>
            <a:noFill/>
          </a:ln>
        </p:spPr>
        <p:txBody>
          <a:bodyPr wrap="square" lIns="0" tIns="0" rIns="0" bIns="0" rtlCol="0" anchor="ctr">
            <a:noAutofit/>
          </a:bodyPr>
          <a:lstStyle/>
          <a:p>
            <a:pPr algn="ctr">
              <a:spcAft>
                <a:spcPts val="0"/>
              </a:spcAft>
              <a:buNone/>
            </a:pPr>
            <a:r>
              <a:rPr lang="en-US" sz="2200" b="1" i="0" dirty="0">
                <a:solidFill>
                  <a:srgbClr val="FFFFFF"/>
                </a:solidFill>
                <a:latin typeface="Open Sauce"/>
                <a:ea typeface="Open Sauce"/>
                <a:cs typeface="Open Sauce"/>
              </a:rPr>
              <a:t>2</a:t>
            </a:r>
          </a:p>
        </p:txBody>
      </p:sp>
      <p:sp>
        <p:nvSpPr>
          <p:cNvPr id="229" name="Text 229"/>
          <p:cNvSpPr txBox="1"/>
          <p:nvPr/>
        </p:nvSpPr>
        <p:spPr>
          <a:xfrm>
            <a:off x="2377440" y="3319272"/>
            <a:ext cx="8229600" cy="950976"/>
          </a:xfrm>
          <a:prstGeom prst="rect">
            <a:avLst/>
          </a:prstGeom>
          <a:noFill/>
          <a:ln>
            <a:noFill/>
          </a:ln>
        </p:spPr>
        <p:txBody>
          <a:bodyPr wrap="square" lIns="0" tIns="0" rIns="0" bIns="0" rtlCol="0" anchor="ctr">
            <a:noAutofit/>
          </a:bodyPr>
          <a:lstStyle/>
          <a:p>
            <a:pPr algn="l">
              <a:spcAft>
                <a:spcPts val="0"/>
              </a:spcAft>
              <a:buNone/>
            </a:pPr>
            <a:r>
              <a:rPr lang="en-US" sz="2200" b="0" i="0" dirty="0">
                <a:solidFill>
                  <a:srgbClr val="001C42"/>
                </a:solidFill>
                <a:latin typeface="Open Sauce"/>
                <a:ea typeface="Open Sauce"/>
                <a:cs typeface="Open Sauce"/>
              </a:rPr>
              <a:t>Identification of Problem Statement</a:t>
            </a:r>
          </a:p>
        </p:txBody>
      </p:sp>
      <p:sp>
        <p:nvSpPr>
          <p:cNvPr id="230" name="Deliverable 230"/>
          <p:cNvSpPr/>
          <p:nvPr/>
        </p:nvSpPr>
        <p:spPr>
          <a:xfrm>
            <a:off x="1005840" y="4572000"/>
            <a:ext cx="9875520" cy="1097280"/>
          </a:xfrm>
          <a:prstGeom prst="roundRect">
            <a:avLst>
              <a:gd name="adj" fmla="val 22000"/>
            </a:avLst>
          </a:prstGeom>
          <a:solidFill>
            <a:srgbClr val="FFFFFF">
              <a:alpha val="74000"/>
            </a:srgbClr>
          </a:solidFill>
          <a:ln w="19050">
            <a:gradFill>
              <a:gsLst>
                <a:gs pos="0">
                  <a:srgbClr val="0057FF"/>
                </a:gs>
                <a:gs pos="100000">
                  <a:srgbClr val="001C42"/>
                </a:gs>
              </a:gsLst>
              <a:lin ang="2700000"/>
            </a:gradFill>
          </a:ln>
        </p:spPr>
        <p:txBody>
          <a:bodyPr wrap="square" lIns="320040" tIns="228600" rIns="320040" bIns="182880" rtlCol="0" anchor="t">
            <a:noAutofit/>
          </a:bodyPr>
          <a:lstStyle/>
          <a:p>
            <a:endParaRPr lang="en-US"/>
          </a:p>
        </p:txBody>
      </p:sp>
      <p:sp>
        <p:nvSpPr>
          <p:cNvPr id="231" name="Badge 231"/>
          <p:cNvSpPr/>
          <p:nvPr/>
        </p:nvSpPr>
        <p:spPr>
          <a:xfrm>
            <a:off x="1280160" y="4754880"/>
            <a:ext cx="731520" cy="731520"/>
          </a:xfrm>
          <a:prstGeom prst="ellipse">
            <a:avLst/>
          </a:prstGeom>
          <a:solidFill>
            <a:srgbClr val="0057FF"/>
          </a:solidFill>
          <a:ln>
            <a:noFill/>
          </a:ln>
        </p:spPr>
        <p:txBody>
          <a:bodyPr wrap="square" lIns="0" tIns="0" rIns="0" bIns="0" rtlCol="0" anchor="ctr">
            <a:noAutofit/>
          </a:bodyPr>
          <a:lstStyle/>
          <a:p>
            <a:pPr algn="ctr">
              <a:spcAft>
                <a:spcPts val="0"/>
              </a:spcAft>
              <a:buNone/>
            </a:pPr>
            <a:r>
              <a:rPr lang="en-US" sz="2200" b="1" i="0" dirty="0">
                <a:solidFill>
                  <a:srgbClr val="FFFFFF"/>
                </a:solidFill>
                <a:latin typeface="Open Sauce"/>
                <a:ea typeface="Open Sauce"/>
                <a:cs typeface="Open Sauce"/>
              </a:rPr>
              <a:t>3</a:t>
            </a:r>
          </a:p>
        </p:txBody>
      </p:sp>
      <p:sp>
        <p:nvSpPr>
          <p:cNvPr id="232" name="Text 232"/>
          <p:cNvSpPr txBox="1"/>
          <p:nvPr/>
        </p:nvSpPr>
        <p:spPr>
          <a:xfrm>
            <a:off x="2377440" y="4645152"/>
            <a:ext cx="8229600" cy="950976"/>
          </a:xfrm>
          <a:prstGeom prst="rect">
            <a:avLst/>
          </a:prstGeom>
          <a:noFill/>
          <a:ln>
            <a:noFill/>
          </a:ln>
        </p:spPr>
        <p:txBody>
          <a:bodyPr wrap="square" lIns="0" tIns="0" rIns="0" bIns="0" rtlCol="0" anchor="ctr">
            <a:noAutofit/>
          </a:bodyPr>
          <a:lstStyle/>
          <a:p>
            <a:pPr algn="l">
              <a:spcAft>
                <a:spcPts val="0"/>
              </a:spcAft>
              <a:buNone/>
            </a:pPr>
            <a:r>
              <a:rPr lang="en-US" sz="2200" b="0" i="0" dirty="0">
                <a:solidFill>
                  <a:srgbClr val="001C42"/>
                </a:solidFill>
                <a:latin typeface="Open Sauce"/>
                <a:ea typeface="Open Sauce"/>
                <a:cs typeface="Open Sauce"/>
              </a:rPr>
              <a:t>Requirements Elicitation</a:t>
            </a:r>
          </a:p>
        </p:txBody>
      </p:sp>
      <p:sp>
        <p:nvSpPr>
          <p:cNvPr id="233" name="Deliverable 233"/>
          <p:cNvSpPr/>
          <p:nvPr/>
        </p:nvSpPr>
        <p:spPr>
          <a:xfrm>
            <a:off x="1005840" y="5897880"/>
            <a:ext cx="9875520" cy="1097280"/>
          </a:xfrm>
          <a:prstGeom prst="roundRect">
            <a:avLst>
              <a:gd name="adj" fmla="val 22000"/>
            </a:avLst>
          </a:prstGeom>
          <a:solidFill>
            <a:srgbClr val="FFFFFF">
              <a:alpha val="74000"/>
            </a:srgbClr>
          </a:solidFill>
          <a:ln w="19050">
            <a:gradFill>
              <a:gsLst>
                <a:gs pos="0">
                  <a:srgbClr val="0057FF"/>
                </a:gs>
                <a:gs pos="100000">
                  <a:srgbClr val="001C42"/>
                </a:gs>
              </a:gsLst>
              <a:lin ang="2700000"/>
            </a:gradFill>
          </a:ln>
        </p:spPr>
        <p:txBody>
          <a:bodyPr wrap="square" lIns="320040" tIns="228600" rIns="320040" bIns="182880" rtlCol="0" anchor="t">
            <a:noAutofit/>
          </a:bodyPr>
          <a:lstStyle/>
          <a:p>
            <a:endParaRPr lang="en-US"/>
          </a:p>
        </p:txBody>
      </p:sp>
      <p:sp>
        <p:nvSpPr>
          <p:cNvPr id="234" name="Badge 234"/>
          <p:cNvSpPr/>
          <p:nvPr/>
        </p:nvSpPr>
        <p:spPr>
          <a:xfrm>
            <a:off x="1280160" y="6080760"/>
            <a:ext cx="731520" cy="731520"/>
          </a:xfrm>
          <a:prstGeom prst="ellipse">
            <a:avLst/>
          </a:prstGeom>
          <a:solidFill>
            <a:srgbClr val="0057FF"/>
          </a:solidFill>
          <a:ln>
            <a:noFill/>
          </a:ln>
        </p:spPr>
        <p:txBody>
          <a:bodyPr wrap="square" lIns="0" tIns="0" rIns="0" bIns="0" rtlCol="0" anchor="ctr">
            <a:noAutofit/>
          </a:bodyPr>
          <a:lstStyle/>
          <a:p>
            <a:pPr algn="ctr">
              <a:spcAft>
                <a:spcPts val="0"/>
              </a:spcAft>
              <a:buNone/>
            </a:pPr>
            <a:r>
              <a:rPr lang="en-US" sz="2200" b="1" i="0" dirty="0">
                <a:solidFill>
                  <a:srgbClr val="FFFFFF"/>
                </a:solidFill>
                <a:latin typeface="Open Sauce"/>
                <a:ea typeface="Open Sauce"/>
                <a:cs typeface="Open Sauce"/>
              </a:rPr>
              <a:t>4</a:t>
            </a:r>
          </a:p>
        </p:txBody>
      </p:sp>
      <p:sp>
        <p:nvSpPr>
          <p:cNvPr id="235" name="Text 235"/>
          <p:cNvSpPr txBox="1"/>
          <p:nvPr/>
        </p:nvSpPr>
        <p:spPr>
          <a:xfrm>
            <a:off x="2377440" y="5971032"/>
            <a:ext cx="8229600" cy="950976"/>
          </a:xfrm>
          <a:prstGeom prst="rect">
            <a:avLst/>
          </a:prstGeom>
          <a:noFill/>
          <a:ln>
            <a:noFill/>
          </a:ln>
        </p:spPr>
        <p:txBody>
          <a:bodyPr wrap="square" lIns="0" tIns="0" rIns="0" bIns="0" rtlCol="0" anchor="ctr">
            <a:noAutofit/>
          </a:bodyPr>
          <a:lstStyle/>
          <a:p>
            <a:pPr algn="l">
              <a:spcAft>
                <a:spcPts val="0"/>
              </a:spcAft>
              <a:buNone/>
            </a:pPr>
            <a:r>
              <a:rPr lang="en-US" sz="2200" b="0" i="0" dirty="0">
                <a:solidFill>
                  <a:srgbClr val="001C42"/>
                </a:solidFill>
                <a:latin typeface="Open Sauce"/>
                <a:ea typeface="Open Sauce"/>
                <a:cs typeface="Open Sauce"/>
              </a:rPr>
              <a:t>Feasibility Study</a:t>
            </a:r>
          </a:p>
        </p:txBody>
      </p:sp>
      <p:sp>
        <p:nvSpPr>
          <p:cNvPr id="236" name="Deliverable 236"/>
          <p:cNvSpPr/>
          <p:nvPr/>
        </p:nvSpPr>
        <p:spPr>
          <a:xfrm>
            <a:off x="1005840" y="7223760"/>
            <a:ext cx="9875520" cy="1097280"/>
          </a:xfrm>
          <a:prstGeom prst="roundRect">
            <a:avLst>
              <a:gd name="adj" fmla="val 22000"/>
            </a:avLst>
          </a:prstGeom>
          <a:solidFill>
            <a:srgbClr val="FFFFFF">
              <a:alpha val="74000"/>
            </a:srgbClr>
          </a:solidFill>
          <a:ln w="19050">
            <a:gradFill>
              <a:gsLst>
                <a:gs pos="0">
                  <a:srgbClr val="0057FF"/>
                </a:gs>
                <a:gs pos="100000">
                  <a:srgbClr val="001C42"/>
                </a:gs>
              </a:gsLst>
              <a:lin ang="2700000"/>
            </a:gradFill>
          </a:ln>
        </p:spPr>
        <p:txBody>
          <a:bodyPr wrap="square" lIns="320040" tIns="228600" rIns="320040" bIns="182880" rtlCol="0" anchor="t">
            <a:noAutofit/>
          </a:bodyPr>
          <a:lstStyle/>
          <a:p>
            <a:endParaRPr lang="en-US"/>
          </a:p>
        </p:txBody>
      </p:sp>
      <p:sp>
        <p:nvSpPr>
          <p:cNvPr id="237" name="Badge 237"/>
          <p:cNvSpPr/>
          <p:nvPr/>
        </p:nvSpPr>
        <p:spPr>
          <a:xfrm>
            <a:off x="1280160" y="7406640"/>
            <a:ext cx="731520" cy="731520"/>
          </a:xfrm>
          <a:prstGeom prst="ellipse">
            <a:avLst/>
          </a:prstGeom>
          <a:solidFill>
            <a:srgbClr val="0057FF"/>
          </a:solidFill>
          <a:ln>
            <a:noFill/>
          </a:ln>
        </p:spPr>
        <p:txBody>
          <a:bodyPr wrap="square" lIns="0" tIns="0" rIns="0" bIns="0" rtlCol="0" anchor="ctr">
            <a:noAutofit/>
          </a:bodyPr>
          <a:lstStyle/>
          <a:p>
            <a:pPr algn="ctr">
              <a:spcAft>
                <a:spcPts val="0"/>
              </a:spcAft>
              <a:buNone/>
            </a:pPr>
            <a:r>
              <a:rPr lang="en-US" sz="2200" b="1" i="0" dirty="0">
                <a:solidFill>
                  <a:srgbClr val="FFFFFF"/>
                </a:solidFill>
                <a:latin typeface="Open Sauce"/>
                <a:ea typeface="Open Sauce"/>
                <a:cs typeface="Open Sauce"/>
              </a:rPr>
              <a:t>5</a:t>
            </a:r>
          </a:p>
        </p:txBody>
      </p:sp>
      <p:sp>
        <p:nvSpPr>
          <p:cNvPr id="238" name="Text 238"/>
          <p:cNvSpPr txBox="1"/>
          <p:nvPr/>
        </p:nvSpPr>
        <p:spPr>
          <a:xfrm>
            <a:off x="2377440" y="7296912"/>
            <a:ext cx="8229600" cy="950976"/>
          </a:xfrm>
          <a:prstGeom prst="rect">
            <a:avLst/>
          </a:prstGeom>
          <a:noFill/>
          <a:ln>
            <a:noFill/>
          </a:ln>
        </p:spPr>
        <p:txBody>
          <a:bodyPr wrap="square" lIns="0" tIns="0" rIns="0" bIns="0" rtlCol="0" anchor="ctr">
            <a:noAutofit/>
          </a:bodyPr>
          <a:lstStyle/>
          <a:p>
            <a:pPr algn="l">
              <a:spcAft>
                <a:spcPts val="0"/>
              </a:spcAft>
              <a:buNone/>
            </a:pPr>
            <a:r>
              <a:rPr lang="en-US" sz="2200" b="0" i="0" dirty="0">
                <a:solidFill>
                  <a:srgbClr val="001C42"/>
                </a:solidFill>
                <a:latin typeface="Open Sauce"/>
                <a:ea typeface="Open Sauce"/>
                <a:cs typeface="Open Sauce"/>
              </a:rPr>
              <a:t>Setting up a project timeline using Gantt chart</a:t>
            </a:r>
          </a:p>
        </p:txBody>
      </p:sp>
      <p:sp>
        <p:nvSpPr>
          <p:cNvPr id="239" name="Deliverable 239"/>
          <p:cNvSpPr/>
          <p:nvPr/>
        </p:nvSpPr>
        <p:spPr>
          <a:xfrm>
            <a:off x="1005840" y="8549640"/>
            <a:ext cx="9875520" cy="1097280"/>
          </a:xfrm>
          <a:prstGeom prst="roundRect">
            <a:avLst>
              <a:gd name="adj" fmla="val 22000"/>
            </a:avLst>
          </a:prstGeom>
          <a:solidFill>
            <a:srgbClr val="FFFFFF">
              <a:alpha val="74000"/>
            </a:srgbClr>
          </a:solidFill>
          <a:ln w="19050">
            <a:gradFill>
              <a:gsLst>
                <a:gs pos="0">
                  <a:srgbClr val="0057FF"/>
                </a:gs>
                <a:gs pos="100000">
                  <a:srgbClr val="001C42"/>
                </a:gs>
              </a:gsLst>
              <a:lin ang="2700000"/>
            </a:gradFill>
          </a:ln>
        </p:spPr>
        <p:txBody>
          <a:bodyPr wrap="square" lIns="320040" tIns="228600" rIns="320040" bIns="182880" rtlCol="0" anchor="t">
            <a:noAutofit/>
          </a:bodyPr>
          <a:lstStyle/>
          <a:p>
            <a:endParaRPr lang="en-US"/>
          </a:p>
        </p:txBody>
      </p:sp>
      <p:sp>
        <p:nvSpPr>
          <p:cNvPr id="240" name="Badge 240"/>
          <p:cNvSpPr/>
          <p:nvPr/>
        </p:nvSpPr>
        <p:spPr>
          <a:xfrm>
            <a:off x="1280160" y="8732520"/>
            <a:ext cx="731520" cy="731520"/>
          </a:xfrm>
          <a:prstGeom prst="ellipse">
            <a:avLst/>
          </a:prstGeom>
          <a:solidFill>
            <a:srgbClr val="0057FF"/>
          </a:solidFill>
          <a:ln>
            <a:noFill/>
          </a:ln>
        </p:spPr>
        <p:txBody>
          <a:bodyPr wrap="square" lIns="0" tIns="0" rIns="0" bIns="0" rtlCol="0" anchor="ctr">
            <a:noAutofit/>
          </a:bodyPr>
          <a:lstStyle/>
          <a:p>
            <a:pPr algn="ctr">
              <a:spcAft>
                <a:spcPts val="0"/>
              </a:spcAft>
              <a:buNone/>
            </a:pPr>
            <a:r>
              <a:rPr lang="en-US" sz="2200" b="1" i="0" dirty="0">
                <a:solidFill>
                  <a:srgbClr val="FFFFFF"/>
                </a:solidFill>
                <a:latin typeface="Open Sauce"/>
                <a:ea typeface="Open Sauce"/>
                <a:cs typeface="Open Sauce"/>
              </a:rPr>
              <a:t>6</a:t>
            </a:r>
          </a:p>
        </p:txBody>
      </p:sp>
      <p:sp>
        <p:nvSpPr>
          <p:cNvPr id="241" name="Text 241"/>
          <p:cNvSpPr txBox="1"/>
          <p:nvPr/>
        </p:nvSpPr>
        <p:spPr>
          <a:xfrm>
            <a:off x="2377440" y="8622792"/>
            <a:ext cx="8229600" cy="950976"/>
          </a:xfrm>
          <a:prstGeom prst="rect">
            <a:avLst/>
          </a:prstGeom>
          <a:noFill/>
          <a:ln>
            <a:noFill/>
          </a:ln>
        </p:spPr>
        <p:txBody>
          <a:bodyPr wrap="square" lIns="0" tIns="0" rIns="0" bIns="0" rtlCol="0" anchor="ctr">
            <a:noAutofit/>
          </a:bodyPr>
          <a:lstStyle/>
          <a:p>
            <a:pPr algn="l">
              <a:spcAft>
                <a:spcPts val="0"/>
              </a:spcAft>
              <a:buNone/>
            </a:pPr>
            <a:r>
              <a:rPr lang="en-US" sz="2200" b="0" i="0" dirty="0">
                <a:solidFill>
                  <a:srgbClr val="001C42"/>
                </a:solidFill>
                <a:latin typeface="Open Sauce"/>
                <a:ea typeface="Open Sauce"/>
                <a:cs typeface="Open Sauce"/>
              </a:rPr>
              <a:t>Creating a summary presentation of our idea</a:t>
            </a:r>
          </a:p>
        </p:txBody>
      </p:sp>
      <p:sp>
        <p:nvSpPr>
          <p:cNvPr id="242" name="Phases panel 242"/>
          <p:cNvSpPr/>
          <p:nvPr/>
        </p:nvSpPr>
        <p:spPr>
          <a:xfrm>
            <a:off x="11430000" y="1920240"/>
            <a:ext cx="5852160" cy="5852160"/>
          </a:xfrm>
          <a:prstGeom prst="roundRect">
            <a:avLst>
              <a:gd name="adj" fmla="val 6000"/>
            </a:avLst>
          </a:prstGeom>
          <a:solidFill>
            <a:srgbClr val="FFFFFF">
              <a:alpha val="60000"/>
            </a:srgbClr>
          </a:solidFill>
          <a:ln w="19050">
            <a:gradFill>
              <a:gsLst>
                <a:gs pos="0">
                  <a:srgbClr val="0057FF"/>
                </a:gs>
                <a:gs pos="100000">
                  <a:srgbClr val="001C42"/>
                </a:gs>
              </a:gsLst>
              <a:lin ang="2700000"/>
            </a:gradFill>
          </a:ln>
        </p:spPr>
        <p:txBody>
          <a:bodyPr wrap="square" lIns="182880" tIns="91440" rIns="182880" bIns="91440" rtlCol="0" anchor="t">
            <a:noAutofit/>
          </a:bodyPr>
          <a:lstStyle/>
          <a:p>
            <a:endParaRPr lang="en-US"/>
          </a:p>
        </p:txBody>
      </p:sp>
      <p:sp>
        <p:nvSpPr>
          <p:cNvPr id="243" name="Text 243"/>
          <p:cNvSpPr txBox="1"/>
          <p:nvPr/>
        </p:nvSpPr>
        <p:spPr>
          <a:xfrm>
            <a:off x="11795760" y="2194560"/>
            <a:ext cx="5120640" cy="640080"/>
          </a:xfrm>
          <a:prstGeom prst="rect">
            <a:avLst/>
          </a:prstGeom>
          <a:noFill/>
          <a:ln>
            <a:noFill/>
          </a:ln>
        </p:spPr>
        <p:txBody>
          <a:bodyPr wrap="square" lIns="0" tIns="0" rIns="0" bIns="0" rtlCol="0" anchor="t">
            <a:noAutofit/>
          </a:bodyPr>
          <a:lstStyle/>
          <a:p>
            <a:pPr algn="l">
              <a:spcAft>
                <a:spcPts val="0"/>
              </a:spcAft>
              <a:buNone/>
            </a:pPr>
            <a:r>
              <a:rPr lang="en-US" sz="2700" b="1" i="0" dirty="0">
                <a:gradFill>
                  <a:gsLst>
                    <a:gs pos="0">
                      <a:srgbClr val="0057FF"/>
                    </a:gs>
                    <a:gs pos="100000">
                      <a:srgbClr val="001C42"/>
                    </a:gs>
                  </a:gsLst>
                  <a:lin ang="2700000"/>
                </a:gradFill>
                <a:latin typeface="Open Sauce"/>
                <a:ea typeface="Open Sauce"/>
                <a:cs typeface="Open Sauce"/>
              </a:rPr>
              <a:t>Capstone phases</a:t>
            </a:r>
          </a:p>
        </p:txBody>
      </p:sp>
      <p:sp>
        <p:nvSpPr>
          <p:cNvPr id="244" name="Phase 244"/>
          <p:cNvSpPr/>
          <p:nvPr/>
        </p:nvSpPr>
        <p:spPr>
          <a:xfrm>
            <a:off x="11795760" y="3108960"/>
            <a:ext cx="5120640" cy="1234440"/>
          </a:xfrm>
          <a:prstGeom prst="roundRect">
            <a:avLst>
              <a:gd name="adj" fmla="val 30000"/>
            </a:avLst>
          </a:prstGeom>
          <a:solidFill>
            <a:srgbClr val="0057FF"/>
          </a:solidFill>
          <a:ln>
            <a:noFill/>
          </a:ln>
        </p:spPr>
        <p:txBody>
          <a:bodyPr wrap="square" lIns="182880" tIns="91440" rIns="182880" bIns="91440" rtlCol="0" anchor="t">
            <a:noAutofit/>
          </a:bodyPr>
          <a:lstStyle/>
          <a:p>
            <a:endParaRPr lang="en-US"/>
          </a:p>
        </p:txBody>
      </p:sp>
      <p:sp>
        <p:nvSpPr>
          <p:cNvPr id="245" name="Badge 245"/>
          <p:cNvSpPr/>
          <p:nvPr/>
        </p:nvSpPr>
        <p:spPr>
          <a:xfrm>
            <a:off x="12024360" y="3383280"/>
            <a:ext cx="685800" cy="685800"/>
          </a:xfrm>
          <a:prstGeom prst="ellipse">
            <a:avLst/>
          </a:prstGeom>
          <a:solidFill>
            <a:srgbClr val="FFFFFF"/>
          </a:solidFill>
          <a:ln>
            <a:noFill/>
          </a:ln>
        </p:spPr>
        <p:txBody>
          <a:bodyPr wrap="square" lIns="0" tIns="0" rIns="0" bIns="0" rtlCol="0" anchor="ctr">
            <a:noAutofit/>
          </a:bodyPr>
          <a:lstStyle/>
          <a:p>
            <a:pPr algn="ctr">
              <a:spcAft>
                <a:spcPts val="0"/>
              </a:spcAft>
              <a:buNone/>
            </a:pPr>
            <a:r>
              <a:rPr lang="en-US" sz="2000" b="1" i="0" dirty="0">
                <a:solidFill>
                  <a:srgbClr val="0057FF"/>
                </a:solidFill>
                <a:latin typeface="Open Sauce"/>
                <a:ea typeface="Open Sauce"/>
                <a:cs typeface="Open Sauce"/>
              </a:rPr>
              <a:t>I</a:t>
            </a:r>
          </a:p>
        </p:txBody>
      </p:sp>
      <p:sp>
        <p:nvSpPr>
          <p:cNvPr id="246" name="Text 246"/>
          <p:cNvSpPr txBox="1"/>
          <p:nvPr/>
        </p:nvSpPr>
        <p:spPr>
          <a:xfrm>
            <a:off x="12938760" y="3200400"/>
            <a:ext cx="3840480" cy="1051560"/>
          </a:xfrm>
          <a:prstGeom prst="rect">
            <a:avLst/>
          </a:prstGeom>
          <a:noFill/>
          <a:ln>
            <a:noFill/>
          </a:ln>
        </p:spPr>
        <p:txBody>
          <a:bodyPr wrap="square" lIns="0" tIns="0" rIns="0" bIns="0" rtlCol="0" anchor="ctr">
            <a:noAutofit/>
          </a:bodyPr>
          <a:lstStyle/>
          <a:p>
            <a:pPr algn="l">
              <a:spcAft>
                <a:spcPts val="0"/>
              </a:spcAft>
              <a:buNone/>
            </a:pPr>
            <a:r>
              <a:rPr lang="en-US" sz="2400" b="1" i="0" dirty="0">
                <a:solidFill>
                  <a:srgbClr val="FFFFFF"/>
                </a:solidFill>
                <a:latin typeface="Open Sauce"/>
                <a:ea typeface="Open Sauce"/>
                <a:cs typeface="Open Sauce"/>
              </a:rPr>
              <a:t>Capstone I</a:t>
            </a:r>
          </a:p>
        </p:txBody>
      </p:sp>
      <p:sp>
        <p:nvSpPr>
          <p:cNvPr id="247" name="Phase 247"/>
          <p:cNvSpPr/>
          <p:nvPr/>
        </p:nvSpPr>
        <p:spPr>
          <a:xfrm>
            <a:off x="11795760" y="4617720"/>
            <a:ext cx="5120640" cy="1234440"/>
          </a:xfrm>
          <a:prstGeom prst="roundRect">
            <a:avLst>
              <a:gd name="adj" fmla="val 30000"/>
            </a:avLst>
          </a:prstGeom>
          <a:solidFill>
            <a:srgbClr val="FFFFFF">
              <a:alpha val="80000"/>
            </a:srgbClr>
          </a:solidFill>
          <a:ln w="19050">
            <a:gradFill>
              <a:gsLst>
                <a:gs pos="0">
                  <a:srgbClr val="0057FF"/>
                </a:gs>
                <a:gs pos="100000">
                  <a:srgbClr val="001C42"/>
                </a:gs>
              </a:gsLst>
              <a:lin ang="2700000"/>
            </a:gradFill>
          </a:ln>
        </p:spPr>
        <p:txBody>
          <a:bodyPr wrap="square" lIns="182880" tIns="91440" rIns="182880" bIns="91440" rtlCol="0" anchor="t">
            <a:noAutofit/>
          </a:bodyPr>
          <a:lstStyle/>
          <a:p>
            <a:endParaRPr lang="en-US"/>
          </a:p>
        </p:txBody>
      </p:sp>
      <p:sp>
        <p:nvSpPr>
          <p:cNvPr id="248" name="Badge 248"/>
          <p:cNvSpPr/>
          <p:nvPr/>
        </p:nvSpPr>
        <p:spPr>
          <a:xfrm>
            <a:off x="12024360" y="4892040"/>
            <a:ext cx="685800" cy="685800"/>
          </a:xfrm>
          <a:prstGeom prst="ellipse">
            <a:avLst/>
          </a:prstGeom>
          <a:solidFill>
            <a:srgbClr val="0057FF"/>
          </a:solidFill>
          <a:ln>
            <a:noFill/>
          </a:ln>
        </p:spPr>
        <p:txBody>
          <a:bodyPr wrap="square" lIns="0" tIns="0" rIns="0" bIns="0" rtlCol="0" anchor="ctr">
            <a:noAutofit/>
          </a:bodyPr>
          <a:lstStyle/>
          <a:p>
            <a:pPr algn="ctr">
              <a:spcAft>
                <a:spcPts val="0"/>
              </a:spcAft>
              <a:buNone/>
            </a:pPr>
            <a:r>
              <a:rPr lang="en-US" sz="2000" b="1" i="0" dirty="0">
                <a:solidFill>
                  <a:srgbClr val="FFFFFF"/>
                </a:solidFill>
                <a:latin typeface="Open Sauce"/>
                <a:ea typeface="Open Sauce"/>
                <a:cs typeface="Open Sauce"/>
              </a:rPr>
              <a:t>II</a:t>
            </a:r>
          </a:p>
        </p:txBody>
      </p:sp>
      <p:sp>
        <p:nvSpPr>
          <p:cNvPr id="249" name="Text 249"/>
          <p:cNvSpPr txBox="1"/>
          <p:nvPr/>
        </p:nvSpPr>
        <p:spPr>
          <a:xfrm>
            <a:off x="12938760" y="4709160"/>
            <a:ext cx="3840480" cy="1051560"/>
          </a:xfrm>
          <a:prstGeom prst="rect">
            <a:avLst/>
          </a:prstGeom>
          <a:noFill/>
          <a:ln>
            <a:noFill/>
          </a:ln>
        </p:spPr>
        <p:txBody>
          <a:bodyPr wrap="square" lIns="0" tIns="0" rIns="0" bIns="0" rtlCol="0" anchor="ctr">
            <a:noAutofit/>
          </a:bodyPr>
          <a:lstStyle/>
          <a:p>
            <a:pPr algn="l">
              <a:spcAft>
                <a:spcPts val="0"/>
              </a:spcAft>
              <a:buNone/>
            </a:pPr>
            <a:r>
              <a:rPr lang="en-US" sz="2400" b="1" i="0" dirty="0">
                <a:solidFill>
                  <a:srgbClr val="001C42"/>
                </a:solidFill>
                <a:latin typeface="Open Sauce"/>
                <a:ea typeface="Open Sauce"/>
                <a:cs typeface="Open Sauce"/>
              </a:rPr>
              <a:t>Capstone II</a:t>
            </a:r>
          </a:p>
        </p:txBody>
      </p:sp>
      <p:sp>
        <p:nvSpPr>
          <p:cNvPr id="250" name="Phase 250"/>
          <p:cNvSpPr/>
          <p:nvPr/>
        </p:nvSpPr>
        <p:spPr>
          <a:xfrm>
            <a:off x="11795760" y="6126480"/>
            <a:ext cx="5120640" cy="1234440"/>
          </a:xfrm>
          <a:prstGeom prst="roundRect">
            <a:avLst>
              <a:gd name="adj" fmla="val 30000"/>
            </a:avLst>
          </a:prstGeom>
          <a:solidFill>
            <a:srgbClr val="FFFFFF">
              <a:alpha val="80000"/>
            </a:srgbClr>
          </a:solidFill>
          <a:ln w="19050">
            <a:gradFill>
              <a:gsLst>
                <a:gs pos="0">
                  <a:srgbClr val="0057FF"/>
                </a:gs>
                <a:gs pos="100000">
                  <a:srgbClr val="001C42"/>
                </a:gs>
              </a:gsLst>
              <a:lin ang="2700000"/>
            </a:gradFill>
          </a:ln>
        </p:spPr>
        <p:txBody>
          <a:bodyPr wrap="square" lIns="182880" tIns="91440" rIns="182880" bIns="91440" rtlCol="0" anchor="t">
            <a:noAutofit/>
          </a:bodyPr>
          <a:lstStyle/>
          <a:p>
            <a:endParaRPr lang="en-US"/>
          </a:p>
        </p:txBody>
      </p:sp>
      <p:sp>
        <p:nvSpPr>
          <p:cNvPr id="251" name="Badge 251"/>
          <p:cNvSpPr/>
          <p:nvPr/>
        </p:nvSpPr>
        <p:spPr>
          <a:xfrm>
            <a:off x="12024360" y="6400800"/>
            <a:ext cx="685800" cy="685800"/>
          </a:xfrm>
          <a:prstGeom prst="ellipse">
            <a:avLst/>
          </a:prstGeom>
          <a:solidFill>
            <a:srgbClr val="0057FF"/>
          </a:solidFill>
          <a:ln>
            <a:noFill/>
          </a:ln>
        </p:spPr>
        <p:txBody>
          <a:bodyPr wrap="square" lIns="0" tIns="0" rIns="0" bIns="0" rtlCol="0" anchor="ctr">
            <a:noAutofit/>
          </a:bodyPr>
          <a:lstStyle/>
          <a:p>
            <a:pPr algn="ctr">
              <a:spcAft>
                <a:spcPts val="0"/>
              </a:spcAft>
              <a:buNone/>
            </a:pPr>
            <a:r>
              <a:rPr lang="en-US" sz="2000" b="1" i="0" dirty="0">
                <a:solidFill>
                  <a:srgbClr val="FFFFFF"/>
                </a:solidFill>
                <a:latin typeface="Open Sauce"/>
                <a:ea typeface="Open Sauce"/>
                <a:cs typeface="Open Sauce"/>
              </a:rPr>
              <a:t>III</a:t>
            </a:r>
          </a:p>
        </p:txBody>
      </p:sp>
      <p:sp>
        <p:nvSpPr>
          <p:cNvPr id="252" name="Text 252"/>
          <p:cNvSpPr txBox="1"/>
          <p:nvPr/>
        </p:nvSpPr>
        <p:spPr>
          <a:xfrm>
            <a:off x="12938760" y="6217920"/>
            <a:ext cx="3840480" cy="1051560"/>
          </a:xfrm>
          <a:prstGeom prst="rect">
            <a:avLst/>
          </a:prstGeom>
          <a:noFill/>
          <a:ln>
            <a:noFill/>
          </a:ln>
        </p:spPr>
        <p:txBody>
          <a:bodyPr wrap="square" lIns="0" tIns="0" rIns="0" bIns="0" rtlCol="0" anchor="ctr">
            <a:noAutofit/>
          </a:bodyPr>
          <a:lstStyle/>
          <a:p>
            <a:pPr algn="l">
              <a:spcAft>
                <a:spcPts val="0"/>
              </a:spcAft>
              <a:buNone/>
            </a:pPr>
            <a:r>
              <a:rPr lang="en-US" sz="2400" b="1" i="0" dirty="0">
                <a:solidFill>
                  <a:srgbClr val="001C42"/>
                </a:solidFill>
                <a:latin typeface="Open Sauce"/>
                <a:ea typeface="Open Sauce"/>
                <a:cs typeface="Open Sauce"/>
              </a:rPr>
              <a:t>Capstone III</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BBBBBB">
                <a:alpha val="100000"/>
              </a:srgbClr>
            </a:gs>
          </a:gsLst>
          <a:lin ang="2700000"/>
        </a:gradFill>
        <a:effectLst/>
      </p:bgPr>
    </p:bg>
    <p:spTree>
      <p:nvGrpSpPr>
        <p:cNvPr id="1" name=""/>
        <p:cNvGrpSpPr/>
        <p:nvPr/>
      </p:nvGrpSpPr>
      <p:grpSpPr>
        <a:xfrm>
          <a:off x="0" y="0"/>
          <a:ext cx="0" cy="0"/>
          <a:chOff x="0" y="0"/>
          <a:chExt cx="0" cy="0"/>
        </a:xfrm>
      </p:grpSpPr>
      <p:sp>
        <p:nvSpPr>
          <p:cNvPr id="18" name="Freeform 18"/>
          <p:cNvSpPr/>
          <p:nvPr/>
        </p:nvSpPr>
        <p:spPr>
          <a:xfrm rot="4278348" flipH="1">
            <a:off x="9820102" y="-77655"/>
            <a:ext cx="13285086" cy="8203541"/>
          </a:xfrm>
          <a:custGeom>
            <a:avLst/>
            <a:gdLst/>
            <a:ahLst/>
            <a:cxnLst/>
            <a:rect l="l" t="t" r="r" b="b"/>
            <a:pathLst>
              <a:path w="13285086" h="8203541">
                <a:moveTo>
                  <a:pt x="13285087" y="0"/>
                </a:moveTo>
                <a:lnTo>
                  <a:pt x="0" y="0"/>
                </a:lnTo>
                <a:lnTo>
                  <a:pt x="0" y="8203541"/>
                </a:lnTo>
                <a:lnTo>
                  <a:pt x="13285087" y="8203541"/>
                </a:lnTo>
                <a:lnTo>
                  <a:pt x="13285087" y="0"/>
                </a:lnTo>
                <a:close/>
              </a:path>
            </a:pathLst>
          </a:custGeom>
          <a:blipFill>
            <a:blip r:embed="rId2"/>
            <a:stretch>
              <a:fillRect/>
            </a:stretch>
          </a:blipFill>
        </p:spPr>
      </p:sp>
      <p:sp>
        <p:nvSpPr>
          <p:cNvPr id="19" name="Freeform 19"/>
          <p:cNvSpPr/>
          <p:nvPr/>
        </p:nvSpPr>
        <p:spPr>
          <a:xfrm rot="-2429207">
            <a:off x="10047236" y="2855960"/>
            <a:ext cx="12128950" cy="7255317"/>
          </a:xfrm>
          <a:custGeom>
            <a:avLst/>
            <a:gdLst/>
            <a:ahLst/>
            <a:cxnLst/>
            <a:rect l="l" t="t" r="r" b="b"/>
            <a:pathLst>
              <a:path w="12128950" h="7255317">
                <a:moveTo>
                  <a:pt x="0" y="0"/>
                </a:moveTo>
                <a:lnTo>
                  <a:pt x="12128950" y="0"/>
                </a:lnTo>
                <a:lnTo>
                  <a:pt x="12128950" y="7255318"/>
                </a:lnTo>
                <a:lnTo>
                  <a:pt x="0" y="7255318"/>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20" name="Freeform 20"/>
          <p:cNvSpPr/>
          <p:nvPr/>
        </p:nvSpPr>
        <p:spPr>
          <a:xfrm>
            <a:off x="16343296" y="177703"/>
            <a:ext cx="1832007" cy="850997"/>
          </a:xfrm>
          <a:custGeom>
            <a:avLst/>
            <a:gdLst/>
            <a:ahLst/>
            <a:cxnLst/>
            <a:rect l="l" t="t" r="r" b="b"/>
            <a:pathLst>
              <a:path w="1832007" h="850997">
                <a:moveTo>
                  <a:pt x="0" y="0"/>
                </a:moveTo>
                <a:lnTo>
                  <a:pt x="1832008" y="0"/>
                </a:lnTo>
                <a:lnTo>
                  <a:pt x="1832008" y="850997"/>
                </a:lnTo>
                <a:lnTo>
                  <a:pt x="0" y="850997"/>
                </a:lnTo>
                <a:lnTo>
                  <a:pt x="0" y="0"/>
                </a:lnTo>
                <a:close/>
              </a:path>
            </a:pathLst>
          </a:custGeom>
          <a:blipFill>
            <a:blip r:embed="rId4"/>
            <a:stretch>
              <a:fillRect/>
            </a:stretch>
          </a:blipFill>
        </p:spPr>
      </p:sp>
      <p:sp>
        <p:nvSpPr>
          <p:cNvPr id="253" name="Title 253"/>
          <p:cNvSpPr txBox="1"/>
          <p:nvPr/>
        </p:nvSpPr>
        <p:spPr>
          <a:xfrm>
            <a:off x="1005840" y="365760"/>
            <a:ext cx="14538960" cy="1280160"/>
          </a:xfrm>
          <a:prstGeom prst="rect">
            <a:avLst/>
          </a:prstGeom>
          <a:noFill/>
          <a:ln>
            <a:noFill/>
          </a:ln>
        </p:spPr>
        <p:txBody>
          <a:bodyPr wrap="square" lIns="0" tIns="0" rIns="0" bIns="0" rtlCol="0" anchor="ctr">
            <a:noAutofit/>
          </a:bodyPr>
          <a:lstStyle/>
          <a:p>
            <a:pPr algn="l">
              <a:spcAft>
                <a:spcPts val="0"/>
              </a:spcAft>
              <a:buNone/>
            </a:pPr>
            <a:r>
              <a:rPr lang="en-US" sz="5600" b="0" i="0" dirty="0">
                <a:gradFill>
                  <a:gsLst>
                    <a:gs pos="0">
                      <a:srgbClr val="0057FF"/>
                    </a:gs>
                    <a:gs pos="100000">
                      <a:srgbClr val="001C42"/>
                    </a:gs>
                  </a:gsLst>
                  <a:lin ang="2700000"/>
                </a:gradFill>
                <a:latin typeface="Intro"/>
                <a:ea typeface="Intro"/>
                <a:cs typeface="Intro"/>
              </a:rPr>
              <a:t>Expected Deliverables: Capstone II</a:t>
            </a:r>
          </a:p>
        </p:txBody>
      </p:sp>
      <p:sp>
        <p:nvSpPr>
          <p:cNvPr id="254" name="Deliverable 254"/>
          <p:cNvSpPr/>
          <p:nvPr/>
        </p:nvSpPr>
        <p:spPr>
          <a:xfrm>
            <a:off x="1005840" y="1920240"/>
            <a:ext cx="9875520" cy="1325880"/>
          </a:xfrm>
          <a:prstGeom prst="roundRect">
            <a:avLst>
              <a:gd name="adj" fmla="val 22000"/>
            </a:avLst>
          </a:prstGeom>
          <a:solidFill>
            <a:srgbClr val="FFFFFF">
              <a:alpha val="74000"/>
            </a:srgbClr>
          </a:solidFill>
          <a:ln w="19050">
            <a:gradFill>
              <a:gsLst>
                <a:gs pos="0">
                  <a:srgbClr val="0057FF"/>
                </a:gs>
                <a:gs pos="100000">
                  <a:srgbClr val="001C42"/>
                </a:gs>
              </a:gsLst>
              <a:lin ang="2700000"/>
            </a:gradFill>
          </a:ln>
        </p:spPr>
        <p:txBody>
          <a:bodyPr wrap="square" lIns="320040" tIns="228600" rIns="320040" bIns="182880" rtlCol="0" anchor="t">
            <a:noAutofit/>
          </a:bodyPr>
          <a:lstStyle/>
          <a:p>
            <a:endParaRPr lang="en-US"/>
          </a:p>
        </p:txBody>
      </p:sp>
      <p:sp>
        <p:nvSpPr>
          <p:cNvPr id="255" name="Badge 255"/>
          <p:cNvSpPr/>
          <p:nvPr/>
        </p:nvSpPr>
        <p:spPr>
          <a:xfrm>
            <a:off x="1280160" y="2217420"/>
            <a:ext cx="731520" cy="731520"/>
          </a:xfrm>
          <a:prstGeom prst="ellipse">
            <a:avLst/>
          </a:prstGeom>
          <a:solidFill>
            <a:srgbClr val="0057FF"/>
          </a:solidFill>
          <a:ln>
            <a:noFill/>
          </a:ln>
        </p:spPr>
        <p:txBody>
          <a:bodyPr wrap="square" lIns="0" tIns="0" rIns="0" bIns="0" rtlCol="0" anchor="ctr">
            <a:noAutofit/>
          </a:bodyPr>
          <a:lstStyle/>
          <a:p>
            <a:pPr algn="ctr">
              <a:spcAft>
                <a:spcPts val="0"/>
              </a:spcAft>
              <a:buNone/>
            </a:pPr>
            <a:r>
              <a:rPr lang="en-US" sz="2200" b="1" i="0" dirty="0">
                <a:solidFill>
                  <a:srgbClr val="FFFFFF"/>
                </a:solidFill>
                <a:latin typeface="Open Sauce"/>
                <a:ea typeface="Open Sauce"/>
                <a:cs typeface="Open Sauce"/>
              </a:rPr>
              <a:t>1</a:t>
            </a:r>
          </a:p>
        </p:txBody>
      </p:sp>
      <p:sp>
        <p:nvSpPr>
          <p:cNvPr id="256" name="Text 256"/>
          <p:cNvSpPr txBox="1"/>
          <p:nvPr/>
        </p:nvSpPr>
        <p:spPr>
          <a:xfrm>
            <a:off x="2377440" y="1993392"/>
            <a:ext cx="8229600" cy="1179576"/>
          </a:xfrm>
          <a:prstGeom prst="rect">
            <a:avLst/>
          </a:prstGeom>
          <a:noFill/>
          <a:ln>
            <a:noFill/>
          </a:ln>
        </p:spPr>
        <p:txBody>
          <a:bodyPr wrap="square" lIns="0" tIns="0" rIns="0" bIns="0" rtlCol="0" anchor="ctr">
            <a:noAutofit/>
          </a:bodyPr>
          <a:lstStyle/>
          <a:p>
            <a:pPr algn="l">
              <a:spcAft>
                <a:spcPts val="0"/>
              </a:spcAft>
              <a:buNone/>
            </a:pPr>
            <a:r>
              <a:rPr lang="en-US" sz="2200" b="0" i="0" dirty="0">
                <a:solidFill>
                  <a:srgbClr val="001C42"/>
                </a:solidFill>
                <a:latin typeface="Open Sauce"/>
                <a:ea typeface="Open Sauce"/>
                <a:cs typeface="Open Sauce"/>
              </a:rPr>
              <a:t>Acquiring/Creating relevant dataset(s)</a:t>
            </a:r>
          </a:p>
        </p:txBody>
      </p:sp>
      <p:sp>
        <p:nvSpPr>
          <p:cNvPr id="257" name="Deliverable 257"/>
          <p:cNvSpPr/>
          <p:nvPr/>
        </p:nvSpPr>
        <p:spPr>
          <a:xfrm>
            <a:off x="1005840" y="3474720"/>
            <a:ext cx="9875520" cy="1325880"/>
          </a:xfrm>
          <a:prstGeom prst="roundRect">
            <a:avLst>
              <a:gd name="adj" fmla="val 22000"/>
            </a:avLst>
          </a:prstGeom>
          <a:solidFill>
            <a:srgbClr val="FFFFFF">
              <a:alpha val="74000"/>
            </a:srgbClr>
          </a:solidFill>
          <a:ln w="19050">
            <a:gradFill>
              <a:gsLst>
                <a:gs pos="0">
                  <a:srgbClr val="0057FF"/>
                </a:gs>
                <a:gs pos="100000">
                  <a:srgbClr val="001C42"/>
                </a:gs>
              </a:gsLst>
              <a:lin ang="2700000"/>
            </a:gradFill>
          </a:ln>
        </p:spPr>
        <p:txBody>
          <a:bodyPr wrap="square" lIns="320040" tIns="228600" rIns="320040" bIns="182880" rtlCol="0" anchor="t">
            <a:noAutofit/>
          </a:bodyPr>
          <a:lstStyle/>
          <a:p>
            <a:endParaRPr lang="en-US"/>
          </a:p>
        </p:txBody>
      </p:sp>
      <p:sp>
        <p:nvSpPr>
          <p:cNvPr id="258" name="Badge 258"/>
          <p:cNvSpPr/>
          <p:nvPr/>
        </p:nvSpPr>
        <p:spPr>
          <a:xfrm>
            <a:off x="1280160" y="3771900"/>
            <a:ext cx="731520" cy="731520"/>
          </a:xfrm>
          <a:prstGeom prst="ellipse">
            <a:avLst/>
          </a:prstGeom>
          <a:solidFill>
            <a:srgbClr val="0057FF"/>
          </a:solidFill>
          <a:ln>
            <a:noFill/>
          </a:ln>
        </p:spPr>
        <p:txBody>
          <a:bodyPr wrap="square" lIns="0" tIns="0" rIns="0" bIns="0" rtlCol="0" anchor="ctr">
            <a:noAutofit/>
          </a:bodyPr>
          <a:lstStyle/>
          <a:p>
            <a:pPr algn="ctr">
              <a:spcAft>
                <a:spcPts val="0"/>
              </a:spcAft>
              <a:buNone/>
            </a:pPr>
            <a:r>
              <a:rPr lang="en-US" sz="2200" b="1" i="0" dirty="0">
                <a:solidFill>
                  <a:srgbClr val="FFFFFF"/>
                </a:solidFill>
                <a:latin typeface="Open Sauce"/>
                <a:ea typeface="Open Sauce"/>
                <a:cs typeface="Open Sauce"/>
              </a:rPr>
              <a:t>2</a:t>
            </a:r>
          </a:p>
        </p:txBody>
      </p:sp>
      <p:sp>
        <p:nvSpPr>
          <p:cNvPr id="259" name="Text 259"/>
          <p:cNvSpPr txBox="1"/>
          <p:nvPr/>
        </p:nvSpPr>
        <p:spPr>
          <a:xfrm>
            <a:off x="2377440" y="3547872"/>
            <a:ext cx="8229600" cy="1179576"/>
          </a:xfrm>
          <a:prstGeom prst="rect">
            <a:avLst/>
          </a:prstGeom>
          <a:noFill/>
          <a:ln>
            <a:noFill/>
          </a:ln>
        </p:spPr>
        <p:txBody>
          <a:bodyPr wrap="square" lIns="0" tIns="0" rIns="0" bIns="0" rtlCol="0" anchor="ctr">
            <a:noAutofit/>
          </a:bodyPr>
          <a:lstStyle/>
          <a:p>
            <a:pPr algn="l">
              <a:spcAft>
                <a:spcPts val="0"/>
              </a:spcAft>
              <a:buNone/>
            </a:pPr>
            <a:r>
              <a:rPr lang="en-US" sz="2200" b="0" i="0" dirty="0">
                <a:solidFill>
                  <a:srgbClr val="001C42"/>
                </a:solidFill>
                <a:latin typeface="Open Sauce"/>
                <a:ea typeface="Open Sauce"/>
                <a:cs typeface="Open Sauce"/>
              </a:rPr>
              <a:t>Choosing the appropriate software tools that will be used for the project</a:t>
            </a:r>
          </a:p>
        </p:txBody>
      </p:sp>
      <p:sp>
        <p:nvSpPr>
          <p:cNvPr id="260" name="Deliverable 260"/>
          <p:cNvSpPr/>
          <p:nvPr/>
        </p:nvSpPr>
        <p:spPr>
          <a:xfrm>
            <a:off x="1005840" y="5029200"/>
            <a:ext cx="9875520" cy="1325880"/>
          </a:xfrm>
          <a:prstGeom prst="roundRect">
            <a:avLst>
              <a:gd name="adj" fmla="val 22000"/>
            </a:avLst>
          </a:prstGeom>
          <a:solidFill>
            <a:srgbClr val="FFFFFF">
              <a:alpha val="74000"/>
            </a:srgbClr>
          </a:solidFill>
          <a:ln w="19050">
            <a:gradFill>
              <a:gsLst>
                <a:gs pos="0">
                  <a:srgbClr val="0057FF"/>
                </a:gs>
                <a:gs pos="100000">
                  <a:srgbClr val="001C42"/>
                </a:gs>
              </a:gsLst>
              <a:lin ang="2700000"/>
            </a:gradFill>
          </a:ln>
        </p:spPr>
        <p:txBody>
          <a:bodyPr wrap="square" lIns="320040" tIns="228600" rIns="320040" bIns="182880" rtlCol="0" anchor="t">
            <a:noAutofit/>
          </a:bodyPr>
          <a:lstStyle/>
          <a:p>
            <a:endParaRPr lang="en-US"/>
          </a:p>
        </p:txBody>
      </p:sp>
      <p:sp>
        <p:nvSpPr>
          <p:cNvPr id="261" name="Badge 261"/>
          <p:cNvSpPr/>
          <p:nvPr/>
        </p:nvSpPr>
        <p:spPr>
          <a:xfrm>
            <a:off x="1280160" y="5326380"/>
            <a:ext cx="731520" cy="731520"/>
          </a:xfrm>
          <a:prstGeom prst="ellipse">
            <a:avLst/>
          </a:prstGeom>
          <a:solidFill>
            <a:srgbClr val="0057FF"/>
          </a:solidFill>
          <a:ln>
            <a:noFill/>
          </a:ln>
        </p:spPr>
        <p:txBody>
          <a:bodyPr wrap="square" lIns="0" tIns="0" rIns="0" bIns="0" rtlCol="0" anchor="ctr">
            <a:noAutofit/>
          </a:bodyPr>
          <a:lstStyle/>
          <a:p>
            <a:pPr algn="ctr">
              <a:spcAft>
                <a:spcPts val="0"/>
              </a:spcAft>
              <a:buNone/>
            </a:pPr>
            <a:r>
              <a:rPr lang="en-US" sz="2200" b="1" i="0" dirty="0">
                <a:solidFill>
                  <a:srgbClr val="FFFFFF"/>
                </a:solidFill>
                <a:latin typeface="Open Sauce"/>
                <a:ea typeface="Open Sauce"/>
                <a:cs typeface="Open Sauce"/>
              </a:rPr>
              <a:t>3</a:t>
            </a:r>
          </a:p>
        </p:txBody>
      </p:sp>
      <p:sp>
        <p:nvSpPr>
          <p:cNvPr id="262" name="Text 262"/>
          <p:cNvSpPr txBox="1"/>
          <p:nvPr/>
        </p:nvSpPr>
        <p:spPr>
          <a:xfrm>
            <a:off x="2377440" y="5102352"/>
            <a:ext cx="8229600" cy="1179576"/>
          </a:xfrm>
          <a:prstGeom prst="rect">
            <a:avLst/>
          </a:prstGeom>
          <a:noFill/>
          <a:ln>
            <a:noFill/>
          </a:ln>
        </p:spPr>
        <p:txBody>
          <a:bodyPr wrap="square" lIns="0" tIns="0" rIns="0" bIns="0" rtlCol="0" anchor="ctr">
            <a:noAutofit/>
          </a:bodyPr>
          <a:lstStyle/>
          <a:p>
            <a:pPr algn="l">
              <a:spcAft>
                <a:spcPts val="0"/>
              </a:spcAft>
              <a:buNone/>
            </a:pPr>
            <a:r>
              <a:rPr lang="en-US" sz="2200" b="0" i="0" dirty="0">
                <a:solidFill>
                  <a:srgbClr val="001C42"/>
                </a:solidFill>
                <a:latin typeface="Open Sauce"/>
                <a:ea typeface="Open Sauce"/>
                <a:cs typeface="Open Sauce"/>
              </a:rPr>
              <a:t>Creating a detailed workflow</a:t>
            </a:r>
          </a:p>
        </p:txBody>
      </p:sp>
      <p:sp>
        <p:nvSpPr>
          <p:cNvPr id="263" name="Deliverable 263"/>
          <p:cNvSpPr/>
          <p:nvPr/>
        </p:nvSpPr>
        <p:spPr>
          <a:xfrm>
            <a:off x="1005840" y="6583680"/>
            <a:ext cx="9875520" cy="1325880"/>
          </a:xfrm>
          <a:prstGeom prst="roundRect">
            <a:avLst>
              <a:gd name="adj" fmla="val 22000"/>
            </a:avLst>
          </a:prstGeom>
          <a:solidFill>
            <a:srgbClr val="FFFFFF">
              <a:alpha val="74000"/>
            </a:srgbClr>
          </a:solidFill>
          <a:ln w="19050">
            <a:gradFill>
              <a:gsLst>
                <a:gs pos="0">
                  <a:srgbClr val="0057FF"/>
                </a:gs>
                <a:gs pos="100000">
                  <a:srgbClr val="001C42"/>
                </a:gs>
              </a:gsLst>
              <a:lin ang="2700000"/>
            </a:gradFill>
          </a:ln>
        </p:spPr>
        <p:txBody>
          <a:bodyPr wrap="square" lIns="320040" tIns="228600" rIns="320040" bIns="182880" rtlCol="0" anchor="t">
            <a:noAutofit/>
          </a:bodyPr>
          <a:lstStyle/>
          <a:p>
            <a:endParaRPr lang="en-US"/>
          </a:p>
        </p:txBody>
      </p:sp>
      <p:sp>
        <p:nvSpPr>
          <p:cNvPr id="264" name="Badge 264"/>
          <p:cNvSpPr/>
          <p:nvPr/>
        </p:nvSpPr>
        <p:spPr>
          <a:xfrm>
            <a:off x="1280160" y="6880860"/>
            <a:ext cx="731520" cy="731520"/>
          </a:xfrm>
          <a:prstGeom prst="ellipse">
            <a:avLst/>
          </a:prstGeom>
          <a:solidFill>
            <a:srgbClr val="0057FF"/>
          </a:solidFill>
          <a:ln>
            <a:noFill/>
          </a:ln>
        </p:spPr>
        <p:txBody>
          <a:bodyPr wrap="square" lIns="0" tIns="0" rIns="0" bIns="0" rtlCol="0" anchor="ctr">
            <a:noAutofit/>
          </a:bodyPr>
          <a:lstStyle/>
          <a:p>
            <a:pPr algn="ctr">
              <a:spcAft>
                <a:spcPts val="0"/>
              </a:spcAft>
              <a:buNone/>
            </a:pPr>
            <a:r>
              <a:rPr lang="en-US" sz="2200" b="1" i="0" dirty="0">
                <a:solidFill>
                  <a:srgbClr val="FFFFFF"/>
                </a:solidFill>
                <a:latin typeface="Open Sauce"/>
                <a:ea typeface="Open Sauce"/>
                <a:cs typeface="Open Sauce"/>
              </a:rPr>
              <a:t>4</a:t>
            </a:r>
          </a:p>
        </p:txBody>
      </p:sp>
      <p:sp>
        <p:nvSpPr>
          <p:cNvPr id="265" name="Text 265"/>
          <p:cNvSpPr txBox="1"/>
          <p:nvPr/>
        </p:nvSpPr>
        <p:spPr>
          <a:xfrm>
            <a:off x="2377440" y="6656832"/>
            <a:ext cx="8229600" cy="1179576"/>
          </a:xfrm>
          <a:prstGeom prst="rect">
            <a:avLst/>
          </a:prstGeom>
          <a:noFill/>
          <a:ln>
            <a:noFill/>
          </a:ln>
        </p:spPr>
        <p:txBody>
          <a:bodyPr wrap="square" lIns="0" tIns="0" rIns="0" bIns="0" rtlCol="0" anchor="ctr">
            <a:noAutofit/>
          </a:bodyPr>
          <a:lstStyle/>
          <a:p>
            <a:pPr algn="l">
              <a:spcAft>
                <a:spcPts val="0"/>
              </a:spcAft>
              <a:buNone/>
            </a:pPr>
            <a:r>
              <a:rPr lang="en-US" sz="2200" b="0" i="0" dirty="0">
                <a:solidFill>
                  <a:srgbClr val="001C42"/>
                </a:solidFill>
                <a:latin typeface="Open Sauce"/>
                <a:ea typeface="Open Sauce"/>
                <a:cs typeface="Open Sauce"/>
              </a:rPr>
              <a:t>Creating a prototype based on the datasets collected</a:t>
            </a:r>
          </a:p>
        </p:txBody>
      </p:sp>
      <p:sp>
        <p:nvSpPr>
          <p:cNvPr id="266" name="Deliverable 266"/>
          <p:cNvSpPr/>
          <p:nvPr/>
        </p:nvSpPr>
        <p:spPr>
          <a:xfrm>
            <a:off x="1005840" y="8138160"/>
            <a:ext cx="9875520" cy="1325880"/>
          </a:xfrm>
          <a:prstGeom prst="roundRect">
            <a:avLst>
              <a:gd name="adj" fmla="val 22000"/>
            </a:avLst>
          </a:prstGeom>
          <a:solidFill>
            <a:srgbClr val="FFFFFF">
              <a:alpha val="74000"/>
            </a:srgbClr>
          </a:solidFill>
          <a:ln w="19050">
            <a:gradFill>
              <a:gsLst>
                <a:gs pos="0">
                  <a:srgbClr val="0057FF"/>
                </a:gs>
                <a:gs pos="100000">
                  <a:srgbClr val="001C42"/>
                </a:gs>
              </a:gsLst>
              <a:lin ang="2700000"/>
            </a:gradFill>
          </a:ln>
        </p:spPr>
        <p:txBody>
          <a:bodyPr wrap="square" lIns="320040" tIns="228600" rIns="320040" bIns="182880" rtlCol="0" anchor="t">
            <a:noAutofit/>
          </a:bodyPr>
          <a:lstStyle/>
          <a:p>
            <a:endParaRPr lang="en-US"/>
          </a:p>
        </p:txBody>
      </p:sp>
      <p:sp>
        <p:nvSpPr>
          <p:cNvPr id="267" name="Badge 267"/>
          <p:cNvSpPr/>
          <p:nvPr/>
        </p:nvSpPr>
        <p:spPr>
          <a:xfrm>
            <a:off x="1280160" y="8435340"/>
            <a:ext cx="731520" cy="731520"/>
          </a:xfrm>
          <a:prstGeom prst="ellipse">
            <a:avLst/>
          </a:prstGeom>
          <a:solidFill>
            <a:srgbClr val="0057FF"/>
          </a:solidFill>
          <a:ln>
            <a:noFill/>
          </a:ln>
        </p:spPr>
        <p:txBody>
          <a:bodyPr wrap="square" lIns="0" tIns="0" rIns="0" bIns="0" rtlCol="0" anchor="ctr">
            <a:noAutofit/>
          </a:bodyPr>
          <a:lstStyle/>
          <a:p>
            <a:pPr algn="ctr">
              <a:spcAft>
                <a:spcPts val="0"/>
              </a:spcAft>
              <a:buNone/>
            </a:pPr>
            <a:r>
              <a:rPr lang="en-US" sz="2200" b="1" i="0" dirty="0">
                <a:solidFill>
                  <a:srgbClr val="FFFFFF"/>
                </a:solidFill>
                <a:latin typeface="Open Sauce"/>
                <a:ea typeface="Open Sauce"/>
                <a:cs typeface="Open Sauce"/>
              </a:rPr>
              <a:t>5</a:t>
            </a:r>
          </a:p>
        </p:txBody>
      </p:sp>
      <p:sp>
        <p:nvSpPr>
          <p:cNvPr id="268" name="Text 268"/>
          <p:cNvSpPr txBox="1"/>
          <p:nvPr/>
        </p:nvSpPr>
        <p:spPr>
          <a:xfrm>
            <a:off x="2377440" y="8211312"/>
            <a:ext cx="8229600" cy="1179576"/>
          </a:xfrm>
          <a:prstGeom prst="rect">
            <a:avLst/>
          </a:prstGeom>
          <a:noFill/>
          <a:ln>
            <a:noFill/>
          </a:ln>
        </p:spPr>
        <p:txBody>
          <a:bodyPr wrap="square" lIns="0" tIns="0" rIns="0" bIns="0" rtlCol="0" anchor="ctr">
            <a:noAutofit/>
          </a:bodyPr>
          <a:lstStyle/>
          <a:p>
            <a:pPr algn="l">
              <a:spcAft>
                <a:spcPts val="0"/>
              </a:spcAft>
              <a:buNone/>
            </a:pPr>
            <a:r>
              <a:rPr lang="en-US" sz="2200" b="0" i="0" dirty="0">
                <a:solidFill>
                  <a:srgbClr val="001C42"/>
                </a:solidFill>
                <a:latin typeface="Open Sauce"/>
                <a:ea typeface="Open Sauce"/>
                <a:cs typeface="Open Sauce"/>
              </a:rPr>
              <a:t>High-Level Design</a:t>
            </a:r>
          </a:p>
        </p:txBody>
      </p:sp>
      <p:sp>
        <p:nvSpPr>
          <p:cNvPr id="269" name="Phases panel 269"/>
          <p:cNvSpPr/>
          <p:nvPr/>
        </p:nvSpPr>
        <p:spPr>
          <a:xfrm>
            <a:off x="11430000" y="1920240"/>
            <a:ext cx="5852160" cy="5852160"/>
          </a:xfrm>
          <a:prstGeom prst="roundRect">
            <a:avLst>
              <a:gd name="adj" fmla="val 6000"/>
            </a:avLst>
          </a:prstGeom>
          <a:solidFill>
            <a:srgbClr val="FFFFFF">
              <a:alpha val="60000"/>
            </a:srgbClr>
          </a:solidFill>
          <a:ln w="19050">
            <a:gradFill>
              <a:gsLst>
                <a:gs pos="0">
                  <a:srgbClr val="0057FF"/>
                </a:gs>
                <a:gs pos="100000">
                  <a:srgbClr val="001C42"/>
                </a:gs>
              </a:gsLst>
              <a:lin ang="2700000"/>
            </a:gradFill>
          </a:ln>
        </p:spPr>
        <p:txBody>
          <a:bodyPr wrap="square" lIns="182880" tIns="91440" rIns="182880" bIns="91440" rtlCol="0" anchor="t">
            <a:noAutofit/>
          </a:bodyPr>
          <a:lstStyle/>
          <a:p>
            <a:endParaRPr lang="en-US"/>
          </a:p>
        </p:txBody>
      </p:sp>
      <p:sp>
        <p:nvSpPr>
          <p:cNvPr id="270" name="Text 270"/>
          <p:cNvSpPr txBox="1"/>
          <p:nvPr/>
        </p:nvSpPr>
        <p:spPr>
          <a:xfrm>
            <a:off x="11795760" y="2194560"/>
            <a:ext cx="5120640" cy="640080"/>
          </a:xfrm>
          <a:prstGeom prst="rect">
            <a:avLst/>
          </a:prstGeom>
          <a:noFill/>
          <a:ln>
            <a:noFill/>
          </a:ln>
        </p:spPr>
        <p:txBody>
          <a:bodyPr wrap="square" lIns="0" tIns="0" rIns="0" bIns="0" rtlCol="0" anchor="t">
            <a:noAutofit/>
          </a:bodyPr>
          <a:lstStyle/>
          <a:p>
            <a:pPr algn="l">
              <a:spcAft>
                <a:spcPts val="0"/>
              </a:spcAft>
              <a:buNone/>
            </a:pPr>
            <a:r>
              <a:rPr lang="en-US" sz="2700" b="1" i="0" dirty="0">
                <a:gradFill>
                  <a:gsLst>
                    <a:gs pos="0">
                      <a:srgbClr val="0057FF"/>
                    </a:gs>
                    <a:gs pos="100000">
                      <a:srgbClr val="001C42"/>
                    </a:gs>
                  </a:gsLst>
                  <a:lin ang="2700000"/>
                </a:gradFill>
                <a:latin typeface="Open Sauce"/>
                <a:ea typeface="Open Sauce"/>
                <a:cs typeface="Open Sauce"/>
              </a:rPr>
              <a:t>Capstone phases</a:t>
            </a:r>
          </a:p>
        </p:txBody>
      </p:sp>
      <p:sp>
        <p:nvSpPr>
          <p:cNvPr id="271" name="Phase 271"/>
          <p:cNvSpPr/>
          <p:nvPr/>
        </p:nvSpPr>
        <p:spPr>
          <a:xfrm>
            <a:off x="11795760" y="3108960"/>
            <a:ext cx="5120640" cy="1234440"/>
          </a:xfrm>
          <a:prstGeom prst="roundRect">
            <a:avLst>
              <a:gd name="adj" fmla="val 30000"/>
            </a:avLst>
          </a:prstGeom>
          <a:solidFill>
            <a:srgbClr val="FFFFFF">
              <a:alpha val="80000"/>
            </a:srgbClr>
          </a:solidFill>
          <a:ln w="19050">
            <a:gradFill>
              <a:gsLst>
                <a:gs pos="0">
                  <a:srgbClr val="0057FF"/>
                </a:gs>
                <a:gs pos="100000">
                  <a:srgbClr val="001C42"/>
                </a:gs>
              </a:gsLst>
              <a:lin ang="2700000"/>
            </a:gradFill>
          </a:ln>
        </p:spPr>
        <p:txBody>
          <a:bodyPr wrap="square" lIns="182880" tIns="91440" rIns="182880" bIns="91440" rtlCol="0" anchor="t">
            <a:noAutofit/>
          </a:bodyPr>
          <a:lstStyle/>
          <a:p>
            <a:endParaRPr lang="en-US"/>
          </a:p>
        </p:txBody>
      </p:sp>
      <p:sp>
        <p:nvSpPr>
          <p:cNvPr id="272" name="Badge 272"/>
          <p:cNvSpPr/>
          <p:nvPr/>
        </p:nvSpPr>
        <p:spPr>
          <a:xfrm>
            <a:off x="12024360" y="3383280"/>
            <a:ext cx="685800" cy="685800"/>
          </a:xfrm>
          <a:prstGeom prst="ellipse">
            <a:avLst/>
          </a:prstGeom>
          <a:solidFill>
            <a:srgbClr val="0057FF"/>
          </a:solidFill>
          <a:ln>
            <a:noFill/>
          </a:ln>
        </p:spPr>
        <p:txBody>
          <a:bodyPr wrap="square" lIns="0" tIns="0" rIns="0" bIns="0" rtlCol="0" anchor="ctr">
            <a:noAutofit/>
          </a:bodyPr>
          <a:lstStyle/>
          <a:p>
            <a:pPr algn="ctr">
              <a:spcAft>
                <a:spcPts val="0"/>
              </a:spcAft>
              <a:buNone/>
            </a:pPr>
            <a:r>
              <a:rPr lang="en-US" sz="2000" b="1" i="0" dirty="0">
                <a:solidFill>
                  <a:srgbClr val="FFFFFF"/>
                </a:solidFill>
                <a:latin typeface="Open Sauce"/>
                <a:ea typeface="Open Sauce"/>
                <a:cs typeface="Open Sauce"/>
              </a:rPr>
              <a:t>I</a:t>
            </a:r>
          </a:p>
        </p:txBody>
      </p:sp>
      <p:sp>
        <p:nvSpPr>
          <p:cNvPr id="273" name="Text 273"/>
          <p:cNvSpPr txBox="1"/>
          <p:nvPr/>
        </p:nvSpPr>
        <p:spPr>
          <a:xfrm>
            <a:off x="12938760" y="3200400"/>
            <a:ext cx="3840480" cy="1051560"/>
          </a:xfrm>
          <a:prstGeom prst="rect">
            <a:avLst/>
          </a:prstGeom>
          <a:noFill/>
          <a:ln>
            <a:noFill/>
          </a:ln>
        </p:spPr>
        <p:txBody>
          <a:bodyPr wrap="square" lIns="0" tIns="0" rIns="0" bIns="0" rtlCol="0" anchor="ctr">
            <a:noAutofit/>
          </a:bodyPr>
          <a:lstStyle/>
          <a:p>
            <a:pPr algn="l">
              <a:spcAft>
                <a:spcPts val="0"/>
              </a:spcAft>
              <a:buNone/>
            </a:pPr>
            <a:r>
              <a:rPr lang="en-US" sz="2400" b="1" i="0" dirty="0">
                <a:solidFill>
                  <a:srgbClr val="001C42"/>
                </a:solidFill>
                <a:latin typeface="Open Sauce"/>
                <a:ea typeface="Open Sauce"/>
                <a:cs typeface="Open Sauce"/>
              </a:rPr>
              <a:t>Capstone I</a:t>
            </a:r>
          </a:p>
        </p:txBody>
      </p:sp>
      <p:sp>
        <p:nvSpPr>
          <p:cNvPr id="274" name="Phase 274"/>
          <p:cNvSpPr/>
          <p:nvPr/>
        </p:nvSpPr>
        <p:spPr>
          <a:xfrm>
            <a:off x="11795760" y="4617720"/>
            <a:ext cx="5120640" cy="1234440"/>
          </a:xfrm>
          <a:prstGeom prst="roundRect">
            <a:avLst>
              <a:gd name="adj" fmla="val 30000"/>
            </a:avLst>
          </a:prstGeom>
          <a:solidFill>
            <a:srgbClr val="0057FF"/>
          </a:solidFill>
          <a:ln>
            <a:noFill/>
          </a:ln>
        </p:spPr>
        <p:txBody>
          <a:bodyPr wrap="square" lIns="182880" tIns="91440" rIns="182880" bIns="91440" rtlCol="0" anchor="t">
            <a:noAutofit/>
          </a:bodyPr>
          <a:lstStyle/>
          <a:p>
            <a:endParaRPr lang="en-US"/>
          </a:p>
        </p:txBody>
      </p:sp>
      <p:sp>
        <p:nvSpPr>
          <p:cNvPr id="275" name="Badge 275"/>
          <p:cNvSpPr/>
          <p:nvPr/>
        </p:nvSpPr>
        <p:spPr>
          <a:xfrm>
            <a:off x="12024360" y="4892040"/>
            <a:ext cx="685800" cy="685800"/>
          </a:xfrm>
          <a:prstGeom prst="ellipse">
            <a:avLst/>
          </a:prstGeom>
          <a:solidFill>
            <a:srgbClr val="FFFFFF"/>
          </a:solidFill>
          <a:ln>
            <a:noFill/>
          </a:ln>
        </p:spPr>
        <p:txBody>
          <a:bodyPr wrap="square" lIns="0" tIns="0" rIns="0" bIns="0" rtlCol="0" anchor="ctr">
            <a:noAutofit/>
          </a:bodyPr>
          <a:lstStyle/>
          <a:p>
            <a:pPr algn="ctr">
              <a:spcAft>
                <a:spcPts val="0"/>
              </a:spcAft>
              <a:buNone/>
            </a:pPr>
            <a:r>
              <a:rPr lang="en-US" sz="2000" b="1" i="0" dirty="0">
                <a:solidFill>
                  <a:srgbClr val="0057FF"/>
                </a:solidFill>
                <a:latin typeface="Open Sauce"/>
                <a:ea typeface="Open Sauce"/>
                <a:cs typeface="Open Sauce"/>
              </a:rPr>
              <a:t>II</a:t>
            </a:r>
          </a:p>
        </p:txBody>
      </p:sp>
      <p:sp>
        <p:nvSpPr>
          <p:cNvPr id="276" name="Text 276"/>
          <p:cNvSpPr txBox="1"/>
          <p:nvPr/>
        </p:nvSpPr>
        <p:spPr>
          <a:xfrm>
            <a:off x="12938760" y="4709160"/>
            <a:ext cx="3840480" cy="1051560"/>
          </a:xfrm>
          <a:prstGeom prst="rect">
            <a:avLst/>
          </a:prstGeom>
          <a:noFill/>
          <a:ln>
            <a:noFill/>
          </a:ln>
        </p:spPr>
        <p:txBody>
          <a:bodyPr wrap="square" lIns="0" tIns="0" rIns="0" bIns="0" rtlCol="0" anchor="ctr">
            <a:noAutofit/>
          </a:bodyPr>
          <a:lstStyle/>
          <a:p>
            <a:pPr algn="l">
              <a:spcAft>
                <a:spcPts val="0"/>
              </a:spcAft>
              <a:buNone/>
            </a:pPr>
            <a:r>
              <a:rPr lang="en-US" sz="2400" b="1" i="0" dirty="0">
                <a:solidFill>
                  <a:srgbClr val="FFFFFF"/>
                </a:solidFill>
                <a:latin typeface="Open Sauce"/>
                <a:ea typeface="Open Sauce"/>
                <a:cs typeface="Open Sauce"/>
              </a:rPr>
              <a:t>Capstone II</a:t>
            </a:r>
          </a:p>
        </p:txBody>
      </p:sp>
      <p:sp>
        <p:nvSpPr>
          <p:cNvPr id="277" name="Phase 277"/>
          <p:cNvSpPr/>
          <p:nvPr/>
        </p:nvSpPr>
        <p:spPr>
          <a:xfrm>
            <a:off x="11795760" y="6126480"/>
            <a:ext cx="5120640" cy="1234440"/>
          </a:xfrm>
          <a:prstGeom prst="roundRect">
            <a:avLst>
              <a:gd name="adj" fmla="val 30000"/>
            </a:avLst>
          </a:prstGeom>
          <a:solidFill>
            <a:srgbClr val="FFFFFF">
              <a:alpha val="80000"/>
            </a:srgbClr>
          </a:solidFill>
          <a:ln w="19050">
            <a:gradFill>
              <a:gsLst>
                <a:gs pos="0">
                  <a:srgbClr val="0057FF"/>
                </a:gs>
                <a:gs pos="100000">
                  <a:srgbClr val="001C42"/>
                </a:gs>
              </a:gsLst>
              <a:lin ang="2700000"/>
            </a:gradFill>
          </a:ln>
        </p:spPr>
        <p:txBody>
          <a:bodyPr wrap="square" lIns="182880" tIns="91440" rIns="182880" bIns="91440" rtlCol="0" anchor="t">
            <a:noAutofit/>
          </a:bodyPr>
          <a:lstStyle/>
          <a:p>
            <a:endParaRPr lang="en-US"/>
          </a:p>
        </p:txBody>
      </p:sp>
      <p:sp>
        <p:nvSpPr>
          <p:cNvPr id="278" name="Badge 278"/>
          <p:cNvSpPr/>
          <p:nvPr/>
        </p:nvSpPr>
        <p:spPr>
          <a:xfrm>
            <a:off x="12024360" y="6400800"/>
            <a:ext cx="685800" cy="685800"/>
          </a:xfrm>
          <a:prstGeom prst="ellipse">
            <a:avLst/>
          </a:prstGeom>
          <a:solidFill>
            <a:srgbClr val="0057FF"/>
          </a:solidFill>
          <a:ln>
            <a:noFill/>
          </a:ln>
        </p:spPr>
        <p:txBody>
          <a:bodyPr wrap="square" lIns="0" tIns="0" rIns="0" bIns="0" rtlCol="0" anchor="ctr">
            <a:noAutofit/>
          </a:bodyPr>
          <a:lstStyle/>
          <a:p>
            <a:pPr algn="ctr">
              <a:spcAft>
                <a:spcPts val="0"/>
              </a:spcAft>
              <a:buNone/>
            </a:pPr>
            <a:r>
              <a:rPr lang="en-US" sz="2000" b="1" i="0" dirty="0">
                <a:solidFill>
                  <a:srgbClr val="FFFFFF"/>
                </a:solidFill>
                <a:latin typeface="Open Sauce"/>
                <a:ea typeface="Open Sauce"/>
                <a:cs typeface="Open Sauce"/>
              </a:rPr>
              <a:t>III</a:t>
            </a:r>
          </a:p>
        </p:txBody>
      </p:sp>
      <p:sp>
        <p:nvSpPr>
          <p:cNvPr id="279" name="Text 279"/>
          <p:cNvSpPr txBox="1"/>
          <p:nvPr/>
        </p:nvSpPr>
        <p:spPr>
          <a:xfrm>
            <a:off x="12938760" y="6217920"/>
            <a:ext cx="3840480" cy="1051560"/>
          </a:xfrm>
          <a:prstGeom prst="rect">
            <a:avLst/>
          </a:prstGeom>
          <a:noFill/>
          <a:ln>
            <a:noFill/>
          </a:ln>
        </p:spPr>
        <p:txBody>
          <a:bodyPr wrap="square" lIns="0" tIns="0" rIns="0" bIns="0" rtlCol="0" anchor="ctr">
            <a:noAutofit/>
          </a:bodyPr>
          <a:lstStyle/>
          <a:p>
            <a:pPr algn="l">
              <a:spcAft>
                <a:spcPts val="0"/>
              </a:spcAft>
              <a:buNone/>
            </a:pPr>
            <a:r>
              <a:rPr lang="en-US" sz="2400" b="1" i="0" dirty="0">
                <a:solidFill>
                  <a:srgbClr val="001C42"/>
                </a:solidFill>
                <a:latin typeface="Open Sauce"/>
                <a:ea typeface="Open Sauce"/>
                <a:cs typeface="Open Sauce"/>
              </a:rPr>
              <a:t>Capstone III</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BBBBBB">
                <a:alpha val="100000"/>
              </a:srgbClr>
            </a:gs>
          </a:gsLst>
          <a:lin ang="2700000"/>
        </a:gradFill>
        <a:effectLst/>
      </p:bgPr>
    </p:bg>
    <p:spTree>
      <p:nvGrpSpPr>
        <p:cNvPr id="1" name=""/>
        <p:cNvGrpSpPr/>
        <p:nvPr/>
      </p:nvGrpSpPr>
      <p:grpSpPr>
        <a:xfrm>
          <a:off x="0" y="0"/>
          <a:ext cx="0" cy="0"/>
          <a:chOff x="0" y="0"/>
          <a:chExt cx="0" cy="0"/>
        </a:xfrm>
      </p:grpSpPr>
      <p:sp>
        <p:nvSpPr>
          <p:cNvPr id="17" name="Freeform 17"/>
          <p:cNvSpPr/>
          <p:nvPr/>
        </p:nvSpPr>
        <p:spPr>
          <a:xfrm>
            <a:off x="-12420600" y="2236985"/>
            <a:ext cx="19108277" cy="14187896"/>
          </a:xfrm>
          <a:custGeom>
            <a:avLst/>
            <a:gdLst/>
            <a:ahLst/>
            <a:cxnLst/>
            <a:rect l="l" t="t" r="r" b="b"/>
            <a:pathLst>
              <a:path w="19108277" h="14187896">
                <a:moveTo>
                  <a:pt x="0" y="0"/>
                </a:moveTo>
                <a:lnTo>
                  <a:pt x="19108276" y="0"/>
                </a:lnTo>
                <a:lnTo>
                  <a:pt x="19108276" y="14187896"/>
                </a:lnTo>
                <a:lnTo>
                  <a:pt x="0" y="14187896"/>
                </a:lnTo>
                <a:lnTo>
                  <a:pt x="0" y="0"/>
                </a:lnTo>
                <a:close/>
              </a:path>
            </a:pathLst>
          </a:custGeom>
          <a:blipFill>
            <a:blip r:embed="rId2"/>
            <a:stretch>
              <a:fillRect/>
            </a:stretch>
          </a:blipFill>
        </p:spPr>
      </p:sp>
      <p:sp>
        <p:nvSpPr>
          <p:cNvPr id="26" name="Freeform 26"/>
          <p:cNvSpPr/>
          <p:nvPr/>
        </p:nvSpPr>
        <p:spPr>
          <a:xfrm>
            <a:off x="16343296" y="177703"/>
            <a:ext cx="1832007" cy="850997"/>
          </a:xfrm>
          <a:custGeom>
            <a:avLst/>
            <a:gdLst/>
            <a:ahLst/>
            <a:cxnLst/>
            <a:rect l="l" t="t" r="r" b="b"/>
            <a:pathLst>
              <a:path w="1832007" h="850997">
                <a:moveTo>
                  <a:pt x="0" y="0"/>
                </a:moveTo>
                <a:lnTo>
                  <a:pt x="1832008" y="0"/>
                </a:lnTo>
                <a:lnTo>
                  <a:pt x="1832008" y="850997"/>
                </a:lnTo>
                <a:lnTo>
                  <a:pt x="0" y="850997"/>
                </a:lnTo>
                <a:lnTo>
                  <a:pt x="0" y="0"/>
                </a:lnTo>
                <a:close/>
              </a:path>
            </a:pathLst>
          </a:custGeom>
          <a:blipFill>
            <a:blip r:embed="rId3"/>
            <a:stretch>
              <a:fillRect/>
            </a:stretch>
          </a:blipFill>
        </p:spPr>
      </p:sp>
      <p:sp>
        <p:nvSpPr>
          <p:cNvPr id="280" name="Title 280"/>
          <p:cNvSpPr txBox="1"/>
          <p:nvPr/>
        </p:nvSpPr>
        <p:spPr>
          <a:xfrm>
            <a:off x="1005840" y="365760"/>
            <a:ext cx="14538960" cy="1280160"/>
          </a:xfrm>
          <a:prstGeom prst="rect">
            <a:avLst/>
          </a:prstGeom>
          <a:noFill/>
          <a:ln>
            <a:noFill/>
          </a:ln>
        </p:spPr>
        <p:txBody>
          <a:bodyPr wrap="square" lIns="0" tIns="0" rIns="0" bIns="0" rtlCol="0" anchor="ctr">
            <a:noAutofit/>
          </a:bodyPr>
          <a:lstStyle/>
          <a:p>
            <a:pPr algn="l">
              <a:spcAft>
                <a:spcPts val="0"/>
              </a:spcAft>
              <a:buNone/>
            </a:pPr>
            <a:r>
              <a:rPr lang="en-US" sz="5600" b="0" i="0" dirty="0">
                <a:gradFill>
                  <a:gsLst>
                    <a:gs pos="0">
                      <a:srgbClr val="0057FF"/>
                    </a:gs>
                    <a:gs pos="100000">
                      <a:srgbClr val="001C42"/>
                    </a:gs>
                  </a:gsLst>
                  <a:lin ang="2700000"/>
                </a:gradFill>
                <a:latin typeface="Intro"/>
                <a:ea typeface="Intro"/>
                <a:cs typeface="Intro"/>
              </a:rPr>
              <a:t>Expected Deliverables: Capstone III</a:t>
            </a:r>
          </a:p>
        </p:txBody>
      </p:sp>
      <p:sp>
        <p:nvSpPr>
          <p:cNvPr id="281" name="Deliverable 281"/>
          <p:cNvSpPr/>
          <p:nvPr/>
        </p:nvSpPr>
        <p:spPr>
          <a:xfrm>
            <a:off x="1005840" y="1920240"/>
            <a:ext cx="9875520" cy="1325880"/>
          </a:xfrm>
          <a:prstGeom prst="roundRect">
            <a:avLst>
              <a:gd name="adj" fmla="val 22000"/>
            </a:avLst>
          </a:prstGeom>
          <a:solidFill>
            <a:srgbClr val="FFFFFF">
              <a:alpha val="74000"/>
            </a:srgbClr>
          </a:solidFill>
          <a:ln w="19050">
            <a:gradFill>
              <a:gsLst>
                <a:gs pos="0">
                  <a:srgbClr val="0057FF"/>
                </a:gs>
                <a:gs pos="100000">
                  <a:srgbClr val="001C42"/>
                </a:gs>
              </a:gsLst>
              <a:lin ang="2700000"/>
            </a:gradFill>
          </a:ln>
        </p:spPr>
        <p:txBody>
          <a:bodyPr wrap="square" lIns="320040" tIns="228600" rIns="320040" bIns="182880" rtlCol="0" anchor="t">
            <a:noAutofit/>
          </a:bodyPr>
          <a:lstStyle/>
          <a:p>
            <a:endParaRPr lang="en-US"/>
          </a:p>
        </p:txBody>
      </p:sp>
      <p:sp>
        <p:nvSpPr>
          <p:cNvPr id="282" name="Badge 282"/>
          <p:cNvSpPr/>
          <p:nvPr/>
        </p:nvSpPr>
        <p:spPr>
          <a:xfrm>
            <a:off x="1280160" y="2217420"/>
            <a:ext cx="731520" cy="731520"/>
          </a:xfrm>
          <a:prstGeom prst="ellipse">
            <a:avLst/>
          </a:prstGeom>
          <a:solidFill>
            <a:srgbClr val="0057FF"/>
          </a:solidFill>
          <a:ln>
            <a:noFill/>
          </a:ln>
        </p:spPr>
        <p:txBody>
          <a:bodyPr wrap="square" lIns="0" tIns="0" rIns="0" bIns="0" rtlCol="0" anchor="ctr">
            <a:noAutofit/>
          </a:bodyPr>
          <a:lstStyle/>
          <a:p>
            <a:pPr algn="ctr">
              <a:spcAft>
                <a:spcPts val="0"/>
              </a:spcAft>
              <a:buNone/>
            </a:pPr>
            <a:r>
              <a:rPr lang="en-US" sz="2200" b="1" i="0" dirty="0">
                <a:solidFill>
                  <a:srgbClr val="FFFFFF"/>
                </a:solidFill>
                <a:latin typeface="Open Sauce"/>
                <a:ea typeface="Open Sauce"/>
                <a:cs typeface="Open Sauce"/>
              </a:rPr>
              <a:t>1</a:t>
            </a:r>
          </a:p>
        </p:txBody>
      </p:sp>
      <p:sp>
        <p:nvSpPr>
          <p:cNvPr id="283" name="Text 283"/>
          <p:cNvSpPr txBox="1"/>
          <p:nvPr/>
        </p:nvSpPr>
        <p:spPr>
          <a:xfrm>
            <a:off x="2377440" y="1993392"/>
            <a:ext cx="8229600" cy="1179576"/>
          </a:xfrm>
          <a:prstGeom prst="rect">
            <a:avLst/>
          </a:prstGeom>
          <a:noFill/>
          <a:ln>
            <a:noFill/>
          </a:ln>
        </p:spPr>
        <p:txBody>
          <a:bodyPr wrap="square" lIns="0" tIns="0" rIns="0" bIns="0" rtlCol="0" anchor="ctr">
            <a:noAutofit/>
          </a:bodyPr>
          <a:lstStyle/>
          <a:p>
            <a:pPr algn="l">
              <a:spcAft>
                <a:spcPts val="0"/>
              </a:spcAft>
              <a:buNone/>
            </a:pPr>
            <a:r>
              <a:rPr lang="en-US" sz="2200" b="0" i="0" dirty="0">
                <a:solidFill>
                  <a:srgbClr val="001C42"/>
                </a:solidFill>
                <a:latin typeface="Open Sauce"/>
                <a:ea typeface="Open Sauce"/>
                <a:cs typeface="Open Sauce"/>
              </a:rPr>
              <a:t>Refining the project prototype and aligning it with industry level standards.</a:t>
            </a:r>
          </a:p>
        </p:txBody>
      </p:sp>
      <p:sp>
        <p:nvSpPr>
          <p:cNvPr id="284" name="Deliverable 284"/>
          <p:cNvSpPr/>
          <p:nvPr/>
        </p:nvSpPr>
        <p:spPr>
          <a:xfrm>
            <a:off x="1005840" y="3474720"/>
            <a:ext cx="9875520" cy="1325880"/>
          </a:xfrm>
          <a:prstGeom prst="roundRect">
            <a:avLst>
              <a:gd name="adj" fmla="val 22000"/>
            </a:avLst>
          </a:prstGeom>
          <a:solidFill>
            <a:srgbClr val="FFFFFF">
              <a:alpha val="74000"/>
            </a:srgbClr>
          </a:solidFill>
          <a:ln w="19050">
            <a:gradFill>
              <a:gsLst>
                <a:gs pos="0">
                  <a:srgbClr val="0057FF"/>
                </a:gs>
                <a:gs pos="100000">
                  <a:srgbClr val="001C42"/>
                </a:gs>
              </a:gsLst>
              <a:lin ang="2700000"/>
            </a:gradFill>
          </a:ln>
        </p:spPr>
        <p:txBody>
          <a:bodyPr wrap="square" lIns="320040" tIns="228600" rIns="320040" bIns="182880" rtlCol="0" anchor="t">
            <a:noAutofit/>
          </a:bodyPr>
          <a:lstStyle/>
          <a:p>
            <a:endParaRPr lang="en-US"/>
          </a:p>
        </p:txBody>
      </p:sp>
      <p:sp>
        <p:nvSpPr>
          <p:cNvPr id="285" name="Badge 285"/>
          <p:cNvSpPr/>
          <p:nvPr/>
        </p:nvSpPr>
        <p:spPr>
          <a:xfrm>
            <a:off x="1280160" y="3771900"/>
            <a:ext cx="731520" cy="731520"/>
          </a:xfrm>
          <a:prstGeom prst="ellipse">
            <a:avLst/>
          </a:prstGeom>
          <a:solidFill>
            <a:srgbClr val="0057FF"/>
          </a:solidFill>
          <a:ln>
            <a:noFill/>
          </a:ln>
        </p:spPr>
        <p:txBody>
          <a:bodyPr wrap="square" lIns="0" tIns="0" rIns="0" bIns="0" rtlCol="0" anchor="ctr">
            <a:noAutofit/>
          </a:bodyPr>
          <a:lstStyle/>
          <a:p>
            <a:pPr algn="ctr">
              <a:spcAft>
                <a:spcPts val="0"/>
              </a:spcAft>
              <a:buNone/>
            </a:pPr>
            <a:r>
              <a:rPr lang="en-US" sz="2200" b="1" i="0" dirty="0">
                <a:solidFill>
                  <a:srgbClr val="FFFFFF"/>
                </a:solidFill>
                <a:latin typeface="Open Sauce"/>
                <a:ea typeface="Open Sauce"/>
                <a:cs typeface="Open Sauce"/>
              </a:rPr>
              <a:t>2</a:t>
            </a:r>
          </a:p>
        </p:txBody>
      </p:sp>
      <p:sp>
        <p:nvSpPr>
          <p:cNvPr id="286" name="Text 286"/>
          <p:cNvSpPr txBox="1"/>
          <p:nvPr/>
        </p:nvSpPr>
        <p:spPr>
          <a:xfrm>
            <a:off x="2377440" y="3547872"/>
            <a:ext cx="8229600" cy="1179576"/>
          </a:xfrm>
          <a:prstGeom prst="rect">
            <a:avLst/>
          </a:prstGeom>
          <a:noFill/>
          <a:ln>
            <a:noFill/>
          </a:ln>
        </p:spPr>
        <p:txBody>
          <a:bodyPr wrap="square" lIns="0" tIns="0" rIns="0" bIns="0" rtlCol="0" anchor="ctr">
            <a:noAutofit/>
          </a:bodyPr>
          <a:lstStyle/>
          <a:p>
            <a:pPr algn="l">
              <a:spcAft>
                <a:spcPts val="0"/>
              </a:spcAft>
              <a:buNone/>
            </a:pPr>
            <a:r>
              <a:rPr lang="en-US" sz="2200" b="0" i="0" dirty="0">
                <a:solidFill>
                  <a:srgbClr val="001C42"/>
                </a:solidFill>
                <a:latin typeface="Open Sauce"/>
                <a:ea typeface="Open Sauce"/>
                <a:cs typeface="Open Sauce"/>
              </a:rPr>
              <a:t>Summing our project along with all the issues resolved that we had come up in Capstone phase II.</a:t>
            </a:r>
          </a:p>
        </p:txBody>
      </p:sp>
      <p:sp>
        <p:nvSpPr>
          <p:cNvPr id="287" name="Deliverable 287"/>
          <p:cNvSpPr/>
          <p:nvPr/>
        </p:nvSpPr>
        <p:spPr>
          <a:xfrm>
            <a:off x="1005840" y="5029200"/>
            <a:ext cx="9875520" cy="1325880"/>
          </a:xfrm>
          <a:prstGeom prst="roundRect">
            <a:avLst>
              <a:gd name="adj" fmla="val 22000"/>
            </a:avLst>
          </a:prstGeom>
          <a:solidFill>
            <a:srgbClr val="FFFFFF">
              <a:alpha val="74000"/>
            </a:srgbClr>
          </a:solidFill>
          <a:ln w="19050">
            <a:gradFill>
              <a:gsLst>
                <a:gs pos="0">
                  <a:srgbClr val="0057FF"/>
                </a:gs>
                <a:gs pos="100000">
                  <a:srgbClr val="001C42"/>
                </a:gs>
              </a:gsLst>
              <a:lin ang="2700000"/>
            </a:gradFill>
          </a:ln>
        </p:spPr>
        <p:txBody>
          <a:bodyPr wrap="square" lIns="320040" tIns="228600" rIns="320040" bIns="182880" rtlCol="0" anchor="t">
            <a:noAutofit/>
          </a:bodyPr>
          <a:lstStyle/>
          <a:p>
            <a:endParaRPr lang="en-US"/>
          </a:p>
        </p:txBody>
      </p:sp>
      <p:sp>
        <p:nvSpPr>
          <p:cNvPr id="288" name="Badge 288"/>
          <p:cNvSpPr/>
          <p:nvPr/>
        </p:nvSpPr>
        <p:spPr>
          <a:xfrm>
            <a:off x="1280160" y="5326380"/>
            <a:ext cx="731520" cy="731520"/>
          </a:xfrm>
          <a:prstGeom prst="ellipse">
            <a:avLst/>
          </a:prstGeom>
          <a:solidFill>
            <a:srgbClr val="0057FF"/>
          </a:solidFill>
          <a:ln>
            <a:noFill/>
          </a:ln>
        </p:spPr>
        <p:txBody>
          <a:bodyPr wrap="square" lIns="0" tIns="0" rIns="0" bIns="0" rtlCol="0" anchor="ctr">
            <a:noAutofit/>
          </a:bodyPr>
          <a:lstStyle/>
          <a:p>
            <a:pPr algn="ctr">
              <a:spcAft>
                <a:spcPts val="0"/>
              </a:spcAft>
              <a:buNone/>
            </a:pPr>
            <a:r>
              <a:rPr lang="en-US" sz="2200" b="1" i="0" dirty="0">
                <a:solidFill>
                  <a:srgbClr val="FFFFFF"/>
                </a:solidFill>
                <a:latin typeface="Open Sauce"/>
                <a:ea typeface="Open Sauce"/>
                <a:cs typeface="Open Sauce"/>
              </a:rPr>
              <a:t>3</a:t>
            </a:r>
          </a:p>
        </p:txBody>
      </p:sp>
      <p:sp>
        <p:nvSpPr>
          <p:cNvPr id="289" name="Text 289"/>
          <p:cNvSpPr txBox="1"/>
          <p:nvPr/>
        </p:nvSpPr>
        <p:spPr>
          <a:xfrm>
            <a:off x="2377440" y="5102352"/>
            <a:ext cx="8229600" cy="1179576"/>
          </a:xfrm>
          <a:prstGeom prst="rect">
            <a:avLst/>
          </a:prstGeom>
          <a:noFill/>
          <a:ln>
            <a:noFill/>
          </a:ln>
        </p:spPr>
        <p:txBody>
          <a:bodyPr wrap="square" lIns="0" tIns="0" rIns="0" bIns="0" rtlCol="0" anchor="ctr">
            <a:noAutofit/>
          </a:bodyPr>
          <a:lstStyle/>
          <a:p>
            <a:pPr algn="l">
              <a:spcAft>
                <a:spcPts val="0"/>
              </a:spcAft>
              <a:buNone/>
            </a:pPr>
            <a:r>
              <a:rPr lang="en-US" sz="2200" b="0" i="0" dirty="0">
                <a:solidFill>
                  <a:srgbClr val="001C42"/>
                </a:solidFill>
                <a:latin typeface="Open Sauce"/>
                <a:ea typeface="Open Sauce"/>
                <a:cs typeface="Open Sauce"/>
              </a:rPr>
              <a:t>Ensuring to meet all the requirements set by Corestack.</a:t>
            </a:r>
          </a:p>
        </p:txBody>
      </p:sp>
      <p:sp>
        <p:nvSpPr>
          <p:cNvPr id="290" name="Deliverable 290"/>
          <p:cNvSpPr/>
          <p:nvPr/>
        </p:nvSpPr>
        <p:spPr>
          <a:xfrm>
            <a:off x="1005840" y="6583680"/>
            <a:ext cx="9875520" cy="1325880"/>
          </a:xfrm>
          <a:prstGeom prst="roundRect">
            <a:avLst>
              <a:gd name="adj" fmla="val 22000"/>
            </a:avLst>
          </a:prstGeom>
          <a:solidFill>
            <a:srgbClr val="FFFFFF">
              <a:alpha val="74000"/>
            </a:srgbClr>
          </a:solidFill>
          <a:ln w="19050">
            <a:gradFill>
              <a:gsLst>
                <a:gs pos="0">
                  <a:srgbClr val="0057FF"/>
                </a:gs>
                <a:gs pos="100000">
                  <a:srgbClr val="001C42"/>
                </a:gs>
              </a:gsLst>
              <a:lin ang="2700000"/>
            </a:gradFill>
          </a:ln>
        </p:spPr>
        <p:txBody>
          <a:bodyPr wrap="square" lIns="320040" tIns="228600" rIns="320040" bIns="182880" rtlCol="0" anchor="t">
            <a:noAutofit/>
          </a:bodyPr>
          <a:lstStyle/>
          <a:p>
            <a:endParaRPr lang="en-US"/>
          </a:p>
        </p:txBody>
      </p:sp>
      <p:sp>
        <p:nvSpPr>
          <p:cNvPr id="291" name="Badge 291"/>
          <p:cNvSpPr/>
          <p:nvPr/>
        </p:nvSpPr>
        <p:spPr>
          <a:xfrm>
            <a:off x="1280160" y="6880860"/>
            <a:ext cx="731520" cy="731520"/>
          </a:xfrm>
          <a:prstGeom prst="ellipse">
            <a:avLst/>
          </a:prstGeom>
          <a:solidFill>
            <a:srgbClr val="0057FF"/>
          </a:solidFill>
          <a:ln>
            <a:noFill/>
          </a:ln>
        </p:spPr>
        <p:txBody>
          <a:bodyPr wrap="square" lIns="0" tIns="0" rIns="0" bIns="0" rtlCol="0" anchor="ctr">
            <a:noAutofit/>
          </a:bodyPr>
          <a:lstStyle/>
          <a:p>
            <a:pPr algn="ctr">
              <a:spcAft>
                <a:spcPts val="0"/>
              </a:spcAft>
              <a:buNone/>
            </a:pPr>
            <a:r>
              <a:rPr lang="en-US" sz="2200" b="1" i="0" dirty="0">
                <a:solidFill>
                  <a:srgbClr val="FFFFFF"/>
                </a:solidFill>
                <a:latin typeface="Open Sauce"/>
                <a:ea typeface="Open Sauce"/>
                <a:cs typeface="Open Sauce"/>
              </a:rPr>
              <a:t>4</a:t>
            </a:r>
          </a:p>
        </p:txBody>
      </p:sp>
      <p:sp>
        <p:nvSpPr>
          <p:cNvPr id="292" name="Text 292"/>
          <p:cNvSpPr txBox="1"/>
          <p:nvPr/>
        </p:nvSpPr>
        <p:spPr>
          <a:xfrm>
            <a:off x="2377440" y="6656832"/>
            <a:ext cx="8229600" cy="1179576"/>
          </a:xfrm>
          <a:prstGeom prst="rect">
            <a:avLst/>
          </a:prstGeom>
          <a:noFill/>
          <a:ln>
            <a:noFill/>
          </a:ln>
        </p:spPr>
        <p:txBody>
          <a:bodyPr wrap="square" lIns="0" tIns="0" rIns="0" bIns="0" rtlCol="0" anchor="ctr">
            <a:noAutofit/>
          </a:bodyPr>
          <a:lstStyle/>
          <a:p>
            <a:pPr algn="l">
              <a:spcAft>
                <a:spcPts val="0"/>
              </a:spcAft>
              <a:buNone/>
            </a:pPr>
            <a:r>
              <a:rPr lang="en-US" sz="2200" b="0" i="0" dirty="0">
                <a:solidFill>
                  <a:srgbClr val="001C42"/>
                </a:solidFill>
                <a:latin typeface="Open Sauce"/>
                <a:ea typeface="Open Sauce"/>
                <a:cs typeface="Open Sauce"/>
              </a:rPr>
              <a:t>Low-Level Design, Module wise implementation</a:t>
            </a:r>
          </a:p>
        </p:txBody>
      </p:sp>
      <p:sp>
        <p:nvSpPr>
          <p:cNvPr id="293" name="Deliverable 293"/>
          <p:cNvSpPr/>
          <p:nvPr/>
        </p:nvSpPr>
        <p:spPr>
          <a:xfrm>
            <a:off x="1005840" y="8138160"/>
            <a:ext cx="9875520" cy="1325880"/>
          </a:xfrm>
          <a:prstGeom prst="roundRect">
            <a:avLst>
              <a:gd name="adj" fmla="val 22000"/>
            </a:avLst>
          </a:prstGeom>
          <a:solidFill>
            <a:srgbClr val="FFFFFF">
              <a:alpha val="74000"/>
            </a:srgbClr>
          </a:solidFill>
          <a:ln w="19050">
            <a:gradFill>
              <a:gsLst>
                <a:gs pos="0">
                  <a:srgbClr val="0057FF"/>
                </a:gs>
                <a:gs pos="100000">
                  <a:srgbClr val="001C42"/>
                </a:gs>
              </a:gsLst>
              <a:lin ang="2700000"/>
            </a:gradFill>
          </a:ln>
        </p:spPr>
        <p:txBody>
          <a:bodyPr wrap="square" lIns="320040" tIns="228600" rIns="320040" bIns="182880" rtlCol="0" anchor="t">
            <a:noAutofit/>
          </a:bodyPr>
          <a:lstStyle/>
          <a:p>
            <a:endParaRPr lang="en-US"/>
          </a:p>
        </p:txBody>
      </p:sp>
      <p:sp>
        <p:nvSpPr>
          <p:cNvPr id="294" name="Badge 294"/>
          <p:cNvSpPr/>
          <p:nvPr/>
        </p:nvSpPr>
        <p:spPr>
          <a:xfrm>
            <a:off x="1280160" y="8435340"/>
            <a:ext cx="731520" cy="731520"/>
          </a:xfrm>
          <a:prstGeom prst="ellipse">
            <a:avLst/>
          </a:prstGeom>
          <a:solidFill>
            <a:srgbClr val="0057FF"/>
          </a:solidFill>
          <a:ln>
            <a:noFill/>
          </a:ln>
        </p:spPr>
        <p:txBody>
          <a:bodyPr wrap="square" lIns="0" tIns="0" rIns="0" bIns="0" rtlCol="0" anchor="ctr">
            <a:noAutofit/>
          </a:bodyPr>
          <a:lstStyle/>
          <a:p>
            <a:pPr algn="ctr">
              <a:spcAft>
                <a:spcPts val="0"/>
              </a:spcAft>
              <a:buNone/>
            </a:pPr>
            <a:r>
              <a:rPr lang="en-US" sz="2200" b="1" i="0" dirty="0">
                <a:solidFill>
                  <a:srgbClr val="FFFFFF"/>
                </a:solidFill>
                <a:latin typeface="Open Sauce"/>
                <a:ea typeface="Open Sauce"/>
                <a:cs typeface="Open Sauce"/>
              </a:rPr>
              <a:t>5</a:t>
            </a:r>
          </a:p>
        </p:txBody>
      </p:sp>
      <p:sp>
        <p:nvSpPr>
          <p:cNvPr id="295" name="Text 295"/>
          <p:cNvSpPr txBox="1"/>
          <p:nvPr/>
        </p:nvSpPr>
        <p:spPr>
          <a:xfrm>
            <a:off x="2377440" y="8211312"/>
            <a:ext cx="8229600" cy="1179576"/>
          </a:xfrm>
          <a:prstGeom prst="rect">
            <a:avLst/>
          </a:prstGeom>
          <a:noFill/>
          <a:ln>
            <a:noFill/>
          </a:ln>
        </p:spPr>
        <p:txBody>
          <a:bodyPr wrap="square" lIns="0" tIns="0" rIns="0" bIns="0" rtlCol="0" anchor="ctr">
            <a:noAutofit/>
          </a:bodyPr>
          <a:lstStyle/>
          <a:p>
            <a:pPr algn="l">
              <a:spcAft>
                <a:spcPts val="0"/>
              </a:spcAft>
              <a:buNone/>
            </a:pPr>
            <a:r>
              <a:rPr lang="en-US" sz="2200" b="0" i="0" dirty="0">
                <a:solidFill>
                  <a:srgbClr val="001C42"/>
                </a:solidFill>
                <a:latin typeface="Open Sauce"/>
                <a:ea typeface="Open Sauce"/>
                <a:cs typeface="Open Sauce"/>
              </a:rPr>
              <a:t>Making a research paper on our project and publishing it.</a:t>
            </a:r>
          </a:p>
        </p:txBody>
      </p:sp>
      <p:sp>
        <p:nvSpPr>
          <p:cNvPr id="296" name="Phases panel 296"/>
          <p:cNvSpPr/>
          <p:nvPr/>
        </p:nvSpPr>
        <p:spPr>
          <a:xfrm>
            <a:off x="11430000" y="1920240"/>
            <a:ext cx="5852160" cy="5852160"/>
          </a:xfrm>
          <a:prstGeom prst="roundRect">
            <a:avLst>
              <a:gd name="adj" fmla="val 6000"/>
            </a:avLst>
          </a:prstGeom>
          <a:solidFill>
            <a:srgbClr val="FFFFFF">
              <a:alpha val="60000"/>
            </a:srgbClr>
          </a:solidFill>
          <a:ln w="19050">
            <a:gradFill>
              <a:gsLst>
                <a:gs pos="0">
                  <a:srgbClr val="0057FF"/>
                </a:gs>
                <a:gs pos="100000">
                  <a:srgbClr val="001C42"/>
                </a:gs>
              </a:gsLst>
              <a:lin ang="2700000"/>
            </a:gradFill>
          </a:ln>
        </p:spPr>
        <p:txBody>
          <a:bodyPr wrap="square" lIns="182880" tIns="91440" rIns="182880" bIns="91440" rtlCol="0" anchor="t">
            <a:noAutofit/>
          </a:bodyPr>
          <a:lstStyle/>
          <a:p>
            <a:endParaRPr lang="en-US"/>
          </a:p>
        </p:txBody>
      </p:sp>
      <p:sp>
        <p:nvSpPr>
          <p:cNvPr id="297" name="Text 297"/>
          <p:cNvSpPr txBox="1"/>
          <p:nvPr/>
        </p:nvSpPr>
        <p:spPr>
          <a:xfrm>
            <a:off x="11795760" y="2194560"/>
            <a:ext cx="5120640" cy="640080"/>
          </a:xfrm>
          <a:prstGeom prst="rect">
            <a:avLst/>
          </a:prstGeom>
          <a:noFill/>
          <a:ln>
            <a:noFill/>
          </a:ln>
        </p:spPr>
        <p:txBody>
          <a:bodyPr wrap="square" lIns="0" tIns="0" rIns="0" bIns="0" rtlCol="0" anchor="t">
            <a:noAutofit/>
          </a:bodyPr>
          <a:lstStyle/>
          <a:p>
            <a:pPr algn="l">
              <a:spcAft>
                <a:spcPts val="0"/>
              </a:spcAft>
              <a:buNone/>
            </a:pPr>
            <a:r>
              <a:rPr lang="en-US" sz="2700" b="1" i="0" dirty="0">
                <a:gradFill>
                  <a:gsLst>
                    <a:gs pos="0">
                      <a:srgbClr val="0057FF"/>
                    </a:gs>
                    <a:gs pos="100000">
                      <a:srgbClr val="001C42"/>
                    </a:gs>
                  </a:gsLst>
                  <a:lin ang="2700000"/>
                </a:gradFill>
                <a:latin typeface="Open Sauce"/>
                <a:ea typeface="Open Sauce"/>
                <a:cs typeface="Open Sauce"/>
              </a:rPr>
              <a:t>Capstone phases</a:t>
            </a:r>
          </a:p>
        </p:txBody>
      </p:sp>
      <p:sp>
        <p:nvSpPr>
          <p:cNvPr id="298" name="Phase 298"/>
          <p:cNvSpPr/>
          <p:nvPr/>
        </p:nvSpPr>
        <p:spPr>
          <a:xfrm>
            <a:off x="11795760" y="3108960"/>
            <a:ext cx="5120640" cy="1234440"/>
          </a:xfrm>
          <a:prstGeom prst="roundRect">
            <a:avLst>
              <a:gd name="adj" fmla="val 30000"/>
            </a:avLst>
          </a:prstGeom>
          <a:solidFill>
            <a:srgbClr val="FFFFFF">
              <a:alpha val="80000"/>
            </a:srgbClr>
          </a:solidFill>
          <a:ln w="19050">
            <a:gradFill>
              <a:gsLst>
                <a:gs pos="0">
                  <a:srgbClr val="0057FF"/>
                </a:gs>
                <a:gs pos="100000">
                  <a:srgbClr val="001C42"/>
                </a:gs>
              </a:gsLst>
              <a:lin ang="2700000"/>
            </a:gradFill>
          </a:ln>
        </p:spPr>
        <p:txBody>
          <a:bodyPr wrap="square" lIns="182880" tIns="91440" rIns="182880" bIns="91440" rtlCol="0" anchor="t">
            <a:noAutofit/>
          </a:bodyPr>
          <a:lstStyle/>
          <a:p>
            <a:endParaRPr lang="en-US"/>
          </a:p>
        </p:txBody>
      </p:sp>
      <p:sp>
        <p:nvSpPr>
          <p:cNvPr id="299" name="Badge 299"/>
          <p:cNvSpPr/>
          <p:nvPr/>
        </p:nvSpPr>
        <p:spPr>
          <a:xfrm>
            <a:off x="12024360" y="3383280"/>
            <a:ext cx="685800" cy="685800"/>
          </a:xfrm>
          <a:prstGeom prst="ellipse">
            <a:avLst/>
          </a:prstGeom>
          <a:solidFill>
            <a:srgbClr val="0057FF"/>
          </a:solidFill>
          <a:ln>
            <a:noFill/>
          </a:ln>
        </p:spPr>
        <p:txBody>
          <a:bodyPr wrap="square" lIns="0" tIns="0" rIns="0" bIns="0" rtlCol="0" anchor="ctr">
            <a:noAutofit/>
          </a:bodyPr>
          <a:lstStyle/>
          <a:p>
            <a:pPr algn="ctr">
              <a:spcAft>
                <a:spcPts val="0"/>
              </a:spcAft>
              <a:buNone/>
            </a:pPr>
            <a:r>
              <a:rPr lang="en-US" sz="2000" b="1" i="0" dirty="0">
                <a:solidFill>
                  <a:srgbClr val="FFFFFF"/>
                </a:solidFill>
                <a:latin typeface="Open Sauce"/>
                <a:ea typeface="Open Sauce"/>
                <a:cs typeface="Open Sauce"/>
              </a:rPr>
              <a:t>I</a:t>
            </a:r>
          </a:p>
        </p:txBody>
      </p:sp>
      <p:sp>
        <p:nvSpPr>
          <p:cNvPr id="300" name="Text 300"/>
          <p:cNvSpPr txBox="1"/>
          <p:nvPr/>
        </p:nvSpPr>
        <p:spPr>
          <a:xfrm>
            <a:off x="12938760" y="3200400"/>
            <a:ext cx="3840480" cy="1051560"/>
          </a:xfrm>
          <a:prstGeom prst="rect">
            <a:avLst/>
          </a:prstGeom>
          <a:noFill/>
          <a:ln>
            <a:noFill/>
          </a:ln>
        </p:spPr>
        <p:txBody>
          <a:bodyPr wrap="square" lIns="0" tIns="0" rIns="0" bIns="0" rtlCol="0" anchor="ctr">
            <a:noAutofit/>
          </a:bodyPr>
          <a:lstStyle/>
          <a:p>
            <a:pPr algn="l">
              <a:spcAft>
                <a:spcPts val="0"/>
              </a:spcAft>
              <a:buNone/>
            </a:pPr>
            <a:r>
              <a:rPr lang="en-US" sz="2400" b="1" i="0" dirty="0">
                <a:solidFill>
                  <a:srgbClr val="001C42"/>
                </a:solidFill>
                <a:latin typeface="Open Sauce"/>
                <a:ea typeface="Open Sauce"/>
                <a:cs typeface="Open Sauce"/>
              </a:rPr>
              <a:t>Capstone I</a:t>
            </a:r>
          </a:p>
        </p:txBody>
      </p:sp>
      <p:sp>
        <p:nvSpPr>
          <p:cNvPr id="301" name="Phase 301"/>
          <p:cNvSpPr/>
          <p:nvPr/>
        </p:nvSpPr>
        <p:spPr>
          <a:xfrm>
            <a:off x="11795760" y="4617720"/>
            <a:ext cx="5120640" cy="1234440"/>
          </a:xfrm>
          <a:prstGeom prst="roundRect">
            <a:avLst>
              <a:gd name="adj" fmla="val 30000"/>
            </a:avLst>
          </a:prstGeom>
          <a:solidFill>
            <a:srgbClr val="FFFFFF">
              <a:alpha val="80000"/>
            </a:srgbClr>
          </a:solidFill>
          <a:ln w="19050">
            <a:gradFill>
              <a:gsLst>
                <a:gs pos="0">
                  <a:srgbClr val="0057FF"/>
                </a:gs>
                <a:gs pos="100000">
                  <a:srgbClr val="001C42"/>
                </a:gs>
              </a:gsLst>
              <a:lin ang="2700000"/>
            </a:gradFill>
          </a:ln>
        </p:spPr>
        <p:txBody>
          <a:bodyPr wrap="square" lIns="182880" tIns="91440" rIns="182880" bIns="91440" rtlCol="0" anchor="t">
            <a:noAutofit/>
          </a:bodyPr>
          <a:lstStyle/>
          <a:p>
            <a:endParaRPr lang="en-US"/>
          </a:p>
        </p:txBody>
      </p:sp>
      <p:sp>
        <p:nvSpPr>
          <p:cNvPr id="302" name="Badge 302"/>
          <p:cNvSpPr/>
          <p:nvPr/>
        </p:nvSpPr>
        <p:spPr>
          <a:xfrm>
            <a:off x="12024360" y="4892040"/>
            <a:ext cx="685800" cy="685800"/>
          </a:xfrm>
          <a:prstGeom prst="ellipse">
            <a:avLst/>
          </a:prstGeom>
          <a:solidFill>
            <a:srgbClr val="0057FF"/>
          </a:solidFill>
          <a:ln>
            <a:noFill/>
          </a:ln>
        </p:spPr>
        <p:txBody>
          <a:bodyPr wrap="square" lIns="0" tIns="0" rIns="0" bIns="0" rtlCol="0" anchor="ctr">
            <a:noAutofit/>
          </a:bodyPr>
          <a:lstStyle/>
          <a:p>
            <a:pPr algn="ctr">
              <a:spcAft>
                <a:spcPts val="0"/>
              </a:spcAft>
              <a:buNone/>
            </a:pPr>
            <a:r>
              <a:rPr lang="en-US" sz="2000" b="1" i="0" dirty="0">
                <a:solidFill>
                  <a:srgbClr val="FFFFFF"/>
                </a:solidFill>
                <a:latin typeface="Open Sauce"/>
                <a:ea typeface="Open Sauce"/>
                <a:cs typeface="Open Sauce"/>
              </a:rPr>
              <a:t>II</a:t>
            </a:r>
          </a:p>
        </p:txBody>
      </p:sp>
      <p:sp>
        <p:nvSpPr>
          <p:cNvPr id="303" name="Text 303"/>
          <p:cNvSpPr txBox="1"/>
          <p:nvPr/>
        </p:nvSpPr>
        <p:spPr>
          <a:xfrm>
            <a:off x="12938760" y="4709160"/>
            <a:ext cx="3840480" cy="1051560"/>
          </a:xfrm>
          <a:prstGeom prst="rect">
            <a:avLst/>
          </a:prstGeom>
          <a:noFill/>
          <a:ln>
            <a:noFill/>
          </a:ln>
        </p:spPr>
        <p:txBody>
          <a:bodyPr wrap="square" lIns="0" tIns="0" rIns="0" bIns="0" rtlCol="0" anchor="ctr">
            <a:noAutofit/>
          </a:bodyPr>
          <a:lstStyle/>
          <a:p>
            <a:pPr algn="l">
              <a:spcAft>
                <a:spcPts val="0"/>
              </a:spcAft>
              <a:buNone/>
            </a:pPr>
            <a:r>
              <a:rPr lang="en-US" sz="2400" b="1" i="0" dirty="0">
                <a:solidFill>
                  <a:srgbClr val="001C42"/>
                </a:solidFill>
                <a:latin typeface="Open Sauce"/>
                <a:ea typeface="Open Sauce"/>
                <a:cs typeface="Open Sauce"/>
              </a:rPr>
              <a:t>Capstone II</a:t>
            </a:r>
          </a:p>
        </p:txBody>
      </p:sp>
      <p:sp>
        <p:nvSpPr>
          <p:cNvPr id="304" name="Phase 304"/>
          <p:cNvSpPr/>
          <p:nvPr/>
        </p:nvSpPr>
        <p:spPr>
          <a:xfrm>
            <a:off x="11795760" y="6126480"/>
            <a:ext cx="5120640" cy="1234440"/>
          </a:xfrm>
          <a:prstGeom prst="roundRect">
            <a:avLst>
              <a:gd name="adj" fmla="val 30000"/>
            </a:avLst>
          </a:prstGeom>
          <a:solidFill>
            <a:srgbClr val="0057FF"/>
          </a:solidFill>
          <a:ln>
            <a:noFill/>
          </a:ln>
        </p:spPr>
        <p:txBody>
          <a:bodyPr wrap="square" lIns="182880" tIns="91440" rIns="182880" bIns="91440" rtlCol="0" anchor="t">
            <a:noAutofit/>
          </a:bodyPr>
          <a:lstStyle/>
          <a:p>
            <a:endParaRPr lang="en-US"/>
          </a:p>
        </p:txBody>
      </p:sp>
      <p:sp>
        <p:nvSpPr>
          <p:cNvPr id="305" name="Badge 305"/>
          <p:cNvSpPr/>
          <p:nvPr/>
        </p:nvSpPr>
        <p:spPr>
          <a:xfrm>
            <a:off x="12024360" y="6400800"/>
            <a:ext cx="685800" cy="685800"/>
          </a:xfrm>
          <a:prstGeom prst="ellipse">
            <a:avLst/>
          </a:prstGeom>
          <a:solidFill>
            <a:srgbClr val="FFFFFF"/>
          </a:solidFill>
          <a:ln>
            <a:noFill/>
          </a:ln>
        </p:spPr>
        <p:txBody>
          <a:bodyPr wrap="square" lIns="0" tIns="0" rIns="0" bIns="0" rtlCol="0" anchor="ctr">
            <a:noAutofit/>
          </a:bodyPr>
          <a:lstStyle/>
          <a:p>
            <a:pPr algn="ctr">
              <a:spcAft>
                <a:spcPts val="0"/>
              </a:spcAft>
              <a:buNone/>
            </a:pPr>
            <a:r>
              <a:rPr lang="en-US" sz="2000" b="1" i="0" dirty="0">
                <a:solidFill>
                  <a:srgbClr val="0057FF"/>
                </a:solidFill>
                <a:latin typeface="Open Sauce"/>
                <a:ea typeface="Open Sauce"/>
                <a:cs typeface="Open Sauce"/>
              </a:rPr>
              <a:t>III</a:t>
            </a:r>
          </a:p>
        </p:txBody>
      </p:sp>
      <p:sp>
        <p:nvSpPr>
          <p:cNvPr id="306" name="Text 306"/>
          <p:cNvSpPr txBox="1"/>
          <p:nvPr/>
        </p:nvSpPr>
        <p:spPr>
          <a:xfrm>
            <a:off x="12938760" y="6217920"/>
            <a:ext cx="3840480" cy="1051560"/>
          </a:xfrm>
          <a:prstGeom prst="rect">
            <a:avLst/>
          </a:prstGeom>
          <a:noFill/>
          <a:ln>
            <a:noFill/>
          </a:ln>
        </p:spPr>
        <p:txBody>
          <a:bodyPr wrap="square" lIns="0" tIns="0" rIns="0" bIns="0" rtlCol="0" anchor="ctr">
            <a:noAutofit/>
          </a:bodyPr>
          <a:lstStyle/>
          <a:p>
            <a:pPr algn="l">
              <a:spcAft>
                <a:spcPts val="0"/>
              </a:spcAft>
              <a:buNone/>
            </a:pPr>
            <a:r>
              <a:rPr lang="en-US" sz="2400" b="1" i="0" dirty="0">
                <a:solidFill>
                  <a:srgbClr val="FFFFFF"/>
                </a:solidFill>
                <a:latin typeface="Open Sauce"/>
                <a:ea typeface="Open Sauce"/>
                <a:cs typeface="Open Sauce"/>
              </a:rPr>
              <a:t>Capstone III</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8"/>
          <p:cNvSpPr/>
          <p:nvPr/>
        </p:nvSpPr>
        <p:spPr>
          <a:xfrm rot="4278348" flipH="1">
            <a:off x="9820102" y="-77655"/>
            <a:ext cx="13285086" cy="8203541"/>
          </a:xfrm>
          <a:custGeom>
            <a:avLst/>
            <a:gdLst/>
            <a:ahLst/>
            <a:cxnLst/>
            <a:rect l="l" t="t" r="r" b="b"/>
            <a:pathLst>
              <a:path w="13285086" h="8203541">
                <a:moveTo>
                  <a:pt x="13285087" y="0"/>
                </a:moveTo>
                <a:lnTo>
                  <a:pt x="0" y="0"/>
                </a:lnTo>
                <a:lnTo>
                  <a:pt x="0" y="8203541"/>
                </a:lnTo>
                <a:lnTo>
                  <a:pt x="13285087" y="8203541"/>
                </a:lnTo>
                <a:lnTo>
                  <a:pt x="13285087" y="0"/>
                </a:lnTo>
                <a:close/>
              </a:path>
            </a:pathLst>
          </a:custGeom>
          <a:blipFill>
            <a:blip r:embed="rId2"/>
            <a:stretch>
              <a:fillRect/>
            </a:stretch>
          </a:blipFill>
        </p:spPr>
      </p:sp>
      <p:sp>
        <p:nvSpPr>
          <p:cNvPr id="3" name="Freeform 19"/>
          <p:cNvSpPr/>
          <p:nvPr/>
        </p:nvSpPr>
        <p:spPr>
          <a:xfrm rot="-2429207">
            <a:off x="10047236" y="2855960"/>
            <a:ext cx="12128950" cy="7255317"/>
          </a:xfrm>
          <a:custGeom>
            <a:avLst/>
            <a:gdLst/>
            <a:ahLst/>
            <a:cxnLst/>
            <a:rect l="l" t="t" r="r" b="b"/>
            <a:pathLst>
              <a:path w="12128950" h="7255317">
                <a:moveTo>
                  <a:pt x="0" y="0"/>
                </a:moveTo>
                <a:lnTo>
                  <a:pt x="12128950" y="0"/>
                </a:lnTo>
                <a:lnTo>
                  <a:pt x="12128950" y="7255318"/>
                </a:lnTo>
                <a:lnTo>
                  <a:pt x="0" y="7255318"/>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20"/>
          <p:cNvSpPr/>
          <p:nvPr/>
        </p:nvSpPr>
        <p:spPr>
          <a:xfrm>
            <a:off x="16343296" y="177703"/>
            <a:ext cx="1832007" cy="850997"/>
          </a:xfrm>
          <a:custGeom>
            <a:avLst/>
            <a:gdLst/>
            <a:ahLst/>
            <a:cxnLst/>
            <a:rect l="l" t="t" r="r" b="b"/>
            <a:pathLst>
              <a:path w="1832007" h="850997">
                <a:moveTo>
                  <a:pt x="0" y="0"/>
                </a:moveTo>
                <a:lnTo>
                  <a:pt x="1832008" y="0"/>
                </a:lnTo>
                <a:lnTo>
                  <a:pt x="1832008" y="850997"/>
                </a:lnTo>
                <a:lnTo>
                  <a:pt x="0" y="850997"/>
                </a:lnTo>
                <a:lnTo>
                  <a:pt x="0" y="0"/>
                </a:lnTo>
                <a:close/>
              </a:path>
            </a:pathLst>
          </a:custGeom>
          <a:blipFill>
            <a:blip r:embed="rId4"/>
            <a:stretch>
              <a:fillRect/>
            </a:stretch>
          </a:blipFill>
        </p:spPr>
      </p:sp>
      <p:sp>
        <p:nvSpPr>
          <p:cNvPr id="5" name="Title 253"/>
          <p:cNvSpPr txBox="1"/>
          <p:nvPr/>
        </p:nvSpPr>
        <p:spPr>
          <a:xfrm>
            <a:off x="1005840" y="365760"/>
            <a:ext cx="14538960" cy="1280160"/>
          </a:xfrm>
          <a:prstGeom prst="rect">
            <a:avLst/>
          </a:prstGeom>
          <a:noFill/>
          <a:ln>
            <a:noFill/>
          </a:ln>
        </p:spPr>
        <p:txBody>
          <a:bodyPr wrap="square" lIns="0" tIns="0" rIns="0" bIns="0" rtlCol="0" anchor="ctr">
            <a:noAutofit/>
          </a:bodyPr>
          <a:lstStyle/>
          <a:p>
            <a:pPr algn="l">
              <a:spcAft>
                <a:spcPts val="0"/>
              </a:spcAft>
              <a:buNone/>
            </a:pPr>
            <a:r>
              <a:rPr lang="en-US" sz="5600" b="0" i="0" dirty="0">
                <a:gradFill>
                  <a:gsLst>
                    <a:gs pos="0">
                      <a:srgbClr val="0057FF"/>
                    </a:gs>
                    <a:gs pos="100000">
                      <a:srgbClr val="001C42"/>
                    </a:gs>
                  </a:gsLst>
                  <a:lin ang="2700000"/>
                </a:gradFill>
                <a:latin typeface="Intro"/>
                <a:ea typeface="Intro"/>
                <a:cs typeface="Intro"/>
              </a:rPr>
              <a:t>Capstone Project Timeline Gantt Chart</a:t>
            </a:r>
          </a:p>
        </p:txBody>
      </p:sp>
      <p:sp>
        <p:nvSpPr>
          <p:cNvPr id="6" name="Gantt panel"/>
          <p:cNvSpPr/>
          <p:nvPr/>
        </p:nvSpPr>
        <p:spPr>
          <a:xfrm>
            <a:off x="1005840" y="1830000"/>
            <a:ext cx="16270000" cy="8100000"/>
          </a:xfrm>
          <a:prstGeom prst="roundRect">
            <a:avLst>
              <a:gd name="adj" fmla="val 2500"/>
            </a:avLst>
          </a:prstGeom>
          <a:solidFill>
            <a:srgbClr val="FFFFFF">
              <a:alpha val="93000"/>
            </a:srgbClr>
          </a:solidFill>
          <a:ln w="19050">
            <a:gradFill>
              <a:gsLst>
                <a:gs pos="0">
                  <a:srgbClr val="0057FF"/>
                </a:gs>
                <a:gs pos="100000">
                  <a:srgbClr val="001C42"/>
                </a:gs>
              </a:gsLst>
              <a:lin ang="2700000"/>
            </a:gradFill>
          </a:ln>
        </p:spPr>
        <p:txBody>
          <a:bodyPr rtlCol="0" anchor="ctr"/>
          <a:lstStyle/>
          <a:p>
            <a:pPr algn="ctr"/>
            <a:endParaRPr/>
          </a:p>
        </p:txBody>
      </p:sp>
      <p:sp>
        <p:nvSpPr>
          <p:cNvPr id="7" name="Header Task"/>
          <p:cNvSpPr/>
          <p:nvPr/>
        </p:nvSpPr>
        <p:spPr>
          <a:xfrm>
            <a:off x="1265840" y="1960000"/>
            <a:ext cx="3500000" cy="800000"/>
          </a:xfrm>
          <a:prstGeom prst="rect">
            <a:avLst/>
          </a:prstGeom>
          <a:noFill/>
          <a:ln>
            <a:noFill/>
          </a:ln>
        </p:spPr>
        <p:txBody>
          <a:bodyPr wrap="square" lIns="0" tIns="0" rIns="0" bIns="0" rtlCol="0" anchor="ctr"/>
          <a:lstStyle/>
          <a:p>
            <a:pPr algn="l"/>
            <a:r>
              <a:rPr sz="1800" b="1">
                <a:solidFill>
                  <a:srgbClr val="001C42"/>
                </a:solidFill>
                <a:latin typeface="Open Sauce"/>
                <a:ea typeface="Open Sauce"/>
                <a:cs typeface="Open Sauce"/>
              </a:rPr>
              <a:t>Task</a:t>
            </a:r>
          </a:p>
        </p:txBody>
      </p:sp>
      <p:sp>
        <p:nvSpPr>
          <p:cNvPr id="8" name="Semester 5"/>
          <p:cNvSpPr/>
          <p:nvPr/>
        </p:nvSpPr>
        <p:spPr>
          <a:xfrm>
            <a:off x="6365000" y="1960000"/>
            <a:ext cx="3525280" cy="400000"/>
          </a:xfrm>
          <a:prstGeom prst="roundRect">
            <a:avLst>
              <a:gd name="adj" fmla="val 20000"/>
            </a:avLst>
          </a:prstGeom>
          <a:gradFill>
            <a:gsLst>
              <a:gs pos="0">
                <a:srgbClr val="0057FF"/>
              </a:gs>
              <a:gs pos="100000">
                <a:srgbClr val="001C42"/>
              </a:gs>
            </a:gsLst>
            <a:lin ang="2700000"/>
          </a:gradFill>
          <a:ln>
            <a:noFill/>
          </a:ln>
        </p:spPr>
        <p:txBody>
          <a:bodyPr wrap="square" lIns="0" tIns="0" rIns="0" bIns="0" rtlCol="0" anchor="ctr"/>
          <a:lstStyle/>
          <a:p>
            <a:pPr algn="ctr"/>
            <a:r>
              <a:rPr sz="1600" b="1">
                <a:solidFill>
                  <a:srgbClr val="FFFFFF"/>
                </a:solidFill>
                <a:latin typeface="Open Sauce"/>
                <a:ea typeface="Open Sauce"/>
                <a:cs typeface="Open Sauce"/>
              </a:rPr>
              <a:t>Semester 5</a:t>
            </a:r>
          </a:p>
        </p:txBody>
      </p:sp>
      <p:sp>
        <p:nvSpPr>
          <p:cNvPr id="9" name="Semester 6"/>
          <p:cNvSpPr/>
          <p:nvPr/>
        </p:nvSpPr>
        <p:spPr>
          <a:xfrm>
            <a:off x="9920280" y="1960000"/>
            <a:ext cx="3525280" cy="400000"/>
          </a:xfrm>
          <a:prstGeom prst="roundRect">
            <a:avLst>
              <a:gd name="adj" fmla="val 20000"/>
            </a:avLst>
          </a:prstGeom>
          <a:gradFill>
            <a:gsLst>
              <a:gs pos="0">
                <a:srgbClr val="0057FF"/>
              </a:gs>
              <a:gs pos="100000">
                <a:srgbClr val="001C42"/>
              </a:gs>
            </a:gsLst>
            <a:lin ang="2700000"/>
          </a:gradFill>
          <a:ln>
            <a:noFill/>
          </a:ln>
        </p:spPr>
        <p:txBody>
          <a:bodyPr wrap="square" lIns="0" tIns="0" rIns="0" bIns="0" rtlCol="0" anchor="ctr"/>
          <a:lstStyle/>
          <a:p>
            <a:pPr algn="ctr"/>
            <a:r>
              <a:rPr sz="1600" b="1">
                <a:solidFill>
                  <a:srgbClr val="FFFFFF"/>
                </a:solidFill>
                <a:latin typeface="Open Sauce"/>
                <a:ea typeface="Open Sauce"/>
                <a:cs typeface="Open Sauce"/>
              </a:rPr>
              <a:t>Semester 6</a:t>
            </a:r>
          </a:p>
        </p:txBody>
      </p:sp>
      <p:sp>
        <p:nvSpPr>
          <p:cNvPr id="10" name="Semester 7"/>
          <p:cNvSpPr/>
          <p:nvPr/>
        </p:nvSpPr>
        <p:spPr>
          <a:xfrm>
            <a:off x="13475560" y="1960000"/>
            <a:ext cx="3525280" cy="400000"/>
          </a:xfrm>
          <a:prstGeom prst="roundRect">
            <a:avLst>
              <a:gd name="adj" fmla="val 20000"/>
            </a:avLst>
          </a:prstGeom>
          <a:gradFill>
            <a:gsLst>
              <a:gs pos="0">
                <a:srgbClr val="0057FF"/>
              </a:gs>
              <a:gs pos="100000">
                <a:srgbClr val="001C42"/>
              </a:gs>
            </a:gsLst>
            <a:lin ang="2700000"/>
          </a:gradFill>
          <a:ln>
            <a:noFill/>
          </a:ln>
        </p:spPr>
        <p:txBody>
          <a:bodyPr wrap="square" lIns="0" tIns="0" rIns="0" bIns="0" rtlCol="0" anchor="ctr"/>
          <a:lstStyle/>
          <a:p>
            <a:pPr algn="ctr"/>
            <a:r>
              <a:rPr sz="1600" b="1">
                <a:solidFill>
                  <a:srgbClr val="FFFFFF"/>
                </a:solidFill>
                <a:latin typeface="Open Sauce"/>
                <a:ea typeface="Open Sauce"/>
                <a:cs typeface="Open Sauce"/>
              </a:rPr>
              <a:t>Semester 7</a:t>
            </a:r>
          </a:p>
        </p:txBody>
      </p:sp>
      <p:sp>
        <p:nvSpPr>
          <p:cNvPr id="11" name="Month 1"/>
          <p:cNvSpPr/>
          <p:nvPr/>
        </p:nvSpPr>
        <p:spPr>
          <a:xfrm>
            <a:off x="6365000" y="2360000"/>
            <a:ext cx="681056" cy="400000"/>
          </a:xfrm>
          <a:prstGeom prst="roundRect">
            <a:avLst>
              <a:gd name="adj" fmla="val 20000"/>
            </a:avLst>
          </a:prstGeom>
          <a:solidFill>
            <a:srgbClr val="0057FF">
              <a:alpha val="14000"/>
            </a:srgbClr>
          </a:solidFill>
          <a:ln>
            <a:noFill/>
          </a:ln>
        </p:spPr>
        <p:txBody>
          <a:bodyPr wrap="square" lIns="0" tIns="0" rIns="0" bIns="0" rtlCol="0" anchor="ctr"/>
          <a:lstStyle/>
          <a:p>
            <a:pPr algn="ctr"/>
            <a:r>
              <a:rPr sz="1500" b="1">
                <a:solidFill>
                  <a:srgbClr val="001C42"/>
                </a:solidFill>
                <a:latin typeface="Open Sauce"/>
                <a:ea typeface="Open Sauce"/>
                <a:cs typeface="Open Sauce"/>
              </a:rPr>
              <a:t>Aug</a:t>
            </a:r>
          </a:p>
        </p:txBody>
      </p:sp>
      <p:sp>
        <p:nvSpPr>
          <p:cNvPr id="12" name="Month 2"/>
          <p:cNvSpPr/>
          <p:nvPr/>
        </p:nvSpPr>
        <p:spPr>
          <a:xfrm>
            <a:off x="7076056" y="2360000"/>
            <a:ext cx="681056" cy="400000"/>
          </a:xfrm>
          <a:prstGeom prst="roundRect">
            <a:avLst>
              <a:gd name="adj" fmla="val 20000"/>
            </a:avLst>
          </a:prstGeom>
          <a:solidFill>
            <a:srgbClr val="0057FF">
              <a:alpha val="14000"/>
            </a:srgbClr>
          </a:solidFill>
          <a:ln>
            <a:noFill/>
          </a:ln>
        </p:spPr>
        <p:txBody>
          <a:bodyPr wrap="square" lIns="0" tIns="0" rIns="0" bIns="0" rtlCol="0" anchor="ctr"/>
          <a:lstStyle/>
          <a:p>
            <a:pPr algn="ctr"/>
            <a:r>
              <a:rPr sz="1500" b="1">
                <a:solidFill>
                  <a:srgbClr val="001C42"/>
                </a:solidFill>
                <a:latin typeface="Open Sauce"/>
                <a:ea typeface="Open Sauce"/>
                <a:cs typeface="Open Sauce"/>
              </a:rPr>
              <a:t>Sep</a:t>
            </a:r>
          </a:p>
        </p:txBody>
      </p:sp>
      <p:sp>
        <p:nvSpPr>
          <p:cNvPr id="13" name="Month 3"/>
          <p:cNvSpPr/>
          <p:nvPr/>
        </p:nvSpPr>
        <p:spPr>
          <a:xfrm>
            <a:off x="7787112" y="2360000"/>
            <a:ext cx="681056" cy="400000"/>
          </a:xfrm>
          <a:prstGeom prst="roundRect">
            <a:avLst>
              <a:gd name="adj" fmla="val 20000"/>
            </a:avLst>
          </a:prstGeom>
          <a:solidFill>
            <a:srgbClr val="0057FF">
              <a:alpha val="14000"/>
            </a:srgbClr>
          </a:solidFill>
          <a:ln>
            <a:noFill/>
          </a:ln>
        </p:spPr>
        <p:txBody>
          <a:bodyPr wrap="square" lIns="0" tIns="0" rIns="0" bIns="0" rtlCol="0" anchor="ctr"/>
          <a:lstStyle/>
          <a:p>
            <a:pPr algn="ctr"/>
            <a:r>
              <a:rPr sz="1500" b="1">
                <a:solidFill>
                  <a:srgbClr val="001C42"/>
                </a:solidFill>
                <a:latin typeface="Open Sauce"/>
                <a:ea typeface="Open Sauce"/>
                <a:cs typeface="Open Sauce"/>
              </a:rPr>
              <a:t>Oct</a:t>
            </a:r>
          </a:p>
        </p:txBody>
      </p:sp>
      <p:sp>
        <p:nvSpPr>
          <p:cNvPr id="14" name="Month 4"/>
          <p:cNvSpPr/>
          <p:nvPr/>
        </p:nvSpPr>
        <p:spPr>
          <a:xfrm>
            <a:off x="8498168" y="2360000"/>
            <a:ext cx="681056" cy="400000"/>
          </a:xfrm>
          <a:prstGeom prst="roundRect">
            <a:avLst>
              <a:gd name="adj" fmla="val 20000"/>
            </a:avLst>
          </a:prstGeom>
          <a:solidFill>
            <a:srgbClr val="0057FF">
              <a:alpha val="14000"/>
            </a:srgbClr>
          </a:solidFill>
          <a:ln>
            <a:noFill/>
          </a:ln>
        </p:spPr>
        <p:txBody>
          <a:bodyPr wrap="square" lIns="0" tIns="0" rIns="0" bIns="0" rtlCol="0" anchor="ctr"/>
          <a:lstStyle/>
          <a:p>
            <a:pPr algn="ctr"/>
            <a:r>
              <a:rPr sz="1500" b="1">
                <a:solidFill>
                  <a:srgbClr val="001C42"/>
                </a:solidFill>
                <a:latin typeface="Open Sauce"/>
                <a:ea typeface="Open Sauce"/>
                <a:cs typeface="Open Sauce"/>
              </a:rPr>
              <a:t>Nov</a:t>
            </a:r>
          </a:p>
        </p:txBody>
      </p:sp>
      <p:sp>
        <p:nvSpPr>
          <p:cNvPr id="15" name="Month 5"/>
          <p:cNvSpPr/>
          <p:nvPr/>
        </p:nvSpPr>
        <p:spPr>
          <a:xfrm>
            <a:off x="9209224" y="2360000"/>
            <a:ext cx="681056" cy="400000"/>
          </a:xfrm>
          <a:prstGeom prst="roundRect">
            <a:avLst>
              <a:gd name="adj" fmla="val 20000"/>
            </a:avLst>
          </a:prstGeom>
          <a:solidFill>
            <a:srgbClr val="0057FF">
              <a:alpha val="14000"/>
            </a:srgbClr>
          </a:solidFill>
          <a:ln>
            <a:noFill/>
          </a:ln>
        </p:spPr>
        <p:txBody>
          <a:bodyPr wrap="square" lIns="0" tIns="0" rIns="0" bIns="0" rtlCol="0" anchor="ctr"/>
          <a:lstStyle/>
          <a:p>
            <a:pPr algn="ctr"/>
            <a:r>
              <a:rPr sz="1500" b="1">
                <a:solidFill>
                  <a:srgbClr val="001C42"/>
                </a:solidFill>
                <a:latin typeface="Open Sauce"/>
                <a:ea typeface="Open Sauce"/>
                <a:cs typeface="Open Sauce"/>
              </a:rPr>
              <a:t>Dec</a:t>
            </a:r>
          </a:p>
        </p:txBody>
      </p:sp>
      <p:sp>
        <p:nvSpPr>
          <p:cNvPr id="16" name="Month 6"/>
          <p:cNvSpPr/>
          <p:nvPr/>
        </p:nvSpPr>
        <p:spPr>
          <a:xfrm>
            <a:off x="9920280" y="2360000"/>
            <a:ext cx="681056" cy="400000"/>
          </a:xfrm>
          <a:prstGeom prst="roundRect">
            <a:avLst>
              <a:gd name="adj" fmla="val 20000"/>
            </a:avLst>
          </a:prstGeom>
          <a:solidFill>
            <a:srgbClr val="0057FF">
              <a:alpha val="14000"/>
            </a:srgbClr>
          </a:solidFill>
          <a:ln>
            <a:noFill/>
          </a:ln>
        </p:spPr>
        <p:txBody>
          <a:bodyPr wrap="square" lIns="0" tIns="0" rIns="0" bIns="0" rtlCol="0" anchor="ctr"/>
          <a:lstStyle/>
          <a:p>
            <a:pPr algn="ctr"/>
            <a:r>
              <a:rPr sz="1500" b="1">
                <a:solidFill>
                  <a:srgbClr val="001C42"/>
                </a:solidFill>
                <a:latin typeface="Open Sauce"/>
                <a:ea typeface="Open Sauce"/>
                <a:cs typeface="Open Sauce"/>
              </a:rPr>
              <a:t>Jan</a:t>
            </a:r>
          </a:p>
        </p:txBody>
      </p:sp>
      <p:sp>
        <p:nvSpPr>
          <p:cNvPr id="17" name="Month 7"/>
          <p:cNvSpPr/>
          <p:nvPr/>
        </p:nvSpPr>
        <p:spPr>
          <a:xfrm>
            <a:off x="10631336" y="2360000"/>
            <a:ext cx="681056" cy="400000"/>
          </a:xfrm>
          <a:prstGeom prst="roundRect">
            <a:avLst>
              <a:gd name="adj" fmla="val 20000"/>
            </a:avLst>
          </a:prstGeom>
          <a:solidFill>
            <a:srgbClr val="0057FF">
              <a:alpha val="14000"/>
            </a:srgbClr>
          </a:solidFill>
          <a:ln>
            <a:noFill/>
          </a:ln>
        </p:spPr>
        <p:txBody>
          <a:bodyPr wrap="square" lIns="0" tIns="0" rIns="0" bIns="0" rtlCol="0" anchor="ctr"/>
          <a:lstStyle/>
          <a:p>
            <a:pPr algn="ctr"/>
            <a:r>
              <a:rPr sz="1500" b="1">
                <a:solidFill>
                  <a:srgbClr val="001C42"/>
                </a:solidFill>
                <a:latin typeface="Open Sauce"/>
                <a:ea typeface="Open Sauce"/>
                <a:cs typeface="Open Sauce"/>
              </a:rPr>
              <a:t>Feb</a:t>
            </a:r>
          </a:p>
        </p:txBody>
      </p:sp>
      <p:sp>
        <p:nvSpPr>
          <p:cNvPr id="18" name="Month 8"/>
          <p:cNvSpPr/>
          <p:nvPr/>
        </p:nvSpPr>
        <p:spPr>
          <a:xfrm>
            <a:off x="11342392" y="2360000"/>
            <a:ext cx="681056" cy="400000"/>
          </a:xfrm>
          <a:prstGeom prst="roundRect">
            <a:avLst>
              <a:gd name="adj" fmla="val 20000"/>
            </a:avLst>
          </a:prstGeom>
          <a:solidFill>
            <a:srgbClr val="0057FF">
              <a:alpha val="14000"/>
            </a:srgbClr>
          </a:solidFill>
          <a:ln>
            <a:noFill/>
          </a:ln>
        </p:spPr>
        <p:txBody>
          <a:bodyPr wrap="square" lIns="0" tIns="0" rIns="0" bIns="0" rtlCol="0" anchor="ctr"/>
          <a:lstStyle/>
          <a:p>
            <a:pPr algn="ctr"/>
            <a:r>
              <a:rPr sz="1500" b="1">
                <a:solidFill>
                  <a:srgbClr val="001C42"/>
                </a:solidFill>
                <a:latin typeface="Open Sauce"/>
                <a:ea typeface="Open Sauce"/>
                <a:cs typeface="Open Sauce"/>
              </a:rPr>
              <a:t>Mar</a:t>
            </a:r>
          </a:p>
        </p:txBody>
      </p:sp>
      <p:sp>
        <p:nvSpPr>
          <p:cNvPr id="19" name="Month 9"/>
          <p:cNvSpPr/>
          <p:nvPr/>
        </p:nvSpPr>
        <p:spPr>
          <a:xfrm>
            <a:off x="12053448" y="2360000"/>
            <a:ext cx="681056" cy="400000"/>
          </a:xfrm>
          <a:prstGeom prst="roundRect">
            <a:avLst>
              <a:gd name="adj" fmla="val 20000"/>
            </a:avLst>
          </a:prstGeom>
          <a:solidFill>
            <a:srgbClr val="0057FF">
              <a:alpha val="14000"/>
            </a:srgbClr>
          </a:solidFill>
          <a:ln>
            <a:noFill/>
          </a:ln>
        </p:spPr>
        <p:txBody>
          <a:bodyPr wrap="square" lIns="0" tIns="0" rIns="0" bIns="0" rtlCol="0" anchor="ctr"/>
          <a:lstStyle/>
          <a:p>
            <a:pPr algn="ctr"/>
            <a:r>
              <a:rPr sz="1500" b="1">
                <a:solidFill>
                  <a:srgbClr val="001C42"/>
                </a:solidFill>
                <a:latin typeface="Open Sauce"/>
                <a:ea typeface="Open Sauce"/>
                <a:cs typeface="Open Sauce"/>
              </a:rPr>
              <a:t>Apr</a:t>
            </a:r>
          </a:p>
        </p:txBody>
      </p:sp>
      <p:sp>
        <p:nvSpPr>
          <p:cNvPr id="20" name="Month 10"/>
          <p:cNvSpPr/>
          <p:nvPr/>
        </p:nvSpPr>
        <p:spPr>
          <a:xfrm>
            <a:off x="12764504" y="2360000"/>
            <a:ext cx="681056" cy="400000"/>
          </a:xfrm>
          <a:prstGeom prst="roundRect">
            <a:avLst>
              <a:gd name="adj" fmla="val 20000"/>
            </a:avLst>
          </a:prstGeom>
          <a:solidFill>
            <a:srgbClr val="0057FF">
              <a:alpha val="14000"/>
            </a:srgbClr>
          </a:solidFill>
          <a:ln>
            <a:noFill/>
          </a:ln>
        </p:spPr>
        <p:txBody>
          <a:bodyPr wrap="square" lIns="0" tIns="0" rIns="0" bIns="0" rtlCol="0" anchor="ctr"/>
          <a:lstStyle/>
          <a:p>
            <a:pPr algn="ctr"/>
            <a:r>
              <a:rPr sz="1500" b="1">
                <a:solidFill>
                  <a:srgbClr val="001C42"/>
                </a:solidFill>
                <a:latin typeface="Open Sauce"/>
                <a:ea typeface="Open Sauce"/>
                <a:cs typeface="Open Sauce"/>
              </a:rPr>
              <a:t>May</a:t>
            </a:r>
          </a:p>
        </p:txBody>
      </p:sp>
      <p:sp>
        <p:nvSpPr>
          <p:cNvPr id="21" name="Month 11"/>
          <p:cNvSpPr/>
          <p:nvPr/>
        </p:nvSpPr>
        <p:spPr>
          <a:xfrm>
            <a:off x="13475560" y="2360000"/>
            <a:ext cx="681056" cy="400000"/>
          </a:xfrm>
          <a:prstGeom prst="roundRect">
            <a:avLst>
              <a:gd name="adj" fmla="val 20000"/>
            </a:avLst>
          </a:prstGeom>
          <a:solidFill>
            <a:srgbClr val="0057FF">
              <a:alpha val="14000"/>
            </a:srgbClr>
          </a:solidFill>
          <a:ln>
            <a:noFill/>
          </a:ln>
        </p:spPr>
        <p:txBody>
          <a:bodyPr wrap="square" lIns="0" tIns="0" rIns="0" bIns="0" rtlCol="0" anchor="ctr"/>
          <a:lstStyle/>
          <a:p>
            <a:pPr algn="ctr"/>
            <a:r>
              <a:rPr sz="1500" b="1">
                <a:solidFill>
                  <a:srgbClr val="001C42"/>
                </a:solidFill>
                <a:latin typeface="Open Sauce"/>
                <a:ea typeface="Open Sauce"/>
                <a:cs typeface="Open Sauce"/>
              </a:rPr>
              <a:t>Aug</a:t>
            </a:r>
          </a:p>
        </p:txBody>
      </p:sp>
      <p:sp>
        <p:nvSpPr>
          <p:cNvPr id="22" name="Month 12"/>
          <p:cNvSpPr/>
          <p:nvPr/>
        </p:nvSpPr>
        <p:spPr>
          <a:xfrm>
            <a:off x="14186616" y="2360000"/>
            <a:ext cx="681056" cy="400000"/>
          </a:xfrm>
          <a:prstGeom prst="roundRect">
            <a:avLst>
              <a:gd name="adj" fmla="val 20000"/>
            </a:avLst>
          </a:prstGeom>
          <a:solidFill>
            <a:srgbClr val="0057FF">
              <a:alpha val="14000"/>
            </a:srgbClr>
          </a:solidFill>
          <a:ln>
            <a:noFill/>
          </a:ln>
        </p:spPr>
        <p:txBody>
          <a:bodyPr wrap="square" lIns="0" tIns="0" rIns="0" bIns="0" rtlCol="0" anchor="ctr"/>
          <a:lstStyle/>
          <a:p>
            <a:pPr algn="ctr"/>
            <a:r>
              <a:rPr sz="1500" b="1">
                <a:solidFill>
                  <a:srgbClr val="001C42"/>
                </a:solidFill>
                <a:latin typeface="Open Sauce"/>
                <a:ea typeface="Open Sauce"/>
                <a:cs typeface="Open Sauce"/>
              </a:rPr>
              <a:t>Sep</a:t>
            </a:r>
          </a:p>
        </p:txBody>
      </p:sp>
      <p:sp>
        <p:nvSpPr>
          <p:cNvPr id="23" name="Month 13"/>
          <p:cNvSpPr/>
          <p:nvPr/>
        </p:nvSpPr>
        <p:spPr>
          <a:xfrm>
            <a:off x="14897672" y="2360000"/>
            <a:ext cx="681056" cy="400000"/>
          </a:xfrm>
          <a:prstGeom prst="roundRect">
            <a:avLst>
              <a:gd name="adj" fmla="val 20000"/>
            </a:avLst>
          </a:prstGeom>
          <a:solidFill>
            <a:srgbClr val="0057FF">
              <a:alpha val="14000"/>
            </a:srgbClr>
          </a:solidFill>
          <a:ln>
            <a:noFill/>
          </a:ln>
        </p:spPr>
        <p:txBody>
          <a:bodyPr wrap="square" lIns="0" tIns="0" rIns="0" bIns="0" rtlCol="0" anchor="ctr"/>
          <a:lstStyle/>
          <a:p>
            <a:pPr algn="ctr"/>
            <a:r>
              <a:rPr sz="1500" b="1">
                <a:solidFill>
                  <a:srgbClr val="001C42"/>
                </a:solidFill>
                <a:latin typeface="Open Sauce"/>
                <a:ea typeface="Open Sauce"/>
                <a:cs typeface="Open Sauce"/>
              </a:rPr>
              <a:t>Oct</a:t>
            </a:r>
          </a:p>
        </p:txBody>
      </p:sp>
      <p:sp>
        <p:nvSpPr>
          <p:cNvPr id="24" name="Month 14"/>
          <p:cNvSpPr/>
          <p:nvPr/>
        </p:nvSpPr>
        <p:spPr>
          <a:xfrm>
            <a:off x="15608728" y="2360000"/>
            <a:ext cx="681056" cy="400000"/>
          </a:xfrm>
          <a:prstGeom prst="roundRect">
            <a:avLst>
              <a:gd name="adj" fmla="val 20000"/>
            </a:avLst>
          </a:prstGeom>
          <a:solidFill>
            <a:srgbClr val="0057FF">
              <a:alpha val="14000"/>
            </a:srgbClr>
          </a:solidFill>
          <a:ln>
            <a:noFill/>
          </a:ln>
        </p:spPr>
        <p:txBody>
          <a:bodyPr wrap="square" lIns="0" tIns="0" rIns="0" bIns="0" rtlCol="0" anchor="ctr"/>
          <a:lstStyle/>
          <a:p>
            <a:pPr algn="ctr"/>
            <a:r>
              <a:rPr sz="1500" b="1">
                <a:solidFill>
                  <a:srgbClr val="001C42"/>
                </a:solidFill>
                <a:latin typeface="Open Sauce"/>
                <a:ea typeface="Open Sauce"/>
                <a:cs typeface="Open Sauce"/>
              </a:rPr>
              <a:t>Nov</a:t>
            </a:r>
          </a:p>
        </p:txBody>
      </p:sp>
      <p:sp>
        <p:nvSpPr>
          <p:cNvPr id="25" name="Month 15"/>
          <p:cNvSpPr/>
          <p:nvPr/>
        </p:nvSpPr>
        <p:spPr>
          <a:xfrm>
            <a:off x="16319784" y="2360000"/>
            <a:ext cx="681056" cy="400000"/>
          </a:xfrm>
          <a:prstGeom prst="roundRect">
            <a:avLst>
              <a:gd name="adj" fmla="val 20000"/>
            </a:avLst>
          </a:prstGeom>
          <a:solidFill>
            <a:srgbClr val="0057FF">
              <a:alpha val="14000"/>
            </a:srgbClr>
          </a:solidFill>
          <a:ln>
            <a:noFill/>
          </a:ln>
        </p:spPr>
        <p:txBody>
          <a:bodyPr wrap="square" lIns="0" tIns="0" rIns="0" bIns="0" rtlCol="0" anchor="ctr"/>
          <a:lstStyle/>
          <a:p>
            <a:pPr algn="ctr"/>
            <a:r>
              <a:rPr sz="1500" b="1">
                <a:solidFill>
                  <a:srgbClr val="001C42"/>
                </a:solidFill>
                <a:latin typeface="Open Sauce"/>
                <a:ea typeface="Open Sauce"/>
                <a:cs typeface="Open Sauce"/>
              </a:rPr>
              <a:t>Dec</a:t>
            </a:r>
          </a:p>
        </p:txBody>
      </p:sp>
      <p:sp>
        <p:nvSpPr>
          <p:cNvPr id="26" name="Row band 1"/>
          <p:cNvSpPr/>
          <p:nvPr/>
        </p:nvSpPr>
        <p:spPr>
          <a:xfrm>
            <a:off x="1165840" y="2820000"/>
            <a:ext cx="15850000" cy="304090"/>
          </a:xfrm>
          <a:prstGeom prst="rect">
            <a:avLst/>
          </a:prstGeom>
          <a:solidFill>
            <a:srgbClr val="0057FF">
              <a:alpha val="6000"/>
            </a:srgbClr>
          </a:solidFill>
          <a:ln>
            <a:noFill/>
          </a:ln>
        </p:spPr>
        <p:txBody>
          <a:bodyPr rtlCol="0" anchor="ctr"/>
          <a:lstStyle/>
          <a:p>
            <a:pPr algn="ctr"/>
            <a:endParaRPr/>
          </a:p>
        </p:txBody>
      </p:sp>
      <p:sp>
        <p:nvSpPr>
          <p:cNvPr id="27" name="Row band 3"/>
          <p:cNvSpPr/>
          <p:nvPr/>
        </p:nvSpPr>
        <p:spPr>
          <a:xfrm>
            <a:off x="1165840" y="3428181"/>
            <a:ext cx="15850000" cy="304090"/>
          </a:xfrm>
          <a:prstGeom prst="rect">
            <a:avLst/>
          </a:prstGeom>
          <a:solidFill>
            <a:srgbClr val="0057FF">
              <a:alpha val="6000"/>
            </a:srgbClr>
          </a:solidFill>
          <a:ln>
            <a:noFill/>
          </a:ln>
        </p:spPr>
        <p:txBody>
          <a:bodyPr rtlCol="0" anchor="ctr"/>
          <a:lstStyle/>
          <a:p>
            <a:pPr algn="ctr"/>
            <a:endParaRPr/>
          </a:p>
        </p:txBody>
      </p:sp>
      <p:sp>
        <p:nvSpPr>
          <p:cNvPr id="28" name="Row band 5"/>
          <p:cNvSpPr/>
          <p:nvPr/>
        </p:nvSpPr>
        <p:spPr>
          <a:xfrm>
            <a:off x="1165840" y="4036363"/>
            <a:ext cx="15850000" cy="304090"/>
          </a:xfrm>
          <a:prstGeom prst="rect">
            <a:avLst/>
          </a:prstGeom>
          <a:solidFill>
            <a:srgbClr val="0057FF">
              <a:alpha val="6000"/>
            </a:srgbClr>
          </a:solidFill>
          <a:ln>
            <a:noFill/>
          </a:ln>
        </p:spPr>
        <p:txBody>
          <a:bodyPr rtlCol="0" anchor="ctr"/>
          <a:lstStyle/>
          <a:p>
            <a:pPr algn="ctr"/>
            <a:endParaRPr/>
          </a:p>
        </p:txBody>
      </p:sp>
      <p:sp>
        <p:nvSpPr>
          <p:cNvPr id="29" name="Row band 7"/>
          <p:cNvSpPr/>
          <p:nvPr/>
        </p:nvSpPr>
        <p:spPr>
          <a:xfrm>
            <a:off x="1165840" y="4644545"/>
            <a:ext cx="15850000" cy="304090"/>
          </a:xfrm>
          <a:prstGeom prst="rect">
            <a:avLst/>
          </a:prstGeom>
          <a:solidFill>
            <a:srgbClr val="0057FF">
              <a:alpha val="6000"/>
            </a:srgbClr>
          </a:solidFill>
          <a:ln>
            <a:noFill/>
          </a:ln>
        </p:spPr>
        <p:txBody>
          <a:bodyPr rtlCol="0" anchor="ctr"/>
          <a:lstStyle/>
          <a:p>
            <a:pPr algn="ctr"/>
            <a:endParaRPr/>
          </a:p>
        </p:txBody>
      </p:sp>
      <p:sp>
        <p:nvSpPr>
          <p:cNvPr id="30" name="Row band 9"/>
          <p:cNvSpPr/>
          <p:nvPr/>
        </p:nvSpPr>
        <p:spPr>
          <a:xfrm>
            <a:off x="1165840" y="5252727"/>
            <a:ext cx="15850000" cy="304090"/>
          </a:xfrm>
          <a:prstGeom prst="rect">
            <a:avLst/>
          </a:prstGeom>
          <a:solidFill>
            <a:srgbClr val="0057FF">
              <a:alpha val="6000"/>
            </a:srgbClr>
          </a:solidFill>
          <a:ln>
            <a:noFill/>
          </a:ln>
        </p:spPr>
        <p:txBody>
          <a:bodyPr rtlCol="0" anchor="ctr"/>
          <a:lstStyle/>
          <a:p>
            <a:pPr algn="ctr"/>
            <a:endParaRPr/>
          </a:p>
        </p:txBody>
      </p:sp>
      <p:sp>
        <p:nvSpPr>
          <p:cNvPr id="31" name="Row band 11"/>
          <p:cNvSpPr/>
          <p:nvPr/>
        </p:nvSpPr>
        <p:spPr>
          <a:xfrm>
            <a:off x="1165840" y="5860909"/>
            <a:ext cx="15850000" cy="304090"/>
          </a:xfrm>
          <a:prstGeom prst="rect">
            <a:avLst/>
          </a:prstGeom>
          <a:solidFill>
            <a:srgbClr val="0057FF">
              <a:alpha val="6000"/>
            </a:srgbClr>
          </a:solidFill>
          <a:ln>
            <a:noFill/>
          </a:ln>
        </p:spPr>
        <p:txBody>
          <a:bodyPr rtlCol="0" anchor="ctr"/>
          <a:lstStyle/>
          <a:p>
            <a:pPr algn="ctr"/>
            <a:endParaRPr/>
          </a:p>
        </p:txBody>
      </p:sp>
      <p:sp>
        <p:nvSpPr>
          <p:cNvPr id="32" name="Row band 13"/>
          <p:cNvSpPr/>
          <p:nvPr/>
        </p:nvSpPr>
        <p:spPr>
          <a:xfrm>
            <a:off x="1165840" y="6469090"/>
            <a:ext cx="15850000" cy="304090"/>
          </a:xfrm>
          <a:prstGeom prst="rect">
            <a:avLst/>
          </a:prstGeom>
          <a:solidFill>
            <a:srgbClr val="0057FF">
              <a:alpha val="6000"/>
            </a:srgbClr>
          </a:solidFill>
          <a:ln>
            <a:noFill/>
          </a:ln>
        </p:spPr>
        <p:txBody>
          <a:bodyPr rtlCol="0" anchor="ctr"/>
          <a:lstStyle/>
          <a:p>
            <a:pPr algn="ctr"/>
            <a:endParaRPr/>
          </a:p>
        </p:txBody>
      </p:sp>
      <p:sp>
        <p:nvSpPr>
          <p:cNvPr id="33" name="Row band 15"/>
          <p:cNvSpPr/>
          <p:nvPr/>
        </p:nvSpPr>
        <p:spPr>
          <a:xfrm>
            <a:off x="1165840" y="7077272"/>
            <a:ext cx="15850000" cy="304090"/>
          </a:xfrm>
          <a:prstGeom prst="rect">
            <a:avLst/>
          </a:prstGeom>
          <a:solidFill>
            <a:srgbClr val="0057FF">
              <a:alpha val="6000"/>
            </a:srgbClr>
          </a:solidFill>
          <a:ln>
            <a:noFill/>
          </a:ln>
        </p:spPr>
        <p:txBody>
          <a:bodyPr rtlCol="0" anchor="ctr"/>
          <a:lstStyle/>
          <a:p>
            <a:pPr algn="ctr"/>
            <a:endParaRPr/>
          </a:p>
        </p:txBody>
      </p:sp>
      <p:sp>
        <p:nvSpPr>
          <p:cNvPr id="34" name="Row band 17"/>
          <p:cNvSpPr/>
          <p:nvPr/>
        </p:nvSpPr>
        <p:spPr>
          <a:xfrm>
            <a:off x="1165840" y="7685454"/>
            <a:ext cx="15850000" cy="304090"/>
          </a:xfrm>
          <a:prstGeom prst="rect">
            <a:avLst/>
          </a:prstGeom>
          <a:solidFill>
            <a:srgbClr val="0057FF">
              <a:alpha val="6000"/>
            </a:srgbClr>
          </a:solidFill>
          <a:ln>
            <a:noFill/>
          </a:ln>
        </p:spPr>
        <p:txBody>
          <a:bodyPr rtlCol="0" anchor="ctr"/>
          <a:lstStyle/>
          <a:p>
            <a:pPr algn="ctr"/>
            <a:endParaRPr/>
          </a:p>
        </p:txBody>
      </p:sp>
      <p:sp>
        <p:nvSpPr>
          <p:cNvPr id="35" name="Row band 19"/>
          <p:cNvSpPr/>
          <p:nvPr/>
        </p:nvSpPr>
        <p:spPr>
          <a:xfrm>
            <a:off x="1165840" y="8293636"/>
            <a:ext cx="15850000" cy="304090"/>
          </a:xfrm>
          <a:prstGeom prst="rect">
            <a:avLst/>
          </a:prstGeom>
          <a:solidFill>
            <a:srgbClr val="0057FF">
              <a:alpha val="6000"/>
            </a:srgbClr>
          </a:solidFill>
          <a:ln>
            <a:noFill/>
          </a:ln>
        </p:spPr>
        <p:txBody>
          <a:bodyPr rtlCol="0" anchor="ctr"/>
          <a:lstStyle/>
          <a:p>
            <a:pPr algn="ctr"/>
            <a:endParaRPr/>
          </a:p>
        </p:txBody>
      </p:sp>
      <p:sp>
        <p:nvSpPr>
          <p:cNvPr id="36" name="Row band 21"/>
          <p:cNvSpPr/>
          <p:nvPr/>
        </p:nvSpPr>
        <p:spPr>
          <a:xfrm>
            <a:off x="1165840" y="8901818"/>
            <a:ext cx="15850000" cy="304090"/>
          </a:xfrm>
          <a:prstGeom prst="rect">
            <a:avLst/>
          </a:prstGeom>
          <a:solidFill>
            <a:srgbClr val="0057FF">
              <a:alpha val="6000"/>
            </a:srgbClr>
          </a:solidFill>
          <a:ln>
            <a:noFill/>
          </a:ln>
        </p:spPr>
        <p:txBody>
          <a:bodyPr rtlCol="0" anchor="ctr"/>
          <a:lstStyle/>
          <a:p>
            <a:pPr algn="ctr"/>
            <a:endParaRPr/>
          </a:p>
        </p:txBody>
      </p:sp>
      <p:sp>
        <p:nvSpPr>
          <p:cNvPr id="37" name="Gridline 1"/>
          <p:cNvSpPr/>
          <p:nvPr/>
        </p:nvSpPr>
        <p:spPr>
          <a:xfrm>
            <a:off x="7057881" y="2820000"/>
            <a:ext cx="6350" cy="6690000"/>
          </a:xfrm>
          <a:prstGeom prst="rect">
            <a:avLst/>
          </a:prstGeom>
          <a:solidFill>
            <a:srgbClr val="BBBBBB">
              <a:alpha val="70000"/>
            </a:srgbClr>
          </a:solidFill>
          <a:ln>
            <a:noFill/>
          </a:ln>
        </p:spPr>
        <p:txBody>
          <a:bodyPr rtlCol="0" anchor="ctr"/>
          <a:lstStyle/>
          <a:p>
            <a:pPr algn="ctr"/>
            <a:endParaRPr/>
          </a:p>
        </p:txBody>
      </p:sp>
      <p:sp>
        <p:nvSpPr>
          <p:cNvPr id="38" name="Gridline 2"/>
          <p:cNvSpPr/>
          <p:nvPr/>
        </p:nvSpPr>
        <p:spPr>
          <a:xfrm>
            <a:off x="7768937" y="2820000"/>
            <a:ext cx="6350" cy="6690000"/>
          </a:xfrm>
          <a:prstGeom prst="rect">
            <a:avLst/>
          </a:prstGeom>
          <a:solidFill>
            <a:srgbClr val="BBBBBB">
              <a:alpha val="70000"/>
            </a:srgbClr>
          </a:solidFill>
          <a:ln>
            <a:noFill/>
          </a:ln>
        </p:spPr>
        <p:txBody>
          <a:bodyPr rtlCol="0" anchor="ctr"/>
          <a:lstStyle/>
          <a:p>
            <a:pPr algn="ctr"/>
            <a:endParaRPr/>
          </a:p>
        </p:txBody>
      </p:sp>
      <p:sp>
        <p:nvSpPr>
          <p:cNvPr id="39" name="Gridline 3"/>
          <p:cNvSpPr/>
          <p:nvPr/>
        </p:nvSpPr>
        <p:spPr>
          <a:xfrm>
            <a:off x="8479993" y="2820000"/>
            <a:ext cx="6350" cy="6690000"/>
          </a:xfrm>
          <a:prstGeom prst="rect">
            <a:avLst/>
          </a:prstGeom>
          <a:solidFill>
            <a:srgbClr val="BBBBBB">
              <a:alpha val="70000"/>
            </a:srgbClr>
          </a:solidFill>
          <a:ln>
            <a:noFill/>
          </a:ln>
        </p:spPr>
        <p:txBody>
          <a:bodyPr rtlCol="0" anchor="ctr"/>
          <a:lstStyle/>
          <a:p>
            <a:pPr algn="ctr"/>
            <a:endParaRPr/>
          </a:p>
        </p:txBody>
      </p:sp>
      <p:sp>
        <p:nvSpPr>
          <p:cNvPr id="40" name="Gridline 4"/>
          <p:cNvSpPr/>
          <p:nvPr/>
        </p:nvSpPr>
        <p:spPr>
          <a:xfrm>
            <a:off x="9191049" y="2820000"/>
            <a:ext cx="6350" cy="6690000"/>
          </a:xfrm>
          <a:prstGeom prst="rect">
            <a:avLst/>
          </a:prstGeom>
          <a:solidFill>
            <a:srgbClr val="BBBBBB">
              <a:alpha val="70000"/>
            </a:srgbClr>
          </a:solidFill>
          <a:ln>
            <a:noFill/>
          </a:ln>
        </p:spPr>
        <p:txBody>
          <a:bodyPr rtlCol="0" anchor="ctr"/>
          <a:lstStyle/>
          <a:p>
            <a:pPr algn="ctr"/>
            <a:endParaRPr/>
          </a:p>
        </p:txBody>
      </p:sp>
      <p:sp>
        <p:nvSpPr>
          <p:cNvPr id="41" name="Gridline 5"/>
          <p:cNvSpPr/>
          <p:nvPr/>
        </p:nvSpPr>
        <p:spPr>
          <a:xfrm>
            <a:off x="9895755" y="2820000"/>
            <a:ext cx="19050" cy="6690000"/>
          </a:xfrm>
          <a:prstGeom prst="rect">
            <a:avLst/>
          </a:prstGeom>
          <a:solidFill>
            <a:srgbClr val="0057FF"/>
          </a:solidFill>
          <a:ln>
            <a:noFill/>
          </a:ln>
        </p:spPr>
        <p:txBody>
          <a:bodyPr rtlCol="0" anchor="ctr"/>
          <a:lstStyle/>
          <a:p>
            <a:pPr algn="ctr"/>
            <a:endParaRPr/>
          </a:p>
        </p:txBody>
      </p:sp>
      <p:sp>
        <p:nvSpPr>
          <p:cNvPr id="42" name="Gridline 6"/>
          <p:cNvSpPr/>
          <p:nvPr/>
        </p:nvSpPr>
        <p:spPr>
          <a:xfrm>
            <a:off x="10613161" y="2820000"/>
            <a:ext cx="6350" cy="6690000"/>
          </a:xfrm>
          <a:prstGeom prst="rect">
            <a:avLst/>
          </a:prstGeom>
          <a:solidFill>
            <a:srgbClr val="BBBBBB">
              <a:alpha val="70000"/>
            </a:srgbClr>
          </a:solidFill>
          <a:ln>
            <a:noFill/>
          </a:ln>
        </p:spPr>
        <p:txBody>
          <a:bodyPr rtlCol="0" anchor="ctr"/>
          <a:lstStyle/>
          <a:p>
            <a:pPr algn="ctr"/>
            <a:endParaRPr/>
          </a:p>
        </p:txBody>
      </p:sp>
      <p:sp>
        <p:nvSpPr>
          <p:cNvPr id="43" name="Gridline 7"/>
          <p:cNvSpPr/>
          <p:nvPr/>
        </p:nvSpPr>
        <p:spPr>
          <a:xfrm>
            <a:off x="11324217" y="2820000"/>
            <a:ext cx="6350" cy="6690000"/>
          </a:xfrm>
          <a:prstGeom prst="rect">
            <a:avLst/>
          </a:prstGeom>
          <a:solidFill>
            <a:srgbClr val="BBBBBB">
              <a:alpha val="70000"/>
            </a:srgbClr>
          </a:solidFill>
          <a:ln>
            <a:noFill/>
          </a:ln>
        </p:spPr>
        <p:txBody>
          <a:bodyPr rtlCol="0" anchor="ctr"/>
          <a:lstStyle/>
          <a:p>
            <a:pPr algn="ctr"/>
            <a:endParaRPr/>
          </a:p>
        </p:txBody>
      </p:sp>
      <p:sp>
        <p:nvSpPr>
          <p:cNvPr id="44" name="Gridline 8"/>
          <p:cNvSpPr/>
          <p:nvPr/>
        </p:nvSpPr>
        <p:spPr>
          <a:xfrm>
            <a:off x="12035273" y="2820000"/>
            <a:ext cx="6350" cy="6690000"/>
          </a:xfrm>
          <a:prstGeom prst="rect">
            <a:avLst/>
          </a:prstGeom>
          <a:solidFill>
            <a:srgbClr val="BBBBBB">
              <a:alpha val="70000"/>
            </a:srgbClr>
          </a:solidFill>
          <a:ln>
            <a:noFill/>
          </a:ln>
        </p:spPr>
        <p:txBody>
          <a:bodyPr rtlCol="0" anchor="ctr"/>
          <a:lstStyle/>
          <a:p>
            <a:pPr algn="ctr"/>
            <a:endParaRPr/>
          </a:p>
        </p:txBody>
      </p:sp>
      <p:sp>
        <p:nvSpPr>
          <p:cNvPr id="45" name="Gridline 9"/>
          <p:cNvSpPr/>
          <p:nvPr/>
        </p:nvSpPr>
        <p:spPr>
          <a:xfrm>
            <a:off x="12746329" y="2820000"/>
            <a:ext cx="6350" cy="6690000"/>
          </a:xfrm>
          <a:prstGeom prst="rect">
            <a:avLst/>
          </a:prstGeom>
          <a:solidFill>
            <a:srgbClr val="BBBBBB">
              <a:alpha val="70000"/>
            </a:srgbClr>
          </a:solidFill>
          <a:ln>
            <a:noFill/>
          </a:ln>
        </p:spPr>
        <p:txBody>
          <a:bodyPr rtlCol="0" anchor="ctr"/>
          <a:lstStyle/>
          <a:p>
            <a:pPr algn="ctr"/>
            <a:endParaRPr/>
          </a:p>
        </p:txBody>
      </p:sp>
      <p:sp>
        <p:nvSpPr>
          <p:cNvPr id="46" name="Gridline 10"/>
          <p:cNvSpPr/>
          <p:nvPr/>
        </p:nvSpPr>
        <p:spPr>
          <a:xfrm>
            <a:off x="13451035" y="2820000"/>
            <a:ext cx="19050" cy="6690000"/>
          </a:xfrm>
          <a:prstGeom prst="rect">
            <a:avLst/>
          </a:prstGeom>
          <a:solidFill>
            <a:srgbClr val="0057FF"/>
          </a:solidFill>
          <a:ln>
            <a:noFill/>
          </a:ln>
        </p:spPr>
        <p:txBody>
          <a:bodyPr rtlCol="0" anchor="ctr"/>
          <a:lstStyle/>
          <a:p>
            <a:pPr algn="ctr"/>
            <a:endParaRPr/>
          </a:p>
        </p:txBody>
      </p:sp>
      <p:sp>
        <p:nvSpPr>
          <p:cNvPr id="47" name="Gridline 11"/>
          <p:cNvSpPr/>
          <p:nvPr/>
        </p:nvSpPr>
        <p:spPr>
          <a:xfrm>
            <a:off x="14168441" y="2820000"/>
            <a:ext cx="6350" cy="6690000"/>
          </a:xfrm>
          <a:prstGeom prst="rect">
            <a:avLst/>
          </a:prstGeom>
          <a:solidFill>
            <a:srgbClr val="BBBBBB">
              <a:alpha val="70000"/>
            </a:srgbClr>
          </a:solidFill>
          <a:ln>
            <a:noFill/>
          </a:ln>
        </p:spPr>
        <p:txBody>
          <a:bodyPr rtlCol="0" anchor="ctr"/>
          <a:lstStyle/>
          <a:p>
            <a:pPr algn="ctr"/>
            <a:endParaRPr/>
          </a:p>
        </p:txBody>
      </p:sp>
      <p:sp>
        <p:nvSpPr>
          <p:cNvPr id="48" name="Gridline 12"/>
          <p:cNvSpPr/>
          <p:nvPr/>
        </p:nvSpPr>
        <p:spPr>
          <a:xfrm>
            <a:off x="14879497" y="2820000"/>
            <a:ext cx="6350" cy="6690000"/>
          </a:xfrm>
          <a:prstGeom prst="rect">
            <a:avLst/>
          </a:prstGeom>
          <a:solidFill>
            <a:srgbClr val="BBBBBB">
              <a:alpha val="70000"/>
            </a:srgbClr>
          </a:solidFill>
          <a:ln>
            <a:noFill/>
          </a:ln>
        </p:spPr>
        <p:txBody>
          <a:bodyPr rtlCol="0" anchor="ctr"/>
          <a:lstStyle/>
          <a:p>
            <a:pPr algn="ctr"/>
            <a:endParaRPr/>
          </a:p>
        </p:txBody>
      </p:sp>
      <p:sp>
        <p:nvSpPr>
          <p:cNvPr id="49" name="Gridline 13"/>
          <p:cNvSpPr/>
          <p:nvPr/>
        </p:nvSpPr>
        <p:spPr>
          <a:xfrm>
            <a:off x="15590553" y="2820000"/>
            <a:ext cx="6350" cy="6690000"/>
          </a:xfrm>
          <a:prstGeom prst="rect">
            <a:avLst/>
          </a:prstGeom>
          <a:solidFill>
            <a:srgbClr val="BBBBBB">
              <a:alpha val="70000"/>
            </a:srgbClr>
          </a:solidFill>
          <a:ln>
            <a:noFill/>
          </a:ln>
        </p:spPr>
        <p:txBody>
          <a:bodyPr rtlCol="0" anchor="ctr"/>
          <a:lstStyle/>
          <a:p>
            <a:pPr algn="ctr"/>
            <a:endParaRPr/>
          </a:p>
        </p:txBody>
      </p:sp>
      <p:sp>
        <p:nvSpPr>
          <p:cNvPr id="50" name="Gridline 14"/>
          <p:cNvSpPr/>
          <p:nvPr/>
        </p:nvSpPr>
        <p:spPr>
          <a:xfrm>
            <a:off x="16301609" y="2820000"/>
            <a:ext cx="6350" cy="6690000"/>
          </a:xfrm>
          <a:prstGeom prst="rect">
            <a:avLst/>
          </a:prstGeom>
          <a:solidFill>
            <a:srgbClr val="BBBBBB">
              <a:alpha val="70000"/>
            </a:srgbClr>
          </a:solidFill>
          <a:ln>
            <a:noFill/>
          </a:ln>
        </p:spPr>
        <p:txBody>
          <a:bodyPr rtlCol="0" anchor="ctr"/>
          <a:lstStyle/>
          <a:p>
            <a:pPr algn="ctr"/>
            <a:endParaRPr/>
          </a:p>
        </p:txBody>
      </p:sp>
      <p:sp>
        <p:nvSpPr>
          <p:cNvPr id="51" name="Phase I chip"/>
          <p:cNvSpPr/>
          <p:nvPr/>
        </p:nvSpPr>
        <p:spPr>
          <a:xfrm>
            <a:off x="1265840" y="2844327"/>
            <a:ext cx="420000" cy="1775890"/>
          </a:xfrm>
          <a:prstGeom prst="roundRect">
            <a:avLst>
              <a:gd name="adj" fmla="val 20000"/>
            </a:avLst>
          </a:prstGeom>
          <a:solidFill>
            <a:srgbClr val="0057FF"/>
          </a:solidFill>
          <a:ln>
            <a:noFill/>
          </a:ln>
        </p:spPr>
        <p:txBody>
          <a:bodyPr wrap="square" lIns="0" tIns="0" rIns="0" bIns="0" rtlCol="0" anchor="ctr"/>
          <a:lstStyle/>
          <a:p>
            <a:pPr algn="ctr"/>
            <a:r>
              <a:rPr sz="1800" b="1">
                <a:solidFill>
                  <a:srgbClr val="FFFFFF"/>
                </a:solidFill>
                <a:latin typeface="Open Sauce"/>
                <a:ea typeface="Open Sauce"/>
                <a:cs typeface="Open Sauce"/>
              </a:rPr>
              <a:t>I</a:t>
            </a:r>
          </a:p>
        </p:txBody>
      </p:sp>
      <p:sp>
        <p:nvSpPr>
          <p:cNvPr id="52" name="Task 1"/>
          <p:cNvSpPr/>
          <p:nvPr/>
        </p:nvSpPr>
        <p:spPr>
          <a:xfrm>
            <a:off x="1835840" y="2820000"/>
            <a:ext cx="4434160" cy="304090"/>
          </a:xfrm>
          <a:prstGeom prst="rect">
            <a:avLst/>
          </a:prstGeom>
          <a:noFill/>
          <a:ln>
            <a:noFill/>
          </a:ln>
        </p:spPr>
        <p:txBody>
          <a:bodyPr wrap="square" lIns="0" tIns="0" rIns="0" bIns="0" rtlCol="0" anchor="ctr"/>
          <a:lstStyle/>
          <a:p>
            <a:pPr algn="l"/>
            <a:r>
              <a:rPr sz="1500" b="0">
                <a:solidFill>
                  <a:srgbClr val="001C42"/>
                </a:solidFill>
                <a:latin typeface="Open Sauce"/>
                <a:ea typeface="Open Sauce"/>
                <a:cs typeface="Open Sauce"/>
              </a:rPr>
              <a:t>Domain selection</a:t>
            </a:r>
          </a:p>
        </p:txBody>
      </p:sp>
      <p:sp>
        <p:nvSpPr>
          <p:cNvPr id="53" name="Bar 1"/>
          <p:cNvSpPr/>
          <p:nvPr/>
        </p:nvSpPr>
        <p:spPr>
          <a:xfrm>
            <a:off x="6375000" y="2877777"/>
            <a:ext cx="163316" cy="188536"/>
          </a:xfrm>
          <a:prstGeom prst="roundRect">
            <a:avLst>
              <a:gd name="adj" fmla="val 35000"/>
            </a:avLst>
          </a:prstGeom>
          <a:solidFill>
            <a:srgbClr val="0057FF"/>
          </a:solidFill>
          <a:ln>
            <a:noFill/>
          </a:ln>
        </p:spPr>
        <p:txBody>
          <a:bodyPr rtlCol="0" anchor="ctr"/>
          <a:lstStyle/>
          <a:p>
            <a:pPr algn="ctr"/>
            <a:endParaRPr/>
          </a:p>
        </p:txBody>
      </p:sp>
      <p:sp>
        <p:nvSpPr>
          <p:cNvPr id="54" name="Task 2"/>
          <p:cNvSpPr/>
          <p:nvPr/>
        </p:nvSpPr>
        <p:spPr>
          <a:xfrm>
            <a:off x="1835840" y="3124090"/>
            <a:ext cx="4434160" cy="304090"/>
          </a:xfrm>
          <a:prstGeom prst="rect">
            <a:avLst/>
          </a:prstGeom>
          <a:noFill/>
          <a:ln>
            <a:noFill/>
          </a:ln>
        </p:spPr>
        <p:txBody>
          <a:bodyPr wrap="square" lIns="0" tIns="0" rIns="0" bIns="0" rtlCol="0" anchor="ctr"/>
          <a:lstStyle/>
          <a:p>
            <a:pPr algn="l"/>
            <a:r>
              <a:rPr sz="1500" b="0">
                <a:solidFill>
                  <a:srgbClr val="001C42"/>
                </a:solidFill>
                <a:latin typeface="Open Sauce"/>
                <a:ea typeface="Open Sauce"/>
                <a:cs typeface="Open Sauce"/>
              </a:rPr>
              <a:t>Literature survey (3 domains)</a:t>
            </a:r>
          </a:p>
        </p:txBody>
      </p:sp>
      <p:sp>
        <p:nvSpPr>
          <p:cNvPr id="55" name="Bar 2"/>
          <p:cNvSpPr/>
          <p:nvPr/>
        </p:nvSpPr>
        <p:spPr>
          <a:xfrm>
            <a:off x="6588316" y="3181868"/>
            <a:ext cx="981031" cy="188536"/>
          </a:xfrm>
          <a:prstGeom prst="roundRect">
            <a:avLst>
              <a:gd name="adj" fmla="val 35000"/>
            </a:avLst>
          </a:prstGeom>
          <a:solidFill>
            <a:srgbClr val="0057FF"/>
          </a:solidFill>
          <a:ln>
            <a:noFill/>
          </a:ln>
        </p:spPr>
        <p:txBody>
          <a:bodyPr rtlCol="0" anchor="ctr"/>
          <a:lstStyle/>
          <a:p>
            <a:pPr algn="ctr"/>
            <a:endParaRPr/>
          </a:p>
        </p:txBody>
      </p:sp>
      <p:sp>
        <p:nvSpPr>
          <p:cNvPr id="56" name="Task 3"/>
          <p:cNvSpPr/>
          <p:nvPr/>
        </p:nvSpPr>
        <p:spPr>
          <a:xfrm>
            <a:off x="1835840" y="3428181"/>
            <a:ext cx="4434160" cy="304090"/>
          </a:xfrm>
          <a:prstGeom prst="rect">
            <a:avLst/>
          </a:prstGeom>
          <a:noFill/>
          <a:ln>
            <a:noFill/>
          </a:ln>
        </p:spPr>
        <p:txBody>
          <a:bodyPr wrap="square" lIns="0" tIns="0" rIns="0" bIns="0" rtlCol="0" anchor="ctr"/>
          <a:lstStyle/>
          <a:p>
            <a:pPr algn="l"/>
            <a:r>
              <a:rPr sz="1500" b="0">
                <a:solidFill>
                  <a:srgbClr val="001C42"/>
                </a:solidFill>
                <a:latin typeface="Open Sauce"/>
                <a:ea typeface="Open Sauce"/>
                <a:cs typeface="Open Sauce"/>
              </a:rPr>
              <a:t>Problem statement &amp; abstract</a:t>
            </a:r>
          </a:p>
        </p:txBody>
      </p:sp>
      <p:sp>
        <p:nvSpPr>
          <p:cNvPr id="57" name="Bar 3"/>
          <p:cNvSpPr/>
          <p:nvPr/>
        </p:nvSpPr>
        <p:spPr>
          <a:xfrm>
            <a:off x="7619348" y="3485959"/>
            <a:ext cx="163316" cy="188536"/>
          </a:xfrm>
          <a:prstGeom prst="roundRect">
            <a:avLst>
              <a:gd name="adj" fmla="val 35000"/>
            </a:avLst>
          </a:prstGeom>
          <a:solidFill>
            <a:srgbClr val="0057FF"/>
          </a:solidFill>
          <a:ln>
            <a:noFill/>
          </a:ln>
        </p:spPr>
        <p:txBody>
          <a:bodyPr rtlCol="0" anchor="ctr"/>
          <a:lstStyle/>
          <a:p>
            <a:pPr algn="ctr"/>
            <a:endParaRPr/>
          </a:p>
        </p:txBody>
      </p:sp>
      <p:sp>
        <p:nvSpPr>
          <p:cNvPr id="58" name="Task 4"/>
          <p:cNvSpPr/>
          <p:nvPr/>
        </p:nvSpPr>
        <p:spPr>
          <a:xfrm>
            <a:off x="1835840" y="3732272"/>
            <a:ext cx="4434160" cy="304090"/>
          </a:xfrm>
          <a:prstGeom prst="rect">
            <a:avLst/>
          </a:prstGeom>
          <a:noFill/>
          <a:ln>
            <a:noFill/>
          </a:ln>
        </p:spPr>
        <p:txBody>
          <a:bodyPr wrap="square" lIns="0" tIns="0" rIns="0" bIns="0" rtlCol="0" anchor="ctr"/>
          <a:lstStyle/>
          <a:p>
            <a:pPr algn="l"/>
            <a:r>
              <a:rPr sz="1500" b="0">
                <a:solidFill>
                  <a:srgbClr val="001C42"/>
                </a:solidFill>
                <a:latin typeface="Open Sauce"/>
                <a:ea typeface="Open Sauce"/>
                <a:cs typeface="Open Sauce"/>
              </a:rPr>
              <a:t>Requirements elicitation</a:t>
            </a:r>
          </a:p>
        </p:txBody>
      </p:sp>
      <p:sp>
        <p:nvSpPr>
          <p:cNvPr id="59" name="Bar 4"/>
          <p:cNvSpPr/>
          <p:nvPr/>
        </p:nvSpPr>
        <p:spPr>
          <a:xfrm>
            <a:off x="7441584" y="3790050"/>
            <a:ext cx="518844" cy="188536"/>
          </a:xfrm>
          <a:prstGeom prst="roundRect">
            <a:avLst>
              <a:gd name="adj" fmla="val 35000"/>
            </a:avLst>
          </a:prstGeom>
          <a:solidFill>
            <a:srgbClr val="0057FF"/>
          </a:solidFill>
          <a:ln>
            <a:noFill/>
          </a:ln>
        </p:spPr>
        <p:txBody>
          <a:bodyPr rtlCol="0" anchor="ctr"/>
          <a:lstStyle/>
          <a:p>
            <a:pPr algn="ctr"/>
            <a:endParaRPr/>
          </a:p>
        </p:txBody>
      </p:sp>
      <p:sp>
        <p:nvSpPr>
          <p:cNvPr id="60" name="Task 5"/>
          <p:cNvSpPr/>
          <p:nvPr/>
        </p:nvSpPr>
        <p:spPr>
          <a:xfrm>
            <a:off x="1835840" y="4036363"/>
            <a:ext cx="4434160" cy="304090"/>
          </a:xfrm>
          <a:prstGeom prst="rect">
            <a:avLst/>
          </a:prstGeom>
          <a:noFill/>
          <a:ln>
            <a:noFill/>
          </a:ln>
        </p:spPr>
        <p:txBody>
          <a:bodyPr wrap="square" lIns="0" tIns="0" rIns="0" bIns="0" rtlCol="0" anchor="ctr"/>
          <a:lstStyle/>
          <a:p>
            <a:pPr algn="l"/>
            <a:r>
              <a:rPr sz="1500" b="0">
                <a:solidFill>
                  <a:srgbClr val="001C42"/>
                </a:solidFill>
                <a:latin typeface="Open Sauce"/>
                <a:ea typeface="Open Sauce"/>
                <a:cs typeface="Open Sauce"/>
              </a:rPr>
              <a:t>Feasibility study</a:t>
            </a:r>
          </a:p>
        </p:txBody>
      </p:sp>
      <p:sp>
        <p:nvSpPr>
          <p:cNvPr id="61" name="Bar 5"/>
          <p:cNvSpPr/>
          <p:nvPr/>
        </p:nvSpPr>
        <p:spPr>
          <a:xfrm>
            <a:off x="7654900" y="4094140"/>
            <a:ext cx="447739" cy="188536"/>
          </a:xfrm>
          <a:prstGeom prst="roundRect">
            <a:avLst>
              <a:gd name="adj" fmla="val 35000"/>
            </a:avLst>
          </a:prstGeom>
          <a:solidFill>
            <a:srgbClr val="0057FF"/>
          </a:solidFill>
          <a:ln>
            <a:noFill/>
          </a:ln>
        </p:spPr>
        <p:txBody>
          <a:bodyPr rtlCol="0" anchor="ctr"/>
          <a:lstStyle/>
          <a:p>
            <a:pPr algn="ctr"/>
            <a:endParaRPr/>
          </a:p>
        </p:txBody>
      </p:sp>
      <p:sp>
        <p:nvSpPr>
          <p:cNvPr id="62" name="Task 6"/>
          <p:cNvSpPr/>
          <p:nvPr/>
        </p:nvSpPr>
        <p:spPr>
          <a:xfrm>
            <a:off x="1835840" y="4340454"/>
            <a:ext cx="4434160" cy="304090"/>
          </a:xfrm>
          <a:prstGeom prst="rect">
            <a:avLst/>
          </a:prstGeom>
          <a:noFill/>
          <a:ln>
            <a:noFill/>
          </a:ln>
        </p:spPr>
        <p:txBody>
          <a:bodyPr wrap="square" lIns="0" tIns="0" rIns="0" bIns="0" rtlCol="0" anchor="ctr"/>
          <a:lstStyle/>
          <a:p>
            <a:pPr algn="l"/>
            <a:r>
              <a:rPr sz="1500" b="0">
                <a:solidFill>
                  <a:srgbClr val="001C42"/>
                </a:solidFill>
                <a:latin typeface="Open Sauce"/>
                <a:ea typeface="Open Sauce"/>
                <a:cs typeface="Open Sauce"/>
              </a:rPr>
              <a:t>Gantt chart &amp; summary presentation</a:t>
            </a:r>
          </a:p>
        </p:txBody>
      </p:sp>
      <p:sp>
        <p:nvSpPr>
          <p:cNvPr id="63" name="Bar 6"/>
          <p:cNvSpPr/>
          <p:nvPr/>
        </p:nvSpPr>
        <p:spPr>
          <a:xfrm>
            <a:off x="7797112" y="4398231"/>
            <a:ext cx="305528" cy="188536"/>
          </a:xfrm>
          <a:prstGeom prst="roundRect">
            <a:avLst>
              <a:gd name="adj" fmla="val 35000"/>
            </a:avLst>
          </a:prstGeom>
          <a:solidFill>
            <a:srgbClr val="0057FF"/>
          </a:solidFill>
          <a:ln>
            <a:noFill/>
          </a:ln>
        </p:spPr>
        <p:txBody>
          <a:bodyPr rtlCol="0" anchor="ctr"/>
          <a:lstStyle/>
          <a:p>
            <a:pPr algn="ctr"/>
            <a:endParaRPr/>
          </a:p>
        </p:txBody>
      </p:sp>
      <p:sp>
        <p:nvSpPr>
          <p:cNvPr id="64" name="Phase II chip"/>
          <p:cNvSpPr/>
          <p:nvPr/>
        </p:nvSpPr>
        <p:spPr>
          <a:xfrm>
            <a:off x="1265840" y="4668872"/>
            <a:ext cx="420000" cy="2079981"/>
          </a:xfrm>
          <a:prstGeom prst="roundRect">
            <a:avLst>
              <a:gd name="adj" fmla="val 20000"/>
            </a:avLst>
          </a:prstGeom>
          <a:solidFill>
            <a:srgbClr val="001C42"/>
          </a:solidFill>
          <a:ln>
            <a:noFill/>
          </a:ln>
        </p:spPr>
        <p:txBody>
          <a:bodyPr wrap="square" lIns="0" tIns="0" rIns="0" bIns="0" rtlCol="0" anchor="ctr"/>
          <a:lstStyle/>
          <a:p>
            <a:pPr algn="ctr"/>
            <a:r>
              <a:rPr sz="1800" b="1">
                <a:solidFill>
                  <a:srgbClr val="FFFFFF"/>
                </a:solidFill>
                <a:latin typeface="Open Sauce"/>
                <a:ea typeface="Open Sauce"/>
                <a:cs typeface="Open Sauce"/>
              </a:rPr>
              <a:t>II</a:t>
            </a:r>
          </a:p>
        </p:txBody>
      </p:sp>
      <p:sp>
        <p:nvSpPr>
          <p:cNvPr id="65" name="Task 7"/>
          <p:cNvSpPr/>
          <p:nvPr/>
        </p:nvSpPr>
        <p:spPr>
          <a:xfrm>
            <a:off x="1835840" y="4644545"/>
            <a:ext cx="4434160" cy="304090"/>
          </a:xfrm>
          <a:prstGeom prst="rect">
            <a:avLst/>
          </a:prstGeom>
          <a:noFill/>
          <a:ln>
            <a:noFill/>
          </a:ln>
        </p:spPr>
        <p:txBody>
          <a:bodyPr wrap="square" lIns="0" tIns="0" rIns="0" bIns="0" rtlCol="0" anchor="ctr"/>
          <a:lstStyle/>
          <a:p>
            <a:pPr algn="l"/>
            <a:r>
              <a:rPr sz="1500" b="0">
                <a:solidFill>
                  <a:srgbClr val="001C42"/>
                </a:solidFill>
                <a:latin typeface="Open Sauce"/>
                <a:ea typeface="Open Sauce"/>
                <a:cs typeface="Open Sauce"/>
              </a:rPr>
              <a:t>Dataset survey &amp; acquisition</a:t>
            </a:r>
          </a:p>
        </p:txBody>
      </p:sp>
      <p:sp>
        <p:nvSpPr>
          <p:cNvPr id="66" name="Bar 7"/>
          <p:cNvSpPr/>
          <p:nvPr/>
        </p:nvSpPr>
        <p:spPr>
          <a:xfrm>
            <a:off x="7797112" y="4702322"/>
            <a:ext cx="1372112" cy="188536"/>
          </a:xfrm>
          <a:prstGeom prst="roundRect">
            <a:avLst>
              <a:gd name="adj" fmla="val 35000"/>
            </a:avLst>
          </a:prstGeom>
          <a:solidFill>
            <a:srgbClr val="001C42"/>
          </a:solidFill>
          <a:ln>
            <a:noFill/>
          </a:ln>
        </p:spPr>
        <p:txBody>
          <a:bodyPr rtlCol="0" anchor="ctr"/>
          <a:lstStyle/>
          <a:p>
            <a:pPr algn="ctr"/>
            <a:endParaRPr/>
          </a:p>
        </p:txBody>
      </p:sp>
      <p:sp>
        <p:nvSpPr>
          <p:cNvPr id="67" name="Task 8"/>
          <p:cNvSpPr/>
          <p:nvPr/>
        </p:nvSpPr>
        <p:spPr>
          <a:xfrm>
            <a:off x="1835840" y="4948636"/>
            <a:ext cx="4434160" cy="304090"/>
          </a:xfrm>
          <a:prstGeom prst="rect">
            <a:avLst/>
          </a:prstGeom>
          <a:noFill/>
          <a:ln>
            <a:noFill/>
          </a:ln>
        </p:spPr>
        <p:txBody>
          <a:bodyPr wrap="square" lIns="0" tIns="0" rIns="0" bIns="0" rtlCol="0" anchor="ctr"/>
          <a:lstStyle/>
          <a:p>
            <a:pPr algn="l"/>
            <a:r>
              <a:rPr sz="1500" b="0">
                <a:solidFill>
                  <a:srgbClr val="001C42"/>
                </a:solidFill>
                <a:latin typeface="Open Sauce"/>
                <a:ea typeface="Open Sauce"/>
                <a:cs typeface="Open Sauce"/>
              </a:rPr>
              <a:t>Data cleaning &amp; feature engineering</a:t>
            </a:r>
          </a:p>
        </p:txBody>
      </p:sp>
      <p:sp>
        <p:nvSpPr>
          <p:cNvPr id="68" name="Bar 8"/>
          <p:cNvSpPr/>
          <p:nvPr/>
        </p:nvSpPr>
        <p:spPr>
          <a:xfrm>
            <a:off x="8863696" y="5006413"/>
            <a:ext cx="1016584" cy="188536"/>
          </a:xfrm>
          <a:prstGeom prst="roundRect">
            <a:avLst>
              <a:gd name="adj" fmla="val 35000"/>
            </a:avLst>
          </a:prstGeom>
          <a:solidFill>
            <a:srgbClr val="001C42"/>
          </a:solidFill>
          <a:ln>
            <a:noFill/>
          </a:ln>
        </p:spPr>
        <p:txBody>
          <a:bodyPr rtlCol="0" anchor="ctr"/>
          <a:lstStyle/>
          <a:p>
            <a:pPr algn="ctr"/>
            <a:endParaRPr/>
          </a:p>
        </p:txBody>
      </p:sp>
      <p:sp>
        <p:nvSpPr>
          <p:cNvPr id="69" name="Task 9"/>
          <p:cNvSpPr/>
          <p:nvPr/>
        </p:nvSpPr>
        <p:spPr>
          <a:xfrm>
            <a:off x="1835840" y="5252727"/>
            <a:ext cx="4434160" cy="304090"/>
          </a:xfrm>
          <a:prstGeom prst="rect">
            <a:avLst/>
          </a:prstGeom>
          <a:noFill/>
          <a:ln>
            <a:noFill/>
          </a:ln>
        </p:spPr>
        <p:txBody>
          <a:bodyPr wrap="square" lIns="0" tIns="0" rIns="0" bIns="0" rtlCol="0" anchor="ctr"/>
          <a:lstStyle/>
          <a:p>
            <a:pPr algn="l"/>
            <a:r>
              <a:rPr sz="1500" b="0">
                <a:solidFill>
                  <a:srgbClr val="001C42"/>
                </a:solidFill>
                <a:latin typeface="Open Sauce"/>
                <a:ea typeface="Open Sauce"/>
                <a:cs typeface="Open Sauce"/>
              </a:rPr>
              <a:t>Tool &amp; edge-device selection</a:t>
            </a:r>
          </a:p>
        </p:txBody>
      </p:sp>
      <p:sp>
        <p:nvSpPr>
          <p:cNvPr id="70" name="Bar 9"/>
          <p:cNvSpPr/>
          <p:nvPr/>
        </p:nvSpPr>
        <p:spPr>
          <a:xfrm>
            <a:off x="8508168" y="5310504"/>
            <a:ext cx="1016584" cy="188536"/>
          </a:xfrm>
          <a:prstGeom prst="roundRect">
            <a:avLst>
              <a:gd name="adj" fmla="val 35000"/>
            </a:avLst>
          </a:prstGeom>
          <a:solidFill>
            <a:srgbClr val="001C42"/>
          </a:solidFill>
          <a:ln>
            <a:noFill/>
          </a:ln>
        </p:spPr>
        <p:txBody>
          <a:bodyPr rtlCol="0" anchor="ctr"/>
          <a:lstStyle/>
          <a:p>
            <a:pPr algn="ctr"/>
            <a:endParaRPr/>
          </a:p>
        </p:txBody>
      </p:sp>
      <p:sp>
        <p:nvSpPr>
          <p:cNvPr id="71" name="Task 10"/>
          <p:cNvSpPr/>
          <p:nvPr/>
        </p:nvSpPr>
        <p:spPr>
          <a:xfrm>
            <a:off x="1835840" y="5556818"/>
            <a:ext cx="4434160" cy="304090"/>
          </a:xfrm>
          <a:prstGeom prst="rect">
            <a:avLst/>
          </a:prstGeom>
          <a:noFill/>
          <a:ln>
            <a:noFill/>
          </a:ln>
        </p:spPr>
        <p:txBody>
          <a:bodyPr wrap="square" lIns="0" tIns="0" rIns="0" bIns="0" rtlCol="0" anchor="ctr"/>
          <a:lstStyle/>
          <a:p>
            <a:pPr algn="l"/>
            <a:r>
              <a:rPr sz="1500" b="0">
                <a:solidFill>
                  <a:srgbClr val="001C42"/>
                </a:solidFill>
                <a:latin typeface="Open Sauce"/>
                <a:ea typeface="Open Sauce"/>
                <a:cs typeface="Open Sauce"/>
              </a:rPr>
              <a:t>Detailed workflow</a:t>
            </a:r>
          </a:p>
        </p:txBody>
      </p:sp>
      <p:sp>
        <p:nvSpPr>
          <p:cNvPr id="72" name="Bar 10"/>
          <p:cNvSpPr/>
          <p:nvPr/>
        </p:nvSpPr>
        <p:spPr>
          <a:xfrm>
            <a:off x="9574752" y="5614595"/>
            <a:ext cx="661056" cy="188536"/>
          </a:xfrm>
          <a:prstGeom prst="roundRect">
            <a:avLst>
              <a:gd name="adj" fmla="val 35000"/>
            </a:avLst>
          </a:prstGeom>
          <a:solidFill>
            <a:srgbClr val="001C42"/>
          </a:solidFill>
          <a:ln>
            <a:noFill/>
          </a:ln>
        </p:spPr>
        <p:txBody>
          <a:bodyPr rtlCol="0" anchor="ctr"/>
          <a:lstStyle/>
          <a:p>
            <a:pPr algn="ctr"/>
            <a:endParaRPr/>
          </a:p>
        </p:txBody>
      </p:sp>
      <p:sp>
        <p:nvSpPr>
          <p:cNvPr id="73" name="Task 11"/>
          <p:cNvSpPr/>
          <p:nvPr/>
        </p:nvSpPr>
        <p:spPr>
          <a:xfrm>
            <a:off x="1835840" y="5860909"/>
            <a:ext cx="4434160" cy="304090"/>
          </a:xfrm>
          <a:prstGeom prst="rect">
            <a:avLst/>
          </a:prstGeom>
          <a:noFill/>
          <a:ln>
            <a:noFill/>
          </a:ln>
        </p:spPr>
        <p:txBody>
          <a:bodyPr wrap="square" lIns="0" tIns="0" rIns="0" bIns="0" rtlCol="0" anchor="ctr"/>
          <a:lstStyle/>
          <a:p>
            <a:pPr algn="l"/>
            <a:r>
              <a:rPr sz="1500" b="0">
                <a:solidFill>
                  <a:srgbClr val="001C42"/>
                </a:solidFill>
                <a:latin typeface="Open Sauce"/>
                <a:ea typeface="Open Sauce"/>
                <a:cs typeface="Open Sauce"/>
              </a:rPr>
              <a:t>Baseline IDS prototype</a:t>
            </a:r>
          </a:p>
        </p:txBody>
      </p:sp>
      <p:sp>
        <p:nvSpPr>
          <p:cNvPr id="74" name="Bar 11"/>
          <p:cNvSpPr/>
          <p:nvPr/>
        </p:nvSpPr>
        <p:spPr>
          <a:xfrm>
            <a:off x="9930280" y="5918686"/>
            <a:ext cx="1372112" cy="188536"/>
          </a:xfrm>
          <a:prstGeom prst="roundRect">
            <a:avLst>
              <a:gd name="adj" fmla="val 35000"/>
            </a:avLst>
          </a:prstGeom>
          <a:solidFill>
            <a:srgbClr val="001C42"/>
          </a:solidFill>
          <a:ln>
            <a:noFill/>
          </a:ln>
        </p:spPr>
        <p:txBody>
          <a:bodyPr rtlCol="0" anchor="ctr"/>
          <a:lstStyle/>
          <a:p>
            <a:pPr algn="ctr"/>
            <a:endParaRPr/>
          </a:p>
        </p:txBody>
      </p:sp>
      <p:sp>
        <p:nvSpPr>
          <p:cNvPr id="75" name="Task 12"/>
          <p:cNvSpPr/>
          <p:nvPr/>
        </p:nvSpPr>
        <p:spPr>
          <a:xfrm>
            <a:off x="1835840" y="6165000"/>
            <a:ext cx="4434160" cy="304090"/>
          </a:xfrm>
          <a:prstGeom prst="rect">
            <a:avLst/>
          </a:prstGeom>
          <a:noFill/>
          <a:ln>
            <a:noFill/>
          </a:ln>
        </p:spPr>
        <p:txBody>
          <a:bodyPr wrap="square" lIns="0" tIns="0" rIns="0" bIns="0" rtlCol="0" anchor="ctr"/>
          <a:lstStyle/>
          <a:p>
            <a:pPr algn="l"/>
            <a:r>
              <a:rPr sz="1500" b="0">
                <a:solidFill>
                  <a:srgbClr val="001C42"/>
                </a:solidFill>
                <a:latin typeface="Open Sauce"/>
                <a:ea typeface="Open Sauce"/>
                <a:cs typeface="Open Sauce"/>
              </a:rPr>
              <a:t>Evasion &amp; tampering attack tests</a:t>
            </a:r>
          </a:p>
        </p:txBody>
      </p:sp>
      <p:sp>
        <p:nvSpPr>
          <p:cNvPr id="76" name="Bar 12"/>
          <p:cNvSpPr/>
          <p:nvPr/>
        </p:nvSpPr>
        <p:spPr>
          <a:xfrm>
            <a:off x="10641336" y="6222777"/>
            <a:ext cx="1016584" cy="188536"/>
          </a:xfrm>
          <a:prstGeom prst="roundRect">
            <a:avLst>
              <a:gd name="adj" fmla="val 35000"/>
            </a:avLst>
          </a:prstGeom>
          <a:solidFill>
            <a:srgbClr val="001C42"/>
          </a:solidFill>
          <a:ln>
            <a:noFill/>
          </a:ln>
        </p:spPr>
        <p:txBody>
          <a:bodyPr rtlCol="0" anchor="ctr"/>
          <a:lstStyle/>
          <a:p>
            <a:pPr algn="ctr"/>
            <a:endParaRPr/>
          </a:p>
        </p:txBody>
      </p:sp>
      <p:sp>
        <p:nvSpPr>
          <p:cNvPr id="77" name="Task 13"/>
          <p:cNvSpPr/>
          <p:nvPr/>
        </p:nvSpPr>
        <p:spPr>
          <a:xfrm>
            <a:off x="1835840" y="6469090"/>
            <a:ext cx="4434160" cy="304090"/>
          </a:xfrm>
          <a:prstGeom prst="rect">
            <a:avLst/>
          </a:prstGeom>
          <a:noFill/>
          <a:ln>
            <a:noFill/>
          </a:ln>
        </p:spPr>
        <p:txBody>
          <a:bodyPr wrap="square" lIns="0" tIns="0" rIns="0" bIns="0" rtlCol="0" anchor="ctr"/>
          <a:lstStyle/>
          <a:p>
            <a:pPr algn="l"/>
            <a:r>
              <a:rPr sz="1500" b="0">
                <a:solidFill>
                  <a:srgbClr val="001C42"/>
                </a:solidFill>
                <a:latin typeface="Open Sauce"/>
                <a:ea typeface="Open Sauce"/>
                <a:cs typeface="Open Sauce"/>
              </a:rPr>
              <a:t>High-Level Design</a:t>
            </a:r>
          </a:p>
        </p:txBody>
      </p:sp>
      <p:sp>
        <p:nvSpPr>
          <p:cNvPr id="78" name="Bar 13"/>
          <p:cNvSpPr/>
          <p:nvPr/>
        </p:nvSpPr>
        <p:spPr>
          <a:xfrm>
            <a:off x="10996864" y="6526868"/>
            <a:ext cx="1016584" cy="188536"/>
          </a:xfrm>
          <a:prstGeom prst="roundRect">
            <a:avLst>
              <a:gd name="adj" fmla="val 35000"/>
            </a:avLst>
          </a:prstGeom>
          <a:solidFill>
            <a:srgbClr val="001C42"/>
          </a:solidFill>
          <a:ln>
            <a:noFill/>
          </a:ln>
        </p:spPr>
        <p:txBody>
          <a:bodyPr rtlCol="0" anchor="ctr"/>
          <a:lstStyle/>
          <a:p>
            <a:pPr algn="ctr"/>
            <a:endParaRPr/>
          </a:p>
        </p:txBody>
      </p:sp>
      <p:sp>
        <p:nvSpPr>
          <p:cNvPr id="79" name="Phase III chip"/>
          <p:cNvSpPr/>
          <p:nvPr/>
        </p:nvSpPr>
        <p:spPr>
          <a:xfrm>
            <a:off x="1265840" y="6797509"/>
            <a:ext cx="420000" cy="2688163"/>
          </a:xfrm>
          <a:prstGeom prst="roundRect">
            <a:avLst>
              <a:gd name="adj" fmla="val 20000"/>
            </a:avLst>
          </a:prstGeom>
          <a:solidFill>
            <a:srgbClr val="8FB3FF"/>
          </a:solidFill>
          <a:ln>
            <a:noFill/>
          </a:ln>
        </p:spPr>
        <p:txBody>
          <a:bodyPr wrap="square" lIns="0" tIns="0" rIns="0" bIns="0" rtlCol="0" anchor="ctr"/>
          <a:lstStyle/>
          <a:p>
            <a:pPr algn="ctr"/>
            <a:r>
              <a:rPr sz="1800" b="1">
                <a:solidFill>
                  <a:srgbClr val="001C42"/>
                </a:solidFill>
                <a:latin typeface="Open Sauce"/>
                <a:ea typeface="Open Sauce"/>
                <a:cs typeface="Open Sauce"/>
              </a:rPr>
              <a:t>III</a:t>
            </a:r>
          </a:p>
        </p:txBody>
      </p:sp>
      <p:sp>
        <p:nvSpPr>
          <p:cNvPr id="80" name="Task 14"/>
          <p:cNvSpPr/>
          <p:nvPr/>
        </p:nvSpPr>
        <p:spPr>
          <a:xfrm>
            <a:off x="1835840" y="6773181"/>
            <a:ext cx="4434160" cy="304090"/>
          </a:xfrm>
          <a:prstGeom prst="rect">
            <a:avLst/>
          </a:prstGeom>
          <a:noFill/>
          <a:ln>
            <a:noFill/>
          </a:ln>
        </p:spPr>
        <p:txBody>
          <a:bodyPr wrap="square" lIns="0" tIns="0" rIns="0" bIns="0" rtlCol="0" anchor="ctr"/>
          <a:lstStyle/>
          <a:p>
            <a:pPr algn="l"/>
            <a:r>
              <a:rPr sz="1500" b="0">
                <a:solidFill>
                  <a:srgbClr val="001C42"/>
                </a:solidFill>
                <a:latin typeface="Open Sauce"/>
                <a:ea typeface="Open Sauce"/>
                <a:cs typeface="Open Sauce"/>
              </a:rPr>
              <a:t>Resolve Phase-II issues</a:t>
            </a:r>
          </a:p>
        </p:txBody>
      </p:sp>
      <p:sp>
        <p:nvSpPr>
          <p:cNvPr id="81" name="Bar 14"/>
          <p:cNvSpPr/>
          <p:nvPr/>
        </p:nvSpPr>
        <p:spPr>
          <a:xfrm>
            <a:off x="12063448" y="6830959"/>
            <a:ext cx="661056" cy="188536"/>
          </a:xfrm>
          <a:prstGeom prst="roundRect">
            <a:avLst>
              <a:gd name="adj" fmla="val 35000"/>
            </a:avLst>
          </a:prstGeom>
          <a:solidFill>
            <a:srgbClr val="8FB3FF"/>
          </a:solidFill>
          <a:ln>
            <a:noFill/>
          </a:ln>
        </p:spPr>
        <p:txBody>
          <a:bodyPr rtlCol="0" anchor="ctr"/>
          <a:lstStyle/>
          <a:p>
            <a:pPr algn="ctr"/>
            <a:endParaRPr/>
          </a:p>
        </p:txBody>
      </p:sp>
      <p:sp>
        <p:nvSpPr>
          <p:cNvPr id="82" name="Task 15"/>
          <p:cNvSpPr/>
          <p:nvPr/>
        </p:nvSpPr>
        <p:spPr>
          <a:xfrm>
            <a:off x="1835840" y="7077272"/>
            <a:ext cx="4434160" cy="304090"/>
          </a:xfrm>
          <a:prstGeom prst="rect">
            <a:avLst/>
          </a:prstGeom>
          <a:noFill/>
          <a:ln>
            <a:noFill/>
          </a:ln>
        </p:spPr>
        <p:txBody>
          <a:bodyPr wrap="square" lIns="0" tIns="0" rIns="0" bIns="0" rtlCol="0" anchor="ctr"/>
          <a:lstStyle/>
          <a:p>
            <a:pPr algn="l"/>
            <a:r>
              <a:rPr sz="1500" b="0">
                <a:solidFill>
                  <a:srgbClr val="001C42"/>
                </a:solidFill>
                <a:latin typeface="Open Sauce"/>
                <a:ea typeface="Open Sauce"/>
                <a:cs typeface="Open Sauce"/>
              </a:rPr>
              <a:t>Prototype refinement &amp; standards alignment</a:t>
            </a:r>
          </a:p>
        </p:txBody>
      </p:sp>
      <p:sp>
        <p:nvSpPr>
          <p:cNvPr id="83" name="Bar 15"/>
          <p:cNvSpPr/>
          <p:nvPr/>
        </p:nvSpPr>
        <p:spPr>
          <a:xfrm>
            <a:off x="12063448" y="7135050"/>
            <a:ext cx="1727640" cy="188536"/>
          </a:xfrm>
          <a:prstGeom prst="roundRect">
            <a:avLst>
              <a:gd name="adj" fmla="val 35000"/>
            </a:avLst>
          </a:prstGeom>
          <a:solidFill>
            <a:srgbClr val="8FB3FF"/>
          </a:solidFill>
          <a:ln>
            <a:noFill/>
          </a:ln>
        </p:spPr>
        <p:txBody>
          <a:bodyPr rtlCol="0" anchor="ctr"/>
          <a:lstStyle/>
          <a:p>
            <a:pPr algn="ctr"/>
            <a:endParaRPr/>
          </a:p>
        </p:txBody>
      </p:sp>
      <p:sp>
        <p:nvSpPr>
          <p:cNvPr id="84" name="Task 16"/>
          <p:cNvSpPr/>
          <p:nvPr/>
        </p:nvSpPr>
        <p:spPr>
          <a:xfrm>
            <a:off x="1835840" y="7381363"/>
            <a:ext cx="4434160" cy="304090"/>
          </a:xfrm>
          <a:prstGeom prst="rect">
            <a:avLst/>
          </a:prstGeom>
          <a:noFill/>
          <a:ln>
            <a:noFill/>
          </a:ln>
        </p:spPr>
        <p:txBody>
          <a:bodyPr wrap="square" lIns="0" tIns="0" rIns="0" bIns="0" rtlCol="0" anchor="ctr"/>
          <a:lstStyle/>
          <a:p>
            <a:pPr algn="l"/>
            <a:r>
              <a:rPr sz="1500" b="0">
                <a:solidFill>
                  <a:srgbClr val="001C42"/>
                </a:solidFill>
                <a:latin typeface="Open Sauce"/>
                <a:ea typeface="Open Sauce"/>
                <a:cs typeface="Open Sauce"/>
              </a:rPr>
              <a:t>Low-Level Design</a:t>
            </a:r>
          </a:p>
        </p:txBody>
      </p:sp>
      <p:sp>
        <p:nvSpPr>
          <p:cNvPr id="85" name="Bar 16"/>
          <p:cNvSpPr/>
          <p:nvPr/>
        </p:nvSpPr>
        <p:spPr>
          <a:xfrm>
            <a:off x="12418976" y="7439140"/>
            <a:ext cx="1016584" cy="188536"/>
          </a:xfrm>
          <a:prstGeom prst="roundRect">
            <a:avLst>
              <a:gd name="adj" fmla="val 35000"/>
            </a:avLst>
          </a:prstGeom>
          <a:solidFill>
            <a:srgbClr val="8FB3FF"/>
          </a:solidFill>
          <a:ln>
            <a:noFill/>
          </a:ln>
        </p:spPr>
        <p:txBody>
          <a:bodyPr rtlCol="0" anchor="ctr"/>
          <a:lstStyle/>
          <a:p>
            <a:pPr algn="ctr"/>
            <a:endParaRPr/>
          </a:p>
        </p:txBody>
      </p:sp>
      <p:sp>
        <p:nvSpPr>
          <p:cNvPr id="86" name="Task 17"/>
          <p:cNvSpPr/>
          <p:nvPr/>
        </p:nvSpPr>
        <p:spPr>
          <a:xfrm>
            <a:off x="1835840" y="7685454"/>
            <a:ext cx="4434160" cy="304090"/>
          </a:xfrm>
          <a:prstGeom prst="rect">
            <a:avLst/>
          </a:prstGeom>
          <a:noFill/>
          <a:ln>
            <a:noFill/>
          </a:ln>
        </p:spPr>
        <p:txBody>
          <a:bodyPr wrap="square" lIns="0" tIns="0" rIns="0" bIns="0" rtlCol="0" anchor="ctr"/>
          <a:lstStyle/>
          <a:p>
            <a:pPr algn="l"/>
            <a:r>
              <a:rPr sz="1500" b="0">
                <a:solidFill>
                  <a:srgbClr val="001C42"/>
                </a:solidFill>
                <a:latin typeface="Open Sauce"/>
                <a:ea typeface="Open Sauce"/>
                <a:cs typeface="Open Sauce"/>
              </a:rPr>
              <a:t>Module-wise implementation</a:t>
            </a:r>
          </a:p>
        </p:txBody>
      </p:sp>
      <p:sp>
        <p:nvSpPr>
          <p:cNvPr id="87" name="Bar 17"/>
          <p:cNvSpPr/>
          <p:nvPr/>
        </p:nvSpPr>
        <p:spPr>
          <a:xfrm>
            <a:off x="13130032" y="7743231"/>
            <a:ext cx="1727640" cy="188536"/>
          </a:xfrm>
          <a:prstGeom prst="roundRect">
            <a:avLst>
              <a:gd name="adj" fmla="val 35000"/>
            </a:avLst>
          </a:prstGeom>
          <a:solidFill>
            <a:srgbClr val="8FB3FF"/>
          </a:solidFill>
          <a:ln>
            <a:noFill/>
          </a:ln>
        </p:spPr>
        <p:txBody>
          <a:bodyPr rtlCol="0" anchor="ctr"/>
          <a:lstStyle/>
          <a:p>
            <a:pPr algn="ctr"/>
            <a:endParaRPr/>
          </a:p>
        </p:txBody>
      </p:sp>
      <p:sp>
        <p:nvSpPr>
          <p:cNvPr id="88" name="Task 18"/>
          <p:cNvSpPr/>
          <p:nvPr/>
        </p:nvSpPr>
        <p:spPr>
          <a:xfrm>
            <a:off x="1835840" y="7989545"/>
            <a:ext cx="4434160" cy="304090"/>
          </a:xfrm>
          <a:prstGeom prst="rect">
            <a:avLst/>
          </a:prstGeom>
          <a:noFill/>
          <a:ln>
            <a:noFill/>
          </a:ln>
        </p:spPr>
        <p:txBody>
          <a:bodyPr wrap="square" lIns="0" tIns="0" rIns="0" bIns="0" rtlCol="0" anchor="ctr"/>
          <a:lstStyle/>
          <a:p>
            <a:pPr algn="l"/>
            <a:r>
              <a:rPr sz="1500" b="0">
                <a:solidFill>
                  <a:srgbClr val="001C42"/>
                </a:solidFill>
                <a:latin typeface="Open Sauce"/>
                <a:ea typeface="Open Sauce"/>
                <a:cs typeface="Open Sauce"/>
              </a:rPr>
              <a:t>Lightweight defenses (input + integrity)</a:t>
            </a:r>
          </a:p>
        </p:txBody>
      </p:sp>
      <p:sp>
        <p:nvSpPr>
          <p:cNvPr id="89" name="Bar 18"/>
          <p:cNvSpPr/>
          <p:nvPr/>
        </p:nvSpPr>
        <p:spPr>
          <a:xfrm>
            <a:off x="13485560" y="8047322"/>
            <a:ext cx="1372112" cy="188536"/>
          </a:xfrm>
          <a:prstGeom prst="roundRect">
            <a:avLst>
              <a:gd name="adj" fmla="val 35000"/>
            </a:avLst>
          </a:prstGeom>
          <a:solidFill>
            <a:srgbClr val="8FB3FF"/>
          </a:solidFill>
          <a:ln>
            <a:noFill/>
          </a:ln>
        </p:spPr>
        <p:txBody>
          <a:bodyPr rtlCol="0" anchor="ctr"/>
          <a:lstStyle/>
          <a:p>
            <a:pPr algn="ctr"/>
            <a:endParaRPr/>
          </a:p>
        </p:txBody>
      </p:sp>
      <p:sp>
        <p:nvSpPr>
          <p:cNvPr id="90" name="Task 19"/>
          <p:cNvSpPr/>
          <p:nvPr/>
        </p:nvSpPr>
        <p:spPr>
          <a:xfrm>
            <a:off x="1835840" y="8293636"/>
            <a:ext cx="4434160" cy="304090"/>
          </a:xfrm>
          <a:prstGeom prst="rect">
            <a:avLst/>
          </a:prstGeom>
          <a:noFill/>
          <a:ln>
            <a:noFill/>
          </a:ln>
        </p:spPr>
        <p:txBody>
          <a:bodyPr wrap="square" lIns="0" tIns="0" rIns="0" bIns="0" rtlCol="0" anchor="ctr"/>
          <a:lstStyle/>
          <a:p>
            <a:pPr algn="l"/>
            <a:r>
              <a:rPr sz="1500" b="0">
                <a:solidFill>
                  <a:srgbClr val="001C42"/>
                </a:solidFill>
                <a:latin typeface="Open Sauce"/>
                <a:ea typeface="Open Sauce"/>
                <a:cs typeface="Open Sauce"/>
              </a:rPr>
              <a:t>Corestack requirements check</a:t>
            </a:r>
          </a:p>
        </p:txBody>
      </p:sp>
      <p:sp>
        <p:nvSpPr>
          <p:cNvPr id="91" name="Bar 19"/>
          <p:cNvSpPr/>
          <p:nvPr/>
        </p:nvSpPr>
        <p:spPr>
          <a:xfrm>
            <a:off x="14196616" y="8351413"/>
            <a:ext cx="1372112" cy="188536"/>
          </a:xfrm>
          <a:prstGeom prst="roundRect">
            <a:avLst>
              <a:gd name="adj" fmla="val 35000"/>
            </a:avLst>
          </a:prstGeom>
          <a:solidFill>
            <a:srgbClr val="8FB3FF"/>
          </a:solidFill>
          <a:ln>
            <a:noFill/>
          </a:ln>
        </p:spPr>
        <p:txBody>
          <a:bodyPr rtlCol="0" anchor="ctr"/>
          <a:lstStyle/>
          <a:p>
            <a:pPr algn="ctr"/>
            <a:endParaRPr/>
          </a:p>
        </p:txBody>
      </p:sp>
      <p:sp>
        <p:nvSpPr>
          <p:cNvPr id="92" name="Task 20"/>
          <p:cNvSpPr/>
          <p:nvPr/>
        </p:nvSpPr>
        <p:spPr>
          <a:xfrm>
            <a:off x="1835840" y="8597727"/>
            <a:ext cx="4434160" cy="304090"/>
          </a:xfrm>
          <a:prstGeom prst="rect">
            <a:avLst/>
          </a:prstGeom>
          <a:noFill/>
          <a:ln>
            <a:noFill/>
          </a:ln>
        </p:spPr>
        <p:txBody>
          <a:bodyPr wrap="square" lIns="0" tIns="0" rIns="0" bIns="0" rtlCol="0" anchor="ctr"/>
          <a:lstStyle/>
          <a:p>
            <a:pPr algn="l"/>
            <a:r>
              <a:rPr sz="1500" b="0">
                <a:solidFill>
                  <a:srgbClr val="001C42"/>
                </a:solidFill>
                <a:latin typeface="Open Sauce"/>
                <a:ea typeface="Open Sauce"/>
                <a:cs typeface="Open Sauce"/>
              </a:rPr>
              <a:t>Evaluation: accuracy, robustness, overhead</a:t>
            </a:r>
          </a:p>
        </p:txBody>
      </p:sp>
      <p:sp>
        <p:nvSpPr>
          <p:cNvPr id="93" name="Bar 20"/>
          <p:cNvSpPr/>
          <p:nvPr/>
        </p:nvSpPr>
        <p:spPr>
          <a:xfrm>
            <a:off x="14907672" y="8655504"/>
            <a:ext cx="1016584" cy="188536"/>
          </a:xfrm>
          <a:prstGeom prst="roundRect">
            <a:avLst>
              <a:gd name="adj" fmla="val 35000"/>
            </a:avLst>
          </a:prstGeom>
          <a:solidFill>
            <a:srgbClr val="8FB3FF"/>
          </a:solidFill>
          <a:ln>
            <a:noFill/>
          </a:ln>
        </p:spPr>
        <p:txBody>
          <a:bodyPr rtlCol="0" anchor="ctr"/>
          <a:lstStyle/>
          <a:p>
            <a:pPr algn="ctr"/>
            <a:endParaRPr/>
          </a:p>
        </p:txBody>
      </p:sp>
      <p:sp>
        <p:nvSpPr>
          <p:cNvPr id="94" name="Task 21"/>
          <p:cNvSpPr/>
          <p:nvPr/>
        </p:nvSpPr>
        <p:spPr>
          <a:xfrm>
            <a:off x="1835840" y="8901818"/>
            <a:ext cx="4434160" cy="304090"/>
          </a:xfrm>
          <a:prstGeom prst="rect">
            <a:avLst/>
          </a:prstGeom>
          <a:noFill/>
          <a:ln>
            <a:noFill/>
          </a:ln>
        </p:spPr>
        <p:txBody>
          <a:bodyPr wrap="square" lIns="0" tIns="0" rIns="0" bIns="0" rtlCol="0" anchor="ctr"/>
          <a:lstStyle/>
          <a:p>
            <a:pPr algn="l"/>
            <a:r>
              <a:rPr sz="1500" b="0">
                <a:solidFill>
                  <a:srgbClr val="001C42"/>
                </a:solidFill>
                <a:latin typeface="Open Sauce"/>
                <a:ea typeface="Open Sauce"/>
                <a:cs typeface="Open Sauce"/>
              </a:rPr>
              <a:t>Research paper writing</a:t>
            </a:r>
          </a:p>
        </p:txBody>
      </p:sp>
      <p:sp>
        <p:nvSpPr>
          <p:cNvPr id="95" name="Bar 21"/>
          <p:cNvSpPr/>
          <p:nvPr/>
        </p:nvSpPr>
        <p:spPr>
          <a:xfrm>
            <a:off x="14552144" y="8959595"/>
            <a:ext cx="1727640" cy="188536"/>
          </a:xfrm>
          <a:prstGeom prst="roundRect">
            <a:avLst>
              <a:gd name="adj" fmla="val 35000"/>
            </a:avLst>
          </a:prstGeom>
          <a:solidFill>
            <a:srgbClr val="8FB3FF"/>
          </a:solidFill>
          <a:ln>
            <a:noFill/>
          </a:ln>
        </p:spPr>
        <p:txBody>
          <a:bodyPr rtlCol="0" anchor="ctr"/>
          <a:lstStyle/>
          <a:p>
            <a:pPr algn="ctr"/>
            <a:endParaRPr/>
          </a:p>
        </p:txBody>
      </p:sp>
      <p:sp>
        <p:nvSpPr>
          <p:cNvPr id="96" name="Task 22"/>
          <p:cNvSpPr/>
          <p:nvPr/>
        </p:nvSpPr>
        <p:spPr>
          <a:xfrm>
            <a:off x="1835840" y="9205909"/>
            <a:ext cx="4434160" cy="304090"/>
          </a:xfrm>
          <a:prstGeom prst="rect">
            <a:avLst/>
          </a:prstGeom>
          <a:noFill/>
          <a:ln>
            <a:noFill/>
          </a:ln>
        </p:spPr>
        <p:txBody>
          <a:bodyPr wrap="square" lIns="0" tIns="0" rIns="0" bIns="0" rtlCol="0" anchor="ctr"/>
          <a:lstStyle/>
          <a:p>
            <a:pPr algn="l"/>
            <a:r>
              <a:rPr sz="1500" b="0">
                <a:solidFill>
                  <a:srgbClr val="001C42"/>
                </a:solidFill>
                <a:latin typeface="Open Sauce"/>
                <a:ea typeface="Open Sauce"/>
                <a:cs typeface="Open Sauce"/>
              </a:rPr>
              <a:t>Final report &amp; publication</a:t>
            </a:r>
          </a:p>
        </p:txBody>
      </p:sp>
      <p:sp>
        <p:nvSpPr>
          <p:cNvPr id="97" name="Bar 22"/>
          <p:cNvSpPr/>
          <p:nvPr/>
        </p:nvSpPr>
        <p:spPr>
          <a:xfrm>
            <a:off x="15974256" y="9263686"/>
            <a:ext cx="1016584" cy="188536"/>
          </a:xfrm>
          <a:prstGeom prst="roundRect">
            <a:avLst>
              <a:gd name="adj" fmla="val 35000"/>
            </a:avLst>
          </a:prstGeom>
          <a:solidFill>
            <a:srgbClr val="8FB3FF"/>
          </a:solidFill>
          <a:ln>
            <a:noFill/>
          </a:ln>
        </p:spPr>
        <p:txBody>
          <a:bodyPr rtlCol="0" anchor="ctr"/>
          <a:lstStyle/>
          <a:p>
            <a:pPr algn="ctr"/>
            <a:endParaRPr/>
          </a:p>
        </p:txBody>
      </p:sp>
      <p:sp>
        <p:nvSpPr>
          <p:cNvPr id="98" name="Caption"/>
          <p:cNvSpPr/>
          <p:nvPr/>
        </p:nvSpPr>
        <p:spPr>
          <a:xfrm>
            <a:off x="1265840" y="9550000"/>
            <a:ext cx="15750000" cy="300000"/>
          </a:xfrm>
          <a:prstGeom prst="rect">
            <a:avLst/>
          </a:prstGeom>
          <a:noFill/>
          <a:ln>
            <a:noFill/>
          </a:ln>
        </p:spPr>
        <p:txBody>
          <a:bodyPr wrap="square" lIns="0" tIns="0" rIns="0" bIns="0" rtlCol="0" anchor="ctr"/>
          <a:lstStyle/>
          <a:p>
            <a:pPr algn="l"/>
            <a:r>
              <a:rPr sz="1300" b="0">
                <a:solidFill>
                  <a:srgbClr val="001C42"/>
                </a:solidFill>
                <a:latin typeface="Open Sauce"/>
                <a:ea typeface="Open Sauce"/>
                <a:cs typeface="Open Sauce"/>
              </a:rPr>
              <a:t>Phase I: Aug–Oct 2026   |   Phase II: Oct 2026–Mar 2027   |   Phase III: Apr–Dec 2027   (Jun–Jul break not shown)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BBBBBB">
                <a:alpha val="100000"/>
              </a:srgbClr>
            </a:gs>
          </a:gsLst>
          <a:lin ang="2700000"/>
        </a:gradFill>
        <a:effectLst/>
      </p:bgPr>
    </p:bg>
    <p:spTree>
      <p:nvGrpSpPr>
        <p:cNvPr id="1" name=""/>
        <p:cNvGrpSpPr/>
        <p:nvPr/>
      </p:nvGrpSpPr>
      <p:grpSpPr>
        <a:xfrm>
          <a:off x="0" y="0"/>
          <a:ext cx="0" cy="0"/>
          <a:chOff x="0" y="0"/>
          <a:chExt cx="0" cy="0"/>
        </a:xfrm>
      </p:grpSpPr>
      <p:sp>
        <p:nvSpPr>
          <p:cNvPr id="14" name="TextBox 14"/>
          <p:cNvSpPr txBox="1"/>
          <p:nvPr/>
        </p:nvSpPr>
        <p:spPr>
          <a:xfrm>
            <a:off x="5783059" y="1776804"/>
            <a:ext cx="6721881" cy="3033629"/>
          </a:xfrm>
          <a:prstGeom prst="rect">
            <a:avLst/>
          </a:prstGeom>
        </p:spPr>
        <p:txBody>
          <a:bodyPr lIns="0" tIns="0" rIns="0" bIns="0" rtlCol="0" anchor="t">
            <a:spAutoFit/>
          </a:bodyPr>
          <a:lstStyle/>
          <a:p>
            <a:pPr algn="ctr">
              <a:lnSpc>
                <a:spcPts val="11354"/>
              </a:lnSpc>
            </a:pPr>
            <a:r>
              <a:rPr lang="en-US" sz="13517" spc="-1013">
                <a:gradFill>
                  <a:gsLst>
                    <a:gs pos="0">
                      <a:srgbClr val="0057FF">
                        <a:alpha val="100000"/>
                      </a:srgbClr>
                    </a:gs>
                    <a:gs pos="100000">
                      <a:srgbClr val="001C42">
                        <a:alpha val="100000"/>
                      </a:srgbClr>
                    </a:gs>
                  </a:gsLst>
                  <a:lin ang="2700000"/>
                </a:gradFill>
                <a:latin typeface="Intro"/>
                <a:ea typeface="Intro"/>
                <a:cs typeface="Intro"/>
                <a:sym typeface="Intro"/>
              </a:rPr>
              <a:t>THANK YOU</a:t>
            </a:r>
          </a:p>
        </p:txBody>
      </p:sp>
      <p:sp>
        <p:nvSpPr>
          <p:cNvPr id="15" name="TextBox 15"/>
          <p:cNvSpPr txBox="1"/>
          <p:nvPr/>
        </p:nvSpPr>
        <p:spPr>
          <a:xfrm>
            <a:off x="5302614" y="6450000"/>
            <a:ext cx="7682771" cy="1168390"/>
          </a:xfrm>
          <a:prstGeom prst="rect">
            <a:avLst/>
          </a:prstGeom>
        </p:spPr>
        <p:txBody>
          <a:bodyPr lIns="0" tIns="0" rIns="0" bIns="0" rtlCol="0" anchor="t">
            <a:spAutoFit/>
          </a:bodyPr>
          <a:lstStyle/>
          <a:p>
            <a:pPr algn="ctr">
              <a:lnSpc>
                <a:spcPts val="4327"/>
              </a:lnSpc>
            </a:pPr>
            <a:r>
              <a:rPr lang="en-US" sz="5151" spc="-386">
                <a:gradFill>
                  <a:gsLst>
                    <a:gs pos="0">
                      <a:srgbClr val="0057FF">
                        <a:alpha val="100000"/>
                      </a:srgbClr>
                    </a:gs>
                    <a:gs pos="100000">
                      <a:srgbClr val="001C42">
                        <a:alpha val="100000"/>
                      </a:srgbClr>
                    </a:gs>
                  </a:gsLst>
                  <a:lin ang="2700000"/>
                </a:gradFill>
                <a:latin typeface="Intro"/>
                <a:ea typeface="Intro"/>
                <a:cs typeface="Intro"/>
                <a:sym typeface="Intro"/>
              </a:rPr>
              <a:t>TEAM 32</a:t>
            </a:r>
          </a:p>
        </p:txBody>
      </p:sp>
      <p:sp>
        <p:nvSpPr>
          <p:cNvPr id="19" name="TextBox 19"/>
          <p:cNvSpPr txBox="1"/>
          <p:nvPr/>
        </p:nvSpPr>
        <p:spPr>
          <a:xfrm>
            <a:off x="5299663" y="5150000"/>
            <a:ext cx="7685723" cy="712140"/>
          </a:xfrm>
          <a:prstGeom prst="rect">
            <a:avLst/>
          </a:prstGeom>
        </p:spPr>
        <p:txBody>
          <a:bodyPr lIns="0" tIns="0" rIns="0" bIns="0" rtlCol="0" anchor="t">
            <a:spAutoFit/>
          </a:bodyPr>
          <a:lstStyle/>
          <a:p>
            <a:pPr marL="0" lvl="0" indent="0" algn="ctr">
              <a:lnSpc>
                <a:spcPts val="2744"/>
              </a:lnSpc>
              <a:spcBef>
                <a:spcPct val="0"/>
              </a:spcBef>
            </a:pPr>
            <a:r>
              <a:rPr lang="en-US" sz="2744">
                <a:gradFill>
                  <a:gsLst>
                    <a:gs pos="0">
                      <a:srgbClr val="0057FF">
                        <a:alpha val="100000"/>
                      </a:srgbClr>
                    </a:gs>
                    <a:gs pos="100000">
                      <a:srgbClr val="001C42">
                        <a:alpha val="100000"/>
                      </a:srgbClr>
                    </a:gs>
                  </a:gsLst>
                  <a:lin ang="2700000"/>
                </a:gradFill>
                <a:latin typeface="Open Sauce"/>
                <a:ea typeface="Open Sauce"/>
                <a:cs typeface="Open Sauce"/>
                <a:sym typeface="Open Sauce"/>
              </a:rPr>
              <a:t>Questions and discussions are welcome.</a:t>
            </a:r>
          </a:p>
        </p:txBody>
      </p:sp>
      <p:sp>
        <p:nvSpPr>
          <p:cNvPr id="21" name="Freeform 21"/>
          <p:cNvSpPr/>
          <p:nvPr/>
        </p:nvSpPr>
        <p:spPr>
          <a:xfrm rot="-3324228" flipH="1">
            <a:off x="-1804405" y="-4740842"/>
            <a:ext cx="10730729" cy="6418927"/>
          </a:xfrm>
          <a:custGeom>
            <a:avLst/>
            <a:gdLst/>
            <a:ahLst/>
            <a:cxnLst/>
            <a:rect l="l" t="t" r="r" b="b"/>
            <a:pathLst>
              <a:path w="10730729" h="6418927">
                <a:moveTo>
                  <a:pt x="10730728" y="0"/>
                </a:moveTo>
                <a:lnTo>
                  <a:pt x="0" y="0"/>
                </a:lnTo>
                <a:lnTo>
                  <a:pt x="0" y="6418927"/>
                </a:lnTo>
                <a:lnTo>
                  <a:pt x="10730728" y="6418927"/>
                </a:lnTo>
                <a:lnTo>
                  <a:pt x="10730728" y="0"/>
                </a:lnTo>
                <a:close/>
              </a:path>
            </a:pathLst>
          </a:custGeom>
          <a:blipFill>
            <a:blip>
              <a:extLst>
                <a:ext uri="{96DAC541-7B7A-43D3-8B79-37D633B846F1}">
                  <asvg:svgBlip xmlns:asvg="http://schemas.microsoft.com/office/drawing/2016/SVG/main" r:embed="rId2"/>
                </a:ext>
              </a:extLst>
            </a:blip>
            <a:stretch>
              <a:fillRect/>
            </a:stretch>
          </a:blipFill>
        </p:spPr>
      </p:sp>
      <p:sp>
        <p:nvSpPr>
          <p:cNvPr id="22" name="Freeform 22"/>
          <p:cNvSpPr/>
          <p:nvPr/>
        </p:nvSpPr>
        <p:spPr>
          <a:xfrm rot="7546040" flipH="1">
            <a:off x="11711667" y="7830327"/>
            <a:ext cx="10730729" cy="6418927"/>
          </a:xfrm>
          <a:custGeom>
            <a:avLst/>
            <a:gdLst/>
            <a:ahLst/>
            <a:cxnLst/>
            <a:rect l="l" t="t" r="r" b="b"/>
            <a:pathLst>
              <a:path w="10730729" h="6418927">
                <a:moveTo>
                  <a:pt x="10730729" y="0"/>
                </a:moveTo>
                <a:lnTo>
                  <a:pt x="0" y="0"/>
                </a:lnTo>
                <a:lnTo>
                  <a:pt x="0" y="6418927"/>
                </a:lnTo>
                <a:lnTo>
                  <a:pt x="10730729" y="6418927"/>
                </a:lnTo>
                <a:lnTo>
                  <a:pt x="10730729" y="0"/>
                </a:lnTo>
                <a:close/>
              </a:path>
            </a:pathLst>
          </a:custGeom>
          <a:blipFill>
            <a:blip>
              <a:extLst>
                <a:ext uri="{96DAC541-7B7A-43D3-8B79-37D633B846F1}">
                  <asvg:svgBlip xmlns:asvg="http://schemas.microsoft.com/office/drawing/2016/SVG/main" r:embed="rId2"/>
                </a:ext>
              </a:extLst>
            </a:blip>
            <a:stretch>
              <a:fillRect/>
            </a:stretch>
          </a:blipFill>
        </p:spPr>
      </p:sp>
      <p:sp>
        <p:nvSpPr>
          <p:cNvPr id="23" name="Freeform 23"/>
          <p:cNvSpPr/>
          <p:nvPr/>
        </p:nvSpPr>
        <p:spPr>
          <a:xfrm>
            <a:off x="16343296" y="177703"/>
            <a:ext cx="1832007" cy="850997"/>
          </a:xfrm>
          <a:custGeom>
            <a:avLst/>
            <a:gdLst/>
            <a:ahLst/>
            <a:cxnLst/>
            <a:rect l="l" t="t" r="r" b="b"/>
            <a:pathLst>
              <a:path w="1832007" h="850997">
                <a:moveTo>
                  <a:pt x="0" y="0"/>
                </a:moveTo>
                <a:lnTo>
                  <a:pt x="1832008" y="0"/>
                </a:lnTo>
                <a:lnTo>
                  <a:pt x="1832008" y="850997"/>
                </a:lnTo>
                <a:lnTo>
                  <a:pt x="0" y="850997"/>
                </a:lnTo>
                <a:lnTo>
                  <a:pt x="0" y="0"/>
                </a:lnTo>
                <a:close/>
              </a:path>
            </a:pathLst>
          </a:custGeom>
          <a:blipFill>
            <a:blip r:embed="rId3"/>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236</TotalTime>
  <Words>2747</Words>
  <Application>Microsoft Office PowerPoint</Application>
  <PresentationFormat>Custom</PresentationFormat>
  <Paragraphs>357</Paragraphs>
  <Slides>19</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Open Sauce Bold</vt:lpstr>
      <vt:lpstr>Open Sauce Heavy</vt:lpstr>
      <vt:lpstr>Intro</vt:lpstr>
      <vt:lpstr>DM Sans Bold</vt:lpstr>
      <vt:lpstr>Arial</vt:lpstr>
      <vt:lpstr>Open Sauce</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Capstone1 PPT 1</dc:title>
  <cp:lastModifiedBy>Vedant Sharma</cp:lastModifiedBy>
  <cp:revision>30</cp:revision>
  <dcterms:created xsi:type="dcterms:W3CDTF">2006-08-16T00:00:00Z</dcterms:created>
  <dcterms:modified xsi:type="dcterms:W3CDTF">2026-10-04T17:55:52Z</dcterms:modified>
  <dc:identifier>DAHW9j-Qaoc</dc:identifier>
</cp:coreProperties>
</file>